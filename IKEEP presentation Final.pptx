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1.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4.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drawings/drawing2.xml" ContentType="application/vnd.openxmlformats-officedocument.drawingml.chartshapes+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5.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drawings/drawing3.xml" ContentType="application/vnd.openxmlformats-officedocument.drawingml.chartshapes+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6.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drawings/drawing4.xml" ContentType="application/vnd.openxmlformats-officedocument.drawingml.chartshapes+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Ex1.xml" ContentType="application/vnd.ms-office.chartex+xml"/>
  <Override PartName="/ppt/charts/style16.xml" ContentType="application/vnd.ms-office.chartstyle+xml"/>
  <Override PartName="/ppt/charts/colors16.xml" ContentType="application/vnd.ms-office.chartcolorstyle+xml"/>
  <Override PartName="/ppt/charts/chart16.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7.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8.xml" ContentType="application/vnd.openxmlformats-officedocument.drawingml.chart+xml"/>
  <Override PartName="/ppt/charts/style19.xml" ContentType="application/vnd.ms-office.chartstyle+xml"/>
  <Override PartName="/ppt/charts/colors19.xml" ContentType="application/vnd.ms-office.chartcolorstyle+xml"/>
  <Override PartName="/ppt/drawings/drawing5.xml" ContentType="application/vnd.openxmlformats-officedocument.drawingml.chartshapes+xml"/>
  <Override PartName="/ppt/charts/chart19.xml" ContentType="application/vnd.openxmlformats-officedocument.drawingml.chart+xml"/>
  <Override PartName="/ppt/charts/style20.xml" ContentType="application/vnd.ms-office.chartstyle+xml"/>
  <Override PartName="/ppt/charts/colors20.xml" ContentType="application/vnd.ms-office.chartcolorstyle+xml"/>
  <Override PartName="/ppt/notesSlides/notesSlide7.xml" ContentType="application/vnd.openxmlformats-officedocument.presentationml.notesSlide+xml"/>
  <Override PartName="/ppt/charts/chart20.xml" ContentType="application/vnd.openxmlformats-officedocument.drawingml.chart+xml"/>
  <Override PartName="/ppt/charts/style21.xml" ContentType="application/vnd.ms-office.chartstyle+xml"/>
  <Override PartName="/ppt/charts/colors21.xml" ContentType="application/vnd.ms-office.chartcolorstyle+xml"/>
  <Override PartName="/ppt/drawings/drawing6.xml" ContentType="application/vnd.openxmlformats-officedocument.drawingml.chartshapes+xml"/>
  <Override PartName="/ppt/charts/chart21.xml" ContentType="application/vnd.openxmlformats-officedocument.drawingml.chart+xml"/>
  <Override PartName="/ppt/charts/style22.xml" ContentType="application/vnd.ms-office.chartstyle+xml"/>
  <Override PartName="/ppt/charts/colors22.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10_E16032B9.xml" ContentType="application/vnd.ms-powerpoint.comments+xml"/>
  <Override PartName="/ppt/notesSlides/notesSlide14.xml" ContentType="application/vnd.openxmlformats-officedocument.presentationml.notesSlide+xml"/>
  <Override PartName="/ppt/comments/modernComment_111_58E908AE.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114_2A8309AB.xml" ContentType="application/vnd.ms-powerpoint.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306" r:id="rId2"/>
    <p:sldId id="281" r:id="rId3"/>
    <p:sldId id="261" r:id="rId4"/>
    <p:sldId id="305" r:id="rId5"/>
    <p:sldId id="294" r:id="rId6"/>
    <p:sldId id="283" r:id="rId7"/>
    <p:sldId id="282" r:id="rId8"/>
    <p:sldId id="285" r:id="rId9"/>
    <p:sldId id="286" r:id="rId10"/>
    <p:sldId id="259" r:id="rId11"/>
    <p:sldId id="258" r:id="rId12"/>
    <p:sldId id="267" r:id="rId13"/>
    <p:sldId id="266" r:id="rId14"/>
    <p:sldId id="321" r:id="rId15"/>
    <p:sldId id="256" r:id="rId16"/>
    <p:sldId id="260" r:id="rId17"/>
    <p:sldId id="287" r:id="rId18"/>
    <p:sldId id="290" r:id="rId19"/>
    <p:sldId id="292" r:id="rId20"/>
    <p:sldId id="289" r:id="rId21"/>
    <p:sldId id="293" r:id="rId22"/>
    <p:sldId id="316" r:id="rId23"/>
    <p:sldId id="313" r:id="rId24"/>
    <p:sldId id="299" r:id="rId25"/>
    <p:sldId id="303" r:id="rId26"/>
    <p:sldId id="304" r:id="rId27"/>
    <p:sldId id="298" r:id="rId28"/>
    <p:sldId id="307" r:id="rId29"/>
    <p:sldId id="310" r:id="rId30"/>
    <p:sldId id="311" r:id="rId31"/>
    <p:sldId id="318" r:id="rId32"/>
    <p:sldId id="300" r:id="rId33"/>
    <p:sldId id="264" r:id="rId34"/>
    <p:sldId id="268" r:id="rId35"/>
    <p:sldId id="269" r:id="rId36"/>
    <p:sldId id="270" r:id="rId37"/>
    <p:sldId id="272" r:id="rId38"/>
    <p:sldId id="273" r:id="rId39"/>
    <p:sldId id="308" r:id="rId40"/>
    <p:sldId id="274" r:id="rId41"/>
    <p:sldId id="275" r:id="rId42"/>
    <p:sldId id="276" r:id="rId43"/>
    <p:sldId id="309" r:id="rId44"/>
    <p:sldId id="277" r:id="rId45"/>
    <p:sldId id="278" r:id="rId46"/>
    <p:sldId id="314" r:id="rId47"/>
    <p:sldId id="319"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B6D31E3-3A7A-66E3-5A8A-C32CC4E15A7F}" name="Nikitin, Slava" initials="SN" userId="S::sn368@exeter.ac.uk::5accf84a-c19d-4016-8318-32f4136ce55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C0504D"/>
    <a:srgbClr val="9BBB59"/>
    <a:srgbClr val="8FA2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0913F7-A260-45CD-FFC2-22EDA312BA9F}" v="119" dt="2023-07-06T15:03:07.564"/>
    <p1510:client id="{14C9E235-DCA6-B642-42B2-1F77D1825842}" v="182" dt="2023-07-07T11:08:50.364"/>
    <p1510:client id="{1C26767A-01D0-8B38-CCF0-0F83323C0FF1}" v="1" dt="2023-07-06T20:31:01.754"/>
    <p1510:client id="{36264F3E-540A-C2BD-ABC4-1C8430922139}" v="23" dt="2023-07-06T19:13:25.179"/>
    <p1510:client id="{3634C0EC-C7C8-1A39-4465-9D7BD7CF93D5}" v="2" dt="2023-07-07T13:23:40.439"/>
    <p1510:client id="{4AB3D459-F0CE-8C8C-8688-E6C4F3266311}" v="44" dt="2023-07-06T22:43:55.894"/>
    <p1510:client id="{65937904-DD7F-B2BA-255E-89DE86E64D58}" v="22" dt="2023-07-06T15:11:16.446"/>
    <p1510:client id="{682342EE-3AA5-9885-771E-92949F5208CF}" v="42" dt="2023-07-07T13:25:47.294"/>
    <p1510:client id="{76F0C460-7E8F-164A-9C7F-09AE761563B9}" v="4559" dt="2023-07-07T14:22:03.244"/>
    <p1510:client id="{89255444-BF6D-663E-80CE-1518E47E08ED}" v="17" dt="2023-07-07T09:41:04.503"/>
    <p1510:client id="{8C48F825-29D4-32AF-BE93-BCA328CA0C3B}" v="103" dt="2023-07-06T23:28:38.914"/>
    <p1510:client id="{909F084B-608B-EB88-45B1-15FBB1AE1F91}" v="33" dt="2023-07-06T18:39:37.007"/>
    <p1510:client id="{92325B8D-207B-9770-7D1C-B10A16743BC3}" v="1141" dt="2023-07-06T22:59:01.498"/>
    <p1510:client id="{A49B039F-B260-1CD5-153E-99AD577F166B}" v="2" dt="2023-07-06T19:28:15.765"/>
    <p1510:client id="{AA85D16F-2F4B-D170-A4D1-55A09B36E8C7}" v="2" dt="2023-07-07T14:08:51.595"/>
    <p1510:client id="{AED08627-6AFD-A7F4-9DF7-E25EA72A658B}" v="215" dt="2023-07-06T18:27:55.286"/>
    <p1510:client id="{B63663B2-6D5A-E45C-60CE-FDB064C186D6}" v="2" dt="2023-07-06T17:32:17.583"/>
    <p1510:client id="{C1B36744-ACCD-D03B-7992-8654C1840750}" v="28" dt="2023-07-06T23:00:48.042"/>
    <p1510:client id="{D1390AC4-09A9-7BFC-1B86-B536311AEECD}" v="1" dt="2023-07-07T11:48:53.708"/>
    <p1510:client id="{ED4C699E-9118-4FFB-3B75-B95EF5C3501B}" v="3" dt="2023-07-06T19:58:14.604"/>
    <p1510:client id="{F499CDA2-371A-EBA9-E15B-C34E31C983F2}" v="1" dt="2023-07-06T22:03:45.8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Book8"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slavanikitin\Downloads\advertising_united-kingdom_USD_en.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slavanikitin\Desktop\IkEEP\Adverti\statistic_id262754_advertising-spending-in-the-uk-2010-2022.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1.xml"/></Relationships>
</file>

<file path=ppt/charts/_rels/chart4.xml.rels><?xml version="1.0" encoding="UTF-8" standalone="yes"?>
<Relationships xmlns="http://schemas.openxmlformats.org/package/2006/relationships"><Relationship Id="rId3" Type="http://schemas.openxmlformats.org/officeDocument/2006/relationships/oleObject" Target="file:///\\Users\slavanikitin\Desktop\IkEEP\Adverti\statistic_id262754_advertising-spending-in-the-uk-2010-2022.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Users\slavanikitin\Desktop\IkEEP\Adverti\statistic_id1380173_ad-spending-in-selected-markets-worldwide-2023.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Users\slavanikitin\Desktop\IkEEP\Movie\statistic_id239187_film-industry-revenue-in-the-uk-1995-2019.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Users\slavanikitin\Desktop\IkEEP\Movie\statistic_id239187_film-industry-revenue-in-the-uk-1995-2019.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Users\slavanikitin\Desktop\IkEEP\Movie\statistic_id239187_film-industry-revenue-in-the-uk-1995-2019.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Users\slavanikitin\Desktop\IkEEP\Movie\statistic_id239187_film-industry-revenue-in-the-uk-1995-2019.xlsx" TargetMode="Externa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chartUserShapes" Target="../drawings/drawing2.xml"/></Relationships>
</file>

<file path=ppt/charts/_rels/chart10.xml.rels><?xml version="1.0" encoding="UTF-8" standalone="yes"?>
<Relationships xmlns="http://schemas.openxmlformats.org/package/2006/relationships"><Relationship Id="rId3" Type="http://schemas.openxmlformats.org/officeDocument/2006/relationships/oleObject" Target="file:///\\Users\slavanikitin\Desktop\IkEEP\Movie\statistic_id239187_film-industry-revenue-in-the-uk-1995-2019.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Users\slavanikitin\Desktop\IkEEP\Movie\statistic_id297182_gross-revenue-of-the-filmed-entertainment-market-in-the-uk-1998-2020.xlsx" TargetMode="Externa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chartUserShapes" Target="../drawings/drawing3.xml"/></Relationships>
</file>

<file path=ppt/charts/_rels/chart12.xml.rels><?xml version="1.0" encoding="UTF-8" standalone="yes"?>
<Relationships xmlns="http://schemas.openxmlformats.org/package/2006/relationships"><Relationship Id="rId3" Type="http://schemas.openxmlformats.org/officeDocument/2006/relationships/oleObject" Target="file:///\\Users\slavanikitin\Desktop\IkEEP\Movie\statistic_id297182_gross-revenue-of-the-filmed-entertainment-market-in-the-uk-1998-2020.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Users\slavanikitin\Desktop\IkEEP\Movie\statistic_id297182_gross-revenue-of-the-filmed-entertainment-market-in-the-uk-1998-2020.xlsx" TargetMode="External"/><Relationship Id="rId2" Type="http://schemas.microsoft.com/office/2011/relationships/chartColorStyle" Target="colors13.xml"/><Relationship Id="rId1" Type="http://schemas.microsoft.com/office/2011/relationships/chartStyle" Target="style13.xml"/><Relationship Id="rId4" Type="http://schemas.openxmlformats.org/officeDocument/2006/relationships/chartUserShapes" Target="../drawings/drawing4.xml"/></Relationships>
</file>

<file path=ppt/charts/_rels/chart14.xml.rels><?xml version="1.0" encoding="UTF-8" standalone="yes"?>
<Relationships xmlns="http://schemas.openxmlformats.org/package/2006/relationships"><Relationship Id="rId3" Type="http://schemas.openxmlformats.org/officeDocument/2006/relationships/oleObject" Target="file:///\\Users\slavanikitin\Desktop\IkEEP\Movie\statistic_id297182_gross-revenue-of-the-filmed-entertainment-market-in-the-uk-1998-2020.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Book7"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Book7" TargetMode="External"/><Relationship Id="rId2" Type="http://schemas.microsoft.com/office/2011/relationships/chartColorStyle" Target="colors17.xml"/><Relationship Id="rId1" Type="http://schemas.microsoft.com/office/2011/relationships/chartStyle" Target="style17.xml"/></Relationships>
</file>

<file path=ppt/charts/_rels/chart17.xml.rels><?xml version="1.0" encoding="UTF-8" standalone="yes"?>
<Relationships xmlns="http://schemas.openxmlformats.org/package/2006/relationships"><Relationship Id="rId3" Type="http://schemas.openxmlformats.org/officeDocument/2006/relationships/oleObject" Target="Book7" TargetMode="External"/><Relationship Id="rId2" Type="http://schemas.microsoft.com/office/2011/relationships/chartColorStyle" Target="colors18.xml"/><Relationship Id="rId1" Type="http://schemas.microsoft.com/office/2011/relationships/chartStyle" Target="style18.xml"/></Relationships>
</file>

<file path=ppt/charts/_rels/chart18.xml.rels><?xml version="1.0" encoding="UTF-8" standalone="yes"?>
<Relationships xmlns="http://schemas.openxmlformats.org/package/2006/relationships"><Relationship Id="rId3" Type="http://schemas.openxmlformats.org/officeDocument/2006/relationships/oleObject" Target="file:///\\Users\slavanikitin\Desktop\IkEEP\Music\statistic_id321843_music-industry-income-in-the-united-kingdom--uk--2003-2021.xlsx" TargetMode="External"/><Relationship Id="rId2" Type="http://schemas.microsoft.com/office/2011/relationships/chartColorStyle" Target="colors19.xml"/><Relationship Id="rId1" Type="http://schemas.microsoft.com/office/2011/relationships/chartStyle" Target="style19.xml"/><Relationship Id="rId4" Type="http://schemas.openxmlformats.org/officeDocument/2006/relationships/chartUserShapes" Target="../drawings/drawing5.xml"/></Relationships>
</file>

<file path=ppt/charts/_rels/chart19.xml.rels><?xml version="1.0" encoding="UTF-8" standalone="yes"?>
<Relationships xmlns="http://schemas.openxmlformats.org/package/2006/relationships"><Relationship Id="rId3" Type="http://schemas.openxmlformats.org/officeDocument/2006/relationships/oleObject" Target="file:///\\Users\slavanikitin\Desktop\IkEEP\Music\statistic_id321843_music-industry-income-in-the-united-kingdom--uk--2003-2021.xlsx" TargetMode="External"/><Relationship Id="rId2" Type="http://schemas.microsoft.com/office/2011/relationships/chartColorStyle" Target="colors20.xml"/><Relationship Id="rId1" Type="http://schemas.microsoft.com/office/2011/relationships/chartStyle" Target="style20.xml"/></Relationships>
</file>

<file path=ppt/charts/_rels/chart20.xml.rels><?xml version="1.0" encoding="UTF-8" standalone="yes"?>
<Relationships xmlns="http://schemas.openxmlformats.org/package/2006/relationships"><Relationship Id="rId3" Type="http://schemas.openxmlformats.org/officeDocument/2006/relationships/oleObject" Target="file:///\\Users\slavanikitin\Desktop\IkEEP\Music\statistic_id281898_music-retail-sales-revenue-in-the-united-kingdom--uk--2011-2022.xlsx" TargetMode="External"/><Relationship Id="rId2" Type="http://schemas.microsoft.com/office/2011/relationships/chartColorStyle" Target="colors21.xml"/><Relationship Id="rId1" Type="http://schemas.microsoft.com/office/2011/relationships/chartStyle" Target="style21.xml"/><Relationship Id="rId4" Type="http://schemas.openxmlformats.org/officeDocument/2006/relationships/chartUserShapes" Target="../drawings/drawing6.xml"/></Relationships>
</file>

<file path=ppt/charts/_rels/chart21.xml.rels><?xml version="1.0" encoding="UTF-8" standalone="yes"?>
<Relationships xmlns="http://schemas.openxmlformats.org/package/2006/relationships"><Relationship Id="rId3" Type="http://schemas.openxmlformats.org/officeDocument/2006/relationships/oleObject" Target="file:///\\Users\slavanikitin\Desktop\IkEEP\Music\statistic_id281898_music-retail-sales-revenue-in-the-united-kingdom--uk--2011-2022.xlsx" TargetMode="External"/><Relationship Id="rId2" Type="http://schemas.microsoft.com/office/2011/relationships/chartColorStyle" Target="colors22.xml"/><Relationship Id="rId1" Type="http://schemas.microsoft.com/office/2011/relationships/chartStyle" Target="style22.xml"/></Relationships>
</file>

<file path=ppt/charts/_rels/chartEx1.xml.rels><?xml version="1.0" encoding="UTF-8" standalone="yes"?>
<Relationships xmlns="http://schemas.openxmlformats.org/package/2006/relationships"><Relationship Id="rId3" Type="http://schemas.microsoft.com/office/2011/relationships/chartColorStyle" Target="colors16.xml"/><Relationship Id="rId2" Type="http://schemas.microsoft.com/office/2011/relationships/chartStyle" Target="style16.xml"/><Relationship Id="rId1" Type="http://schemas.openxmlformats.org/officeDocument/2006/relationships/oleObject" Target="Book7"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atin typeface="Avenir Next" panose="020B0503020202020204" pitchFamily="34" charset="0"/>
              </a:rPr>
              <a:t>Ad</a:t>
            </a:r>
            <a:r>
              <a:rPr lang="en-US" baseline="0">
                <a:latin typeface="Avenir Next" panose="020B0503020202020204" pitchFamily="34" charset="0"/>
              </a:rPr>
              <a:t> spending by the sector</a:t>
            </a:r>
            <a:endParaRPr lang="en-US">
              <a:latin typeface="Avenir Next" panose="020B0503020202020204" pitchFamily="34"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6.640982803863156E-2"/>
          <c:y val="9.5206093189964161E-2"/>
          <c:w val="0.92193901563230019"/>
          <c:h val="0.8398577508960573"/>
        </c:manualLayout>
      </c:layout>
      <c:barChart>
        <c:barDir val="col"/>
        <c:grouping val="stacked"/>
        <c:varyColors val="0"/>
        <c:ser>
          <c:idx val="0"/>
          <c:order val="0"/>
          <c:tx>
            <c:strRef>
              <c:f>Sheet1!$A$5</c:f>
              <c:strCache>
                <c:ptCount val="1"/>
                <c:pt idx="0">
                  <c:v>Audio Advertising</c:v>
                </c:pt>
              </c:strCache>
            </c:strRef>
          </c:tx>
          <c:spPr>
            <a:solidFill>
              <a:schemeClr val="accent1">
                <a:shade val="76000"/>
              </a:schemeClr>
            </a:solidFill>
            <a:ln>
              <a:noFill/>
            </a:ln>
            <a:effectLst/>
          </c:spPr>
          <c:invertIfNegative val="0"/>
          <c:cat>
            <c:numRef>
              <c:f>Sheet1!$B$4:$L$4</c:f>
              <c:numCache>
                <c:formatCode>General</c:formatCode>
                <c:ptCount val="11"/>
                <c:pt idx="0">
                  <c:v>2017</c:v>
                </c:pt>
                <c:pt idx="1">
                  <c:v>2018</c:v>
                </c:pt>
                <c:pt idx="2">
                  <c:v>2019</c:v>
                </c:pt>
                <c:pt idx="3">
                  <c:v>2020</c:v>
                </c:pt>
                <c:pt idx="4">
                  <c:v>2021</c:v>
                </c:pt>
                <c:pt idx="5">
                  <c:v>2022</c:v>
                </c:pt>
                <c:pt idx="6">
                  <c:v>2023</c:v>
                </c:pt>
                <c:pt idx="7">
                  <c:v>2024</c:v>
                </c:pt>
                <c:pt idx="8">
                  <c:v>2025</c:v>
                </c:pt>
                <c:pt idx="9">
                  <c:v>2026</c:v>
                </c:pt>
                <c:pt idx="10">
                  <c:v>2027</c:v>
                </c:pt>
              </c:numCache>
            </c:numRef>
          </c:cat>
          <c:val>
            <c:numRef>
              <c:f>Sheet1!$B$5:$L$5</c:f>
              <c:numCache>
                <c:formatCode>General</c:formatCode>
                <c:ptCount val="11"/>
                <c:pt idx="0">
                  <c:v>0.86</c:v>
                </c:pt>
                <c:pt idx="1">
                  <c:v>0.91</c:v>
                </c:pt>
                <c:pt idx="2">
                  <c:v>0.94</c:v>
                </c:pt>
                <c:pt idx="3">
                  <c:v>0.85</c:v>
                </c:pt>
                <c:pt idx="4">
                  <c:v>0.94</c:v>
                </c:pt>
                <c:pt idx="5">
                  <c:v>1</c:v>
                </c:pt>
                <c:pt idx="6">
                  <c:v>1.06</c:v>
                </c:pt>
                <c:pt idx="7">
                  <c:v>1.1000000000000001</c:v>
                </c:pt>
                <c:pt idx="8">
                  <c:v>1.1299999999999999</c:v>
                </c:pt>
                <c:pt idx="9">
                  <c:v>1.1499999999999999</c:v>
                </c:pt>
                <c:pt idx="10">
                  <c:v>1.1599999999999999</c:v>
                </c:pt>
              </c:numCache>
            </c:numRef>
          </c:val>
          <c:extLst>
            <c:ext xmlns:c16="http://schemas.microsoft.com/office/drawing/2014/chart" uri="{C3380CC4-5D6E-409C-BE32-E72D297353CC}">
              <c16:uniqueId val="{00000000-7717-FD4A-9E35-5ED5D777304A}"/>
            </c:ext>
          </c:extLst>
        </c:ser>
        <c:ser>
          <c:idx val="1"/>
          <c:order val="1"/>
          <c:tx>
            <c:strRef>
              <c:f>Sheet1!$A$6</c:f>
              <c:strCache>
                <c:ptCount val="1"/>
                <c:pt idx="0">
                  <c:v>Digital Banner Advertising</c:v>
                </c:pt>
              </c:strCache>
            </c:strRef>
          </c:tx>
          <c:spPr>
            <a:solidFill>
              <a:schemeClr val="accent2">
                <a:shade val="76000"/>
              </a:schemeClr>
            </a:solidFill>
            <a:ln>
              <a:noFill/>
            </a:ln>
            <a:effectLst/>
          </c:spPr>
          <c:invertIfNegative val="0"/>
          <c:cat>
            <c:numRef>
              <c:f>Sheet1!$B$4:$L$4</c:f>
              <c:numCache>
                <c:formatCode>General</c:formatCode>
                <c:ptCount val="11"/>
                <c:pt idx="0">
                  <c:v>2017</c:v>
                </c:pt>
                <c:pt idx="1">
                  <c:v>2018</c:v>
                </c:pt>
                <c:pt idx="2">
                  <c:v>2019</c:v>
                </c:pt>
                <c:pt idx="3">
                  <c:v>2020</c:v>
                </c:pt>
                <c:pt idx="4">
                  <c:v>2021</c:v>
                </c:pt>
                <c:pt idx="5">
                  <c:v>2022</c:v>
                </c:pt>
                <c:pt idx="6">
                  <c:v>2023</c:v>
                </c:pt>
                <c:pt idx="7">
                  <c:v>2024</c:v>
                </c:pt>
                <c:pt idx="8">
                  <c:v>2025</c:v>
                </c:pt>
                <c:pt idx="9">
                  <c:v>2026</c:v>
                </c:pt>
                <c:pt idx="10">
                  <c:v>2027</c:v>
                </c:pt>
              </c:numCache>
            </c:numRef>
          </c:cat>
          <c:val>
            <c:numRef>
              <c:f>Sheet1!$B$6:$L$6</c:f>
              <c:numCache>
                <c:formatCode>General</c:formatCode>
                <c:ptCount val="11"/>
                <c:pt idx="0">
                  <c:v>3.88</c:v>
                </c:pt>
                <c:pt idx="1">
                  <c:v>4.43</c:v>
                </c:pt>
                <c:pt idx="2">
                  <c:v>4.97</c:v>
                </c:pt>
                <c:pt idx="3">
                  <c:v>5.6</c:v>
                </c:pt>
                <c:pt idx="4">
                  <c:v>6.53</c:v>
                </c:pt>
                <c:pt idx="5">
                  <c:v>6.89</c:v>
                </c:pt>
                <c:pt idx="6">
                  <c:v>7.51</c:v>
                </c:pt>
                <c:pt idx="7">
                  <c:v>8.07</c:v>
                </c:pt>
                <c:pt idx="8">
                  <c:v>8.58</c:v>
                </c:pt>
                <c:pt idx="9">
                  <c:v>9.06</c:v>
                </c:pt>
                <c:pt idx="10">
                  <c:v>9.5399999999999991</c:v>
                </c:pt>
              </c:numCache>
            </c:numRef>
          </c:val>
          <c:extLst>
            <c:ext xmlns:c16="http://schemas.microsoft.com/office/drawing/2014/chart" uri="{C3380CC4-5D6E-409C-BE32-E72D297353CC}">
              <c16:uniqueId val="{00000001-7717-FD4A-9E35-5ED5D777304A}"/>
            </c:ext>
          </c:extLst>
        </c:ser>
        <c:ser>
          <c:idx val="2"/>
          <c:order val="2"/>
          <c:tx>
            <c:strRef>
              <c:f>Sheet1!$A$7</c:f>
              <c:strCache>
                <c:ptCount val="1"/>
                <c:pt idx="0">
                  <c:v>Digital Classifieds</c:v>
                </c:pt>
              </c:strCache>
            </c:strRef>
          </c:tx>
          <c:spPr>
            <a:solidFill>
              <a:schemeClr val="accent3">
                <a:shade val="76000"/>
              </a:schemeClr>
            </a:solidFill>
            <a:ln>
              <a:noFill/>
            </a:ln>
            <a:effectLst/>
          </c:spPr>
          <c:invertIfNegative val="0"/>
          <c:cat>
            <c:numRef>
              <c:f>Sheet1!$B$4:$L$4</c:f>
              <c:numCache>
                <c:formatCode>General</c:formatCode>
                <c:ptCount val="11"/>
                <c:pt idx="0">
                  <c:v>2017</c:v>
                </c:pt>
                <c:pt idx="1">
                  <c:v>2018</c:v>
                </c:pt>
                <c:pt idx="2">
                  <c:v>2019</c:v>
                </c:pt>
                <c:pt idx="3">
                  <c:v>2020</c:v>
                </c:pt>
                <c:pt idx="4">
                  <c:v>2021</c:v>
                </c:pt>
                <c:pt idx="5">
                  <c:v>2022</c:v>
                </c:pt>
                <c:pt idx="6">
                  <c:v>2023</c:v>
                </c:pt>
                <c:pt idx="7">
                  <c:v>2024</c:v>
                </c:pt>
                <c:pt idx="8">
                  <c:v>2025</c:v>
                </c:pt>
                <c:pt idx="9">
                  <c:v>2026</c:v>
                </c:pt>
                <c:pt idx="10">
                  <c:v>2027</c:v>
                </c:pt>
              </c:numCache>
            </c:numRef>
          </c:cat>
          <c:val>
            <c:numRef>
              <c:f>Sheet1!$B$7:$L$7</c:f>
              <c:numCache>
                <c:formatCode>General</c:formatCode>
                <c:ptCount val="11"/>
                <c:pt idx="0">
                  <c:v>1.68</c:v>
                </c:pt>
                <c:pt idx="1">
                  <c:v>1.74</c:v>
                </c:pt>
                <c:pt idx="2">
                  <c:v>1.8</c:v>
                </c:pt>
                <c:pt idx="3">
                  <c:v>1.71</c:v>
                </c:pt>
                <c:pt idx="4">
                  <c:v>1.81</c:v>
                </c:pt>
                <c:pt idx="5">
                  <c:v>1.87</c:v>
                </c:pt>
                <c:pt idx="6">
                  <c:v>1.91</c:v>
                </c:pt>
                <c:pt idx="7">
                  <c:v>1.93</c:v>
                </c:pt>
                <c:pt idx="8">
                  <c:v>1.94</c:v>
                </c:pt>
                <c:pt idx="9">
                  <c:v>1.95</c:v>
                </c:pt>
                <c:pt idx="10">
                  <c:v>1.96</c:v>
                </c:pt>
              </c:numCache>
            </c:numRef>
          </c:val>
          <c:extLst>
            <c:ext xmlns:c16="http://schemas.microsoft.com/office/drawing/2014/chart" uri="{C3380CC4-5D6E-409C-BE32-E72D297353CC}">
              <c16:uniqueId val="{00000002-7717-FD4A-9E35-5ED5D777304A}"/>
            </c:ext>
          </c:extLst>
        </c:ser>
        <c:ser>
          <c:idx val="3"/>
          <c:order val="3"/>
          <c:tx>
            <c:strRef>
              <c:f>Sheet1!$A$8</c:f>
              <c:strCache>
                <c:ptCount val="1"/>
                <c:pt idx="0">
                  <c:v>Influencer Advertising</c:v>
                </c:pt>
              </c:strCache>
            </c:strRef>
          </c:tx>
          <c:spPr>
            <a:solidFill>
              <a:schemeClr val="accent4">
                <a:shade val="76000"/>
              </a:schemeClr>
            </a:solidFill>
            <a:ln>
              <a:noFill/>
            </a:ln>
            <a:effectLst/>
          </c:spPr>
          <c:invertIfNegative val="0"/>
          <c:cat>
            <c:numRef>
              <c:f>Sheet1!$B$4:$L$4</c:f>
              <c:numCache>
                <c:formatCode>General</c:formatCode>
                <c:ptCount val="11"/>
                <c:pt idx="0">
                  <c:v>2017</c:v>
                </c:pt>
                <c:pt idx="1">
                  <c:v>2018</c:v>
                </c:pt>
                <c:pt idx="2">
                  <c:v>2019</c:v>
                </c:pt>
                <c:pt idx="3">
                  <c:v>2020</c:v>
                </c:pt>
                <c:pt idx="4">
                  <c:v>2021</c:v>
                </c:pt>
                <c:pt idx="5">
                  <c:v>2022</c:v>
                </c:pt>
                <c:pt idx="6">
                  <c:v>2023</c:v>
                </c:pt>
                <c:pt idx="7">
                  <c:v>2024</c:v>
                </c:pt>
                <c:pt idx="8">
                  <c:v>2025</c:v>
                </c:pt>
                <c:pt idx="9">
                  <c:v>2026</c:v>
                </c:pt>
                <c:pt idx="10">
                  <c:v>2027</c:v>
                </c:pt>
              </c:numCache>
            </c:numRef>
          </c:cat>
          <c:val>
            <c:numRef>
              <c:f>Sheet1!$B$8:$L$8</c:f>
              <c:numCache>
                <c:formatCode>General</c:formatCode>
                <c:ptCount val="11"/>
                <c:pt idx="0">
                  <c:v>0.15</c:v>
                </c:pt>
                <c:pt idx="1">
                  <c:v>0.21</c:v>
                </c:pt>
                <c:pt idx="2">
                  <c:v>0.34</c:v>
                </c:pt>
                <c:pt idx="3">
                  <c:v>0.48</c:v>
                </c:pt>
                <c:pt idx="4">
                  <c:v>0.73</c:v>
                </c:pt>
                <c:pt idx="5">
                  <c:v>0.89</c:v>
                </c:pt>
                <c:pt idx="6">
                  <c:v>1.03</c:v>
                </c:pt>
                <c:pt idx="7">
                  <c:v>1.17</c:v>
                </c:pt>
                <c:pt idx="8">
                  <c:v>1.31</c:v>
                </c:pt>
                <c:pt idx="9">
                  <c:v>1.42</c:v>
                </c:pt>
                <c:pt idx="10">
                  <c:v>1.52</c:v>
                </c:pt>
              </c:numCache>
            </c:numRef>
          </c:val>
          <c:extLst>
            <c:ext xmlns:c16="http://schemas.microsoft.com/office/drawing/2014/chart" uri="{C3380CC4-5D6E-409C-BE32-E72D297353CC}">
              <c16:uniqueId val="{00000003-7717-FD4A-9E35-5ED5D777304A}"/>
            </c:ext>
          </c:extLst>
        </c:ser>
        <c:ser>
          <c:idx val="4"/>
          <c:order val="4"/>
          <c:tx>
            <c:strRef>
              <c:f>Sheet1!$A$9</c:f>
              <c:strCache>
                <c:ptCount val="1"/>
                <c:pt idx="0">
                  <c:v>Out-of Home Advertising</c:v>
                </c:pt>
              </c:strCache>
            </c:strRef>
          </c:tx>
          <c:spPr>
            <a:solidFill>
              <a:schemeClr val="accent5">
                <a:shade val="76000"/>
              </a:schemeClr>
            </a:solidFill>
            <a:ln>
              <a:noFill/>
            </a:ln>
            <a:effectLst/>
          </c:spPr>
          <c:invertIfNegative val="0"/>
          <c:cat>
            <c:numRef>
              <c:f>Sheet1!$B$4:$L$4</c:f>
              <c:numCache>
                <c:formatCode>General</c:formatCode>
                <c:ptCount val="11"/>
                <c:pt idx="0">
                  <c:v>2017</c:v>
                </c:pt>
                <c:pt idx="1">
                  <c:v>2018</c:v>
                </c:pt>
                <c:pt idx="2">
                  <c:v>2019</c:v>
                </c:pt>
                <c:pt idx="3">
                  <c:v>2020</c:v>
                </c:pt>
                <c:pt idx="4">
                  <c:v>2021</c:v>
                </c:pt>
                <c:pt idx="5">
                  <c:v>2022</c:v>
                </c:pt>
                <c:pt idx="6">
                  <c:v>2023</c:v>
                </c:pt>
                <c:pt idx="7">
                  <c:v>2024</c:v>
                </c:pt>
                <c:pt idx="8">
                  <c:v>2025</c:v>
                </c:pt>
                <c:pt idx="9">
                  <c:v>2026</c:v>
                </c:pt>
                <c:pt idx="10">
                  <c:v>2027</c:v>
                </c:pt>
              </c:numCache>
            </c:numRef>
          </c:cat>
          <c:val>
            <c:numRef>
              <c:f>Sheet1!$B$9:$L$9</c:f>
              <c:numCache>
                <c:formatCode>General</c:formatCode>
                <c:ptCount val="11"/>
                <c:pt idx="0">
                  <c:v>1.26</c:v>
                </c:pt>
                <c:pt idx="1">
                  <c:v>1.31</c:v>
                </c:pt>
                <c:pt idx="2">
                  <c:v>1.37</c:v>
                </c:pt>
                <c:pt idx="3">
                  <c:v>0.91</c:v>
                </c:pt>
                <c:pt idx="4">
                  <c:v>1.04</c:v>
                </c:pt>
                <c:pt idx="5">
                  <c:v>1.27</c:v>
                </c:pt>
                <c:pt idx="6">
                  <c:v>1.34</c:v>
                </c:pt>
                <c:pt idx="7">
                  <c:v>1.38</c:v>
                </c:pt>
                <c:pt idx="8">
                  <c:v>1.42</c:v>
                </c:pt>
                <c:pt idx="9">
                  <c:v>1.46</c:v>
                </c:pt>
                <c:pt idx="10">
                  <c:v>1.5</c:v>
                </c:pt>
              </c:numCache>
            </c:numRef>
          </c:val>
          <c:extLst>
            <c:ext xmlns:c16="http://schemas.microsoft.com/office/drawing/2014/chart" uri="{C3380CC4-5D6E-409C-BE32-E72D297353CC}">
              <c16:uniqueId val="{00000004-7717-FD4A-9E35-5ED5D777304A}"/>
            </c:ext>
          </c:extLst>
        </c:ser>
        <c:ser>
          <c:idx val="5"/>
          <c:order val="5"/>
          <c:tx>
            <c:strRef>
              <c:f>Sheet1!$A$10</c:f>
              <c:strCache>
                <c:ptCount val="1"/>
                <c:pt idx="0">
                  <c:v>Print Advertising</c:v>
                </c:pt>
              </c:strCache>
            </c:strRef>
          </c:tx>
          <c:spPr>
            <a:solidFill>
              <a:schemeClr val="accent6">
                <a:shade val="76000"/>
              </a:schemeClr>
            </a:solidFill>
            <a:ln>
              <a:noFill/>
            </a:ln>
            <a:effectLst/>
          </c:spPr>
          <c:invertIfNegative val="0"/>
          <c:cat>
            <c:numRef>
              <c:f>Sheet1!$B$4:$L$4</c:f>
              <c:numCache>
                <c:formatCode>General</c:formatCode>
                <c:ptCount val="11"/>
                <c:pt idx="0">
                  <c:v>2017</c:v>
                </c:pt>
                <c:pt idx="1">
                  <c:v>2018</c:v>
                </c:pt>
                <c:pt idx="2">
                  <c:v>2019</c:v>
                </c:pt>
                <c:pt idx="3">
                  <c:v>2020</c:v>
                </c:pt>
                <c:pt idx="4">
                  <c:v>2021</c:v>
                </c:pt>
                <c:pt idx="5">
                  <c:v>2022</c:v>
                </c:pt>
                <c:pt idx="6">
                  <c:v>2023</c:v>
                </c:pt>
                <c:pt idx="7">
                  <c:v>2024</c:v>
                </c:pt>
                <c:pt idx="8">
                  <c:v>2025</c:v>
                </c:pt>
                <c:pt idx="9">
                  <c:v>2026</c:v>
                </c:pt>
                <c:pt idx="10">
                  <c:v>2027</c:v>
                </c:pt>
              </c:numCache>
            </c:numRef>
          </c:cat>
          <c:val>
            <c:numRef>
              <c:f>Sheet1!$B$10:$L$10</c:f>
              <c:numCache>
                <c:formatCode>General</c:formatCode>
                <c:ptCount val="11"/>
                <c:pt idx="0">
                  <c:v>2.16</c:v>
                </c:pt>
                <c:pt idx="1">
                  <c:v>1.98</c:v>
                </c:pt>
                <c:pt idx="2">
                  <c:v>1.82</c:v>
                </c:pt>
                <c:pt idx="3">
                  <c:v>1.4</c:v>
                </c:pt>
                <c:pt idx="4">
                  <c:v>1.34</c:v>
                </c:pt>
                <c:pt idx="5">
                  <c:v>1.25</c:v>
                </c:pt>
                <c:pt idx="6">
                  <c:v>1.1599999999999999</c:v>
                </c:pt>
                <c:pt idx="7">
                  <c:v>1.06</c:v>
                </c:pt>
                <c:pt idx="8">
                  <c:v>0.96</c:v>
                </c:pt>
                <c:pt idx="9">
                  <c:v>0.86</c:v>
                </c:pt>
                <c:pt idx="10">
                  <c:v>0.76</c:v>
                </c:pt>
              </c:numCache>
            </c:numRef>
          </c:val>
          <c:extLst>
            <c:ext xmlns:c16="http://schemas.microsoft.com/office/drawing/2014/chart" uri="{C3380CC4-5D6E-409C-BE32-E72D297353CC}">
              <c16:uniqueId val="{00000005-7717-FD4A-9E35-5ED5D777304A}"/>
            </c:ext>
          </c:extLst>
        </c:ser>
        <c:ser>
          <c:idx val="6"/>
          <c:order val="6"/>
          <c:tx>
            <c:strRef>
              <c:f>Sheet1!$A$11</c:f>
              <c:strCache>
                <c:ptCount val="1"/>
                <c:pt idx="0">
                  <c:v>Search Advertising</c:v>
                </c:pt>
              </c:strCache>
            </c:strRef>
          </c:tx>
          <c:spPr>
            <a:solidFill>
              <a:schemeClr val="accent1">
                <a:tint val="77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Sheet1!$B$4:$L$4</c:f>
              <c:numCache>
                <c:formatCode>General</c:formatCode>
                <c:ptCount val="11"/>
                <c:pt idx="0">
                  <c:v>2017</c:v>
                </c:pt>
                <c:pt idx="1">
                  <c:v>2018</c:v>
                </c:pt>
                <c:pt idx="2">
                  <c:v>2019</c:v>
                </c:pt>
                <c:pt idx="3">
                  <c:v>2020</c:v>
                </c:pt>
                <c:pt idx="4">
                  <c:v>2021</c:v>
                </c:pt>
                <c:pt idx="5">
                  <c:v>2022</c:v>
                </c:pt>
                <c:pt idx="6">
                  <c:v>2023</c:v>
                </c:pt>
                <c:pt idx="7">
                  <c:v>2024</c:v>
                </c:pt>
                <c:pt idx="8">
                  <c:v>2025</c:v>
                </c:pt>
                <c:pt idx="9">
                  <c:v>2026</c:v>
                </c:pt>
                <c:pt idx="10">
                  <c:v>2027</c:v>
                </c:pt>
              </c:numCache>
            </c:numRef>
          </c:cat>
          <c:val>
            <c:numRef>
              <c:f>Sheet1!$B$11:$L$11</c:f>
              <c:numCache>
                <c:formatCode>General</c:formatCode>
                <c:ptCount val="11"/>
                <c:pt idx="0">
                  <c:v>9.76</c:v>
                </c:pt>
                <c:pt idx="1">
                  <c:v>10.87</c:v>
                </c:pt>
                <c:pt idx="2">
                  <c:v>11.89</c:v>
                </c:pt>
                <c:pt idx="3">
                  <c:v>12.85</c:v>
                </c:pt>
                <c:pt idx="4">
                  <c:v>17.29</c:v>
                </c:pt>
                <c:pt idx="5">
                  <c:v>19.61</c:v>
                </c:pt>
                <c:pt idx="6">
                  <c:v>21.45</c:v>
                </c:pt>
                <c:pt idx="7">
                  <c:v>23.33</c:v>
                </c:pt>
                <c:pt idx="8">
                  <c:v>25.29</c:v>
                </c:pt>
                <c:pt idx="9">
                  <c:v>27.27</c:v>
                </c:pt>
                <c:pt idx="10">
                  <c:v>29.23</c:v>
                </c:pt>
              </c:numCache>
            </c:numRef>
          </c:val>
          <c:extLst>
            <c:ext xmlns:c16="http://schemas.microsoft.com/office/drawing/2014/chart" uri="{C3380CC4-5D6E-409C-BE32-E72D297353CC}">
              <c16:uniqueId val="{00000006-7717-FD4A-9E35-5ED5D777304A}"/>
            </c:ext>
          </c:extLst>
        </c:ser>
        <c:ser>
          <c:idx val="7"/>
          <c:order val="7"/>
          <c:tx>
            <c:strRef>
              <c:f>Sheet1!$A$12</c:f>
              <c:strCache>
                <c:ptCount val="1"/>
                <c:pt idx="0">
                  <c:v>TV &amp; Video Advertising</c:v>
                </c:pt>
              </c:strCache>
            </c:strRef>
          </c:tx>
          <c:spPr>
            <a:solidFill>
              <a:schemeClr val="accent2">
                <a:tint val="77000"/>
              </a:schemeClr>
            </a:solidFill>
            <a:ln>
              <a:noFill/>
            </a:ln>
            <a:effectLst/>
          </c:spPr>
          <c:invertIfNegative val="0"/>
          <c:cat>
            <c:numRef>
              <c:f>Sheet1!$B$4:$L$4</c:f>
              <c:numCache>
                <c:formatCode>General</c:formatCode>
                <c:ptCount val="11"/>
                <c:pt idx="0">
                  <c:v>2017</c:v>
                </c:pt>
                <c:pt idx="1">
                  <c:v>2018</c:v>
                </c:pt>
                <c:pt idx="2">
                  <c:v>2019</c:v>
                </c:pt>
                <c:pt idx="3">
                  <c:v>2020</c:v>
                </c:pt>
                <c:pt idx="4">
                  <c:v>2021</c:v>
                </c:pt>
                <c:pt idx="5">
                  <c:v>2022</c:v>
                </c:pt>
                <c:pt idx="6">
                  <c:v>2023</c:v>
                </c:pt>
                <c:pt idx="7">
                  <c:v>2024</c:v>
                </c:pt>
                <c:pt idx="8">
                  <c:v>2025</c:v>
                </c:pt>
                <c:pt idx="9">
                  <c:v>2026</c:v>
                </c:pt>
                <c:pt idx="10">
                  <c:v>2027</c:v>
                </c:pt>
              </c:numCache>
            </c:numRef>
          </c:cat>
          <c:val>
            <c:numRef>
              <c:f>Sheet1!$B$12:$L$12</c:f>
              <c:numCache>
                <c:formatCode>General</c:formatCode>
                <c:ptCount val="11"/>
                <c:pt idx="0">
                  <c:v>7.74</c:v>
                </c:pt>
                <c:pt idx="1">
                  <c:v>8.98</c:v>
                </c:pt>
                <c:pt idx="2">
                  <c:v>10.01</c:v>
                </c:pt>
                <c:pt idx="3">
                  <c:v>10.56</c:v>
                </c:pt>
                <c:pt idx="4">
                  <c:v>12.6</c:v>
                </c:pt>
                <c:pt idx="5">
                  <c:v>13.38</c:v>
                </c:pt>
                <c:pt idx="6">
                  <c:v>14.15</c:v>
                </c:pt>
                <c:pt idx="7">
                  <c:v>14.57</c:v>
                </c:pt>
                <c:pt idx="8">
                  <c:v>14.8</c:v>
                </c:pt>
                <c:pt idx="9">
                  <c:v>14.92</c:v>
                </c:pt>
                <c:pt idx="10">
                  <c:v>15.03</c:v>
                </c:pt>
              </c:numCache>
            </c:numRef>
          </c:val>
          <c:extLst>
            <c:ext xmlns:c16="http://schemas.microsoft.com/office/drawing/2014/chart" uri="{C3380CC4-5D6E-409C-BE32-E72D297353CC}">
              <c16:uniqueId val="{00000007-7717-FD4A-9E35-5ED5D777304A}"/>
            </c:ext>
          </c:extLst>
        </c:ser>
        <c:dLbls>
          <c:showLegendKey val="0"/>
          <c:showVal val="0"/>
          <c:showCatName val="0"/>
          <c:showSerName val="0"/>
          <c:showPercent val="0"/>
          <c:showBubbleSize val="0"/>
        </c:dLbls>
        <c:gapWidth val="150"/>
        <c:overlap val="100"/>
        <c:axId val="930446048"/>
        <c:axId val="930447776"/>
      </c:barChart>
      <c:catAx>
        <c:axId val="93044604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0447776"/>
        <c:crosses val="autoZero"/>
        <c:auto val="1"/>
        <c:lblAlgn val="ctr"/>
        <c:lblOffset val="100"/>
        <c:noMultiLvlLbl val="0"/>
      </c:catAx>
      <c:valAx>
        <c:axId val="9304477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atin typeface="Avenir Next" panose="020B0503020202020204" pitchFamily="34" charset="0"/>
                  </a:rPr>
                  <a:t>In billion USD (US $)</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0446048"/>
        <c:crosses val="autoZero"/>
        <c:crossBetween val="between"/>
      </c:valAx>
      <c:spPr>
        <a:noFill/>
        <a:ln>
          <a:noFill/>
        </a:ln>
        <a:effectLst/>
      </c:spPr>
    </c:plotArea>
    <c:legend>
      <c:legendPos val="r"/>
      <c:layout>
        <c:manualLayout>
          <c:xMode val="edge"/>
          <c:yMode val="edge"/>
          <c:x val="3.3216991967992396E-2"/>
          <c:y val="8.7026924053848098E-2"/>
          <c:w val="0.66811479935665175"/>
          <c:h val="0.1371020658707984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atin typeface="Avenir Next" panose="020B0503020202020204" pitchFamily="34" charset="0"/>
              </a:rPr>
              <a:t>Ad</a:t>
            </a:r>
            <a:r>
              <a:rPr lang="en-US" baseline="0">
                <a:latin typeface="Avenir Next" panose="020B0503020202020204" pitchFamily="34" charset="0"/>
              </a:rPr>
              <a:t> spending share by industry (in %)</a:t>
            </a:r>
            <a:endParaRPr lang="en-US">
              <a:latin typeface="Avenir Next" panose="020B0503020202020204" pitchFamily="34"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v>Field5</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'Ad Spending'!$A$151:$A$167</c:f>
              <c:strCache>
                <c:ptCount val="17"/>
                <c:pt idx="0">
                  <c:v>Automobiles</c:v>
                </c:pt>
                <c:pt idx="1">
                  <c:v>Business Services</c:v>
                </c:pt>
                <c:pt idx="2">
                  <c:v>Clothing &amp; Accessories</c:v>
                </c:pt>
                <c:pt idx="3">
                  <c:v>Education &amp; Training</c:v>
                </c:pt>
                <c:pt idx="4">
                  <c:v>Energy &amp; Fuel</c:v>
                </c:pt>
                <c:pt idx="5">
                  <c:v>Entertainment &amp; Media</c:v>
                </c:pt>
                <c:pt idx="6">
                  <c:v>Financial Services</c:v>
                </c:pt>
                <c:pt idx="7">
                  <c:v>FMCG</c:v>
                </c:pt>
                <c:pt idx="8">
                  <c:v>Government</c:v>
                </c:pt>
                <c:pt idx="9">
                  <c:v>Home Appliances &amp; Furniture</c:v>
                </c:pt>
                <c:pt idx="10">
                  <c:v>Other</c:v>
                </c:pt>
                <c:pt idx="11">
                  <c:v>Pharma &amp; Healthcare</c:v>
                </c:pt>
                <c:pt idx="12">
                  <c:v>Real Estate &amp; Construction</c:v>
                </c:pt>
                <c:pt idx="13">
                  <c:v>Retail</c:v>
                </c:pt>
                <c:pt idx="14">
                  <c:v>Technology &amp; Electronics</c:v>
                </c:pt>
                <c:pt idx="15">
                  <c:v>Telecommunications</c:v>
                </c:pt>
                <c:pt idx="16">
                  <c:v>Travel &amp; Leisure</c:v>
                </c:pt>
              </c:strCache>
            </c:strRef>
          </c:cat>
          <c:val>
            <c:numRef>
              <c:f>'Ad Spending'!$E$151:$E$167</c:f>
              <c:numCache>
                <c:formatCode>0.0</c:formatCode>
                <c:ptCount val="17"/>
                <c:pt idx="0">
                  <c:v>3.4949847241916703</c:v>
                </c:pt>
                <c:pt idx="1">
                  <c:v>4.0620237292655004</c:v>
                </c:pt>
                <c:pt idx="2">
                  <c:v>2.5244972747945198</c:v>
                </c:pt>
                <c:pt idx="3">
                  <c:v>0.76442969897014001</c:v>
                </c:pt>
                <c:pt idx="4">
                  <c:v>6.3910629782692503</c:v>
                </c:pt>
                <c:pt idx="5">
                  <c:v>6.3383398529314006</c:v>
                </c:pt>
                <c:pt idx="6">
                  <c:v>5.94128853789032</c:v>
                </c:pt>
                <c:pt idx="7">
                  <c:v>17.677863301237402</c:v>
                </c:pt>
                <c:pt idx="8">
                  <c:v>3.0169452104077599</c:v>
                </c:pt>
                <c:pt idx="9">
                  <c:v>5.0304421457616302</c:v>
                </c:pt>
                <c:pt idx="10">
                  <c:v>5.5266749402188706</c:v>
                </c:pt>
                <c:pt idx="11">
                  <c:v>3.8101948824395699</c:v>
                </c:pt>
                <c:pt idx="12">
                  <c:v>2.80081600882697</c:v>
                </c:pt>
                <c:pt idx="13">
                  <c:v>8.9506168768396588</c:v>
                </c:pt>
                <c:pt idx="14">
                  <c:v>2.86924940183515</c:v>
                </c:pt>
                <c:pt idx="15">
                  <c:v>9.0356166682426604</c:v>
                </c:pt>
                <c:pt idx="16">
                  <c:v>11.7649537678776</c:v>
                </c:pt>
              </c:numCache>
            </c:numRef>
          </c:val>
          <c:extLst>
            <c:ext xmlns:c16="http://schemas.microsoft.com/office/drawing/2014/chart" uri="{C3380CC4-5D6E-409C-BE32-E72D297353CC}">
              <c16:uniqueId val="{00000000-E6B2-DD4F-A803-EC89F07B6B92}"/>
            </c:ext>
          </c:extLst>
        </c:ser>
        <c:dLbls>
          <c:showLegendKey val="0"/>
          <c:showVal val="0"/>
          <c:showCatName val="0"/>
          <c:showSerName val="0"/>
          <c:showPercent val="0"/>
          <c:showBubbleSize val="0"/>
        </c:dLbls>
        <c:gapWidth val="33"/>
        <c:overlap val="-30"/>
        <c:axId val="1025149200"/>
        <c:axId val="943450720"/>
      </c:barChart>
      <c:catAx>
        <c:axId val="102514920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43450720"/>
        <c:crosses val="autoZero"/>
        <c:auto val="1"/>
        <c:lblAlgn val="ctr"/>
        <c:lblOffset val="100"/>
        <c:noMultiLvlLbl val="0"/>
      </c:catAx>
      <c:valAx>
        <c:axId val="943450720"/>
        <c:scaling>
          <c:orientation val="minMax"/>
        </c:scaling>
        <c:delete val="0"/>
        <c:axPos val="b"/>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251492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latin typeface="Avenir Next" panose="020B0503020202020204" pitchFamily="34" charset="0"/>
              </a:rPr>
              <a:t>Annual</a:t>
            </a:r>
            <a:r>
              <a:rPr lang="en-US" b="1" baseline="0">
                <a:latin typeface="Avenir Next" panose="020B0503020202020204" pitchFamily="34" charset="0"/>
              </a:rPr>
              <a:t> growth rate of Advertising spending in the UK</a:t>
            </a:r>
            <a:r>
              <a:rPr lang="en-US" baseline="0">
                <a:latin typeface="Avenir Next" panose="020B0503020202020204" pitchFamily="34" charset="0"/>
              </a:rPr>
              <a:t> (2011 -2022)</a:t>
            </a:r>
            <a:endParaRPr lang="en-US">
              <a:latin typeface="Avenir Next" panose="020B0503020202020204" pitchFamily="34"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v>Field3</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25400" cap="rnd">
                <a:solidFill>
                  <a:schemeClr val="accent2"/>
                </a:solidFill>
                <a:prstDash val="dash"/>
              </a:ln>
              <a:effectLst/>
            </c:spPr>
            <c:trendlineType val="linear"/>
            <c:dispRSqr val="0"/>
            <c:dispEq val="0"/>
          </c:trendline>
          <c:cat>
            <c:strRef>
              <c:f>Data!$B$7:$B$18</c:f>
              <c:strCache>
                <c:ptCount val="12"/>
                <c:pt idx="0">
                  <c:v>2011</c:v>
                </c:pt>
                <c:pt idx="1">
                  <c:v>2012</c:v>
                </c:pt>
                <c:pt idx="2">
                  <c:v>2013</c:v>
                </c:pt>
                <c:pt idx="3">
                  <c:v>2014</c:v>
                </c:pt>
                <c:pt idx="4">
                  <c:v>2015</c:v>
                </c:pt>
                <c:pt idx="5">
                  <c:v>2016</c:v>
                </c:pt>
                <c:pt idx="6">
                  <c:v>2017</c:v>
                </c:pt>
                <c:pt idx="7">
                  <c:v>2018</c:v>
                </c:pt>
                <c:pt idx="8">
                  <c:v>2019</c:v>
                </c:pt>
                <c:pt idx="9">
                  <c:v>2020</c:v>
                </c:pt>
                <c:pt idx="10">
                  <c:v>2021</c:v>
                </c:pt>
                <c:pt idx="11">
                  <c:v>2022</c:v>
                </c:pt>
              </c:strCache>
            </c:strRef>
          </c:cat>
          <c:val>
            <c:numRef>
              <c:f>Data!$D$7:$D$18</c:f>
              <c:numCache>
                <c:formatCode>0.00</c:formatCode>
                <c:ptCount val="12"/>
                <c:pt idx="0">
                  <c:v>3.8709677419354929</c:v>
                </c:pt>
                <c:pt idx="1">
                  <c:v>6.6459627329192559</c:v>
                </c:pt>
                <c:pt idx="2">
                  <c:v>2.6790914385556044</c:v>
                </c:pt>
                <c:pt idx="3">
                  <c:v>5.3885422575155948</c:v>
                </c:pt>
                <c:pt idx="4">
                  <c:v>8.1270182992465099</c:v>
                </c:pt>
                <c:pt idx="5">
                  <c:v>6.3713290194126486</c:v>
                </c:pt>
                <c:pt idx="6">
                  <c:v>3.8371548900327577</c:v>
                </c:pt>
                <c:pt idx="7">
                  <c:v>6.2190175754844477</c:v>
                </c:pt>
                <c:pt idx="8">
                  <c:v>19.983029274501487</c:v>
                </c:pt>
                <c:pt idx="9">
                  <c:v>-15.98302687411598</c:v>
                </c:pt>
                <c:pt idx="10">
                  <c:v>34.511784511784505</c:v>
                </c:pt>
                <c:pt idx="11">
                  <c:v>8.7922403003754752</c:v>
                </c:pt>
              </c:numCache>
            </c:numRef>
          </c:val>
          <c:extLst>
            <c:ext xmlns:c16="http://schemas.microsoft.com/office/drawing/2014/chart" uri="{C3380CC4-5D6E-409C-BE32-E72D297353CC}">
              <c16:uniqueId val="{00000001-CA7A-7F45-84D5-B9FC5840030F}"/>
            </c:ext>
          </c:extLst>
        </c:ser>
        <c:dLbls>
          <c:showLegendKey val="0"/>
          <c:showVal val="0"/>
          <c:showCatName val="0"/>
          <c:showSerName val="0"/>
          <c:showPercent val="0"/>
          <c:showBubbleSize val="0"/>
        </c:dLbls>
        <c:gapWidth val="33"/>
        <c:overlap val="-30"/>
        <c:axId val="1691977568"/>
        <c:axId val="1691875856"/>
      </c:barChart>
      <c:catAx>
        <c:axId val="169197756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91875856"/>
        <c:crosses val="autoZero"/>
        <c:auto val="1"/>
        <c:lblAlgn val="ctr"/>
        <c:lblOffset val="100"/>
        <c:noMultiLvlLbl val="0"/>
      </c:catAx>
      <c:valAx>
        <c:axId val="1691875856"/>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9197756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latin typeface="Avenir Next" panose="020B0503020202020204" pitchFamily="34" charset="0"/>
              </a:rPr>
              <a:t>Advertising</a:t>
            </a:r>
            <a:r>
              <a:rPr lang="en-US" b="1" baseline="0">
                <a:latin typeface="Avenir Next" panose="020B0503020202020204" pitchFamily="34" charset="0"/>
              </a:rPr>
              <a:t> expenditure in the United Kingdom from 2010 to 2022 </a:t>
            </a:r>
            <a:r>
              <a:rPr lang="en-US" baseline="0">
                <a:latin typeface="Avenir Next" panose="020B0503020202020204" pitchFamily="34" charset="0"/>
              </a:rPr>
              <a:t>(in billion GDP)</a:t>
            </a:r>
            <a:endParaRPr lang="en-US">
              <a:latin typeface="Avenir Next" panose="020B0503020202020204" pitchFamily="34"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v>Field2</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Data!$B$6:$B$18</c:f>
              <c:strCache>
                <c:ptCount val="13"/>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strCache>
            </c:strRef>
          </c:cat>
          <c:val>
            <c:numRef>
              <c:f>Data!$C$6:$C$18</c:f>
              <c:numCache>
                <c:formatCode>#,##0.00</c:formatCode>
                <c:ptCount val="13"/>
                <c:pt idx="0">
                  <c:v>15.5</c:v>
                </c:pt>
                <c:pt idx="1">
                  <c:v>16.100000000000001</c:v>
                </c:pt>
                <c:pt idx="2">
                  <c:v>17.170000000000002</c:v>
                </c:pt>
                <c:pt idx="3">
                  <c:v>17.63</c:v>
                </c:pt>
                <c:pt idx="4">
                  <c:v>18.579999999999998</c:v>
                </c:pt>
                <c:pt idx="5">
                  <c:v>20.09</c:v>
                </c:pt>
                <c:pt idx="6">
                  <c:v>21.37</c:v>
                </c:pt>
                <c:pt idx="7">
                  <c:v>22.19</c:v>
                </c:pt>
                <c:pt idx="8">
                  <c:v>23.57</c:v>
                </c:pt>
                <c:pt idx="9">
                  <c:v>28.28</c:v>
                </c:pt>
                <c:pt idx="10">
                  <c:v>23.76</c:v>
                </c:pt>
                <c:pt idx="11">
                  <c:v>31.96</c:v>
                </c:pt>
                <c:pt idx="12">
                  <c:v>34.770000000000003</c:v>
                </c:pt>
              </c:numCache>
            </c:numRef>
          </c:val>
          <c:extLst>
            <c:ext xmlns:c16="http://schemas.microsoft.com/office/drawing/2014/chart" uri="{C3380CC4-5D6E-409C-BE32-E72D297353CC}">
              <c16:uniqueId val="{00000000-B55A-F64D-A127-27631AC74A39}"/>
            </c:ext>
          </c:extLst>
        </c:ser>
        <c:dLbls>
          <c:showLegendKey val="0"/>
          <c:showVal val="0"/>
          <c:showCatName val="0"/>
          <c:showSerName val="0"/>
          <c:showPercent val="0"/>
          <c:showBubbleSize val="0"/>
        </c:dLbls>
        <c:gapWidth val="33"/>
        <c:overlap val="-30"/>
        <c:axId val="1495517551"/>
        <c:axId val="1437319807"/>
      </c:barChart>
      <c:catAx>
        <c:axId val="14955175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37319807"/>
        <c:crosses val="autoZero"/>
        <c:auto val="1"/>
        <c:lblAlgn val="ctr"/>
        <c:lblOffset val="100"/>
        <c:noMultiLvlLbl val="0"/>
      </c:catAx>
      <c:valAx>
        <c:axId val="1437319807"/>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9551755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0" i="0" u="none" strike="noStrike" baseline="0">
                <a:effectLst/>
              </a:rPr>
              <a:t>Advertising spending in selected markets worldwide in 2023 (in billion U.S. dollars)</a:t>
            </a:r>
            <a:r>
              <a:rPr lang="en-GB" sz="1400" b="0" i="0" u="none" strike="noStrike" baseline="0"/>
              <a:t> </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0913796057488497"/>
          <c:y val="0.17300767327123648"/>
          <c:w val="0.85082231772351191"/>
          <c:h val="0.74213305112171402"/>
        </c:manualLayout>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Data!$B$6:$B$21</c:f>
              <c:strCache>
                <c:ptCount val="16"/>
                <c:pt idx="0">
                  <c:v>United States</c:v>
                </c:pt>
                <c:pt idx="1">
                  <c:v>China</c:v>
                </c:pt>
                <c:pt idx="2">
                  <c:v>Japan</c:v>
                </c:pt>
                <c:pt idx="3">
                  <c:v>UK </c:v>
                </c:pt>
                <c:pt idx="4">
                  <c:v>Germany</c:v>
                </c:pt>
                <c:pt idx="5">
                  <c:v>Canada</c:v>
                </c:pt>
                <c:pt idx="6">
                  <c:v>France</c:v>
                </c:pt>
                <c:pt idx="7">
                  <c:v>Australia</c:v>
                </c:pt>
                <c:pt idx="8">
                  <c:v>Brazil</c:v>
                </c:pt>
                <c:pt idx="9">
                  <c:v>South Korea</c:v>
                </c:pt>
                <c:pt idx="10">
                  <c:v>India</c:v>
                </c:pt>
                <c:pt idx="11">
                  <c:v>Italy</c:v>
                </c:pt>
                <c:pt idx="12">
                  <c:v>Spain</c:v>
                </c:pt>
                <c:pt idx="13">
                  <c:v>Mexico</c:v>
                </c:pt>
                <c:pt idx="14">
                  <c:v>Russia</c:v>
                </c:pt>
                <c:pt idx="15">
                  <c:v>Netherlands</c:v>
                </c:pt>
              </c:strCache>
            </c:strRef>
          </c:cat>
          <c:val>
            <c:numRef>
              <c:f>Data!$C$6:$C$21</c:f>
              <c:numCache>
                <c:formatCode>#,##0.00</c:formatCode>
                <c:ptCount val="16"/>
                <c:pt idx="0">
                  <c:v>365.4</c:v>
                </c:pt>
                <c:pt idx="1">
                  <c:v>198.4</c:v>
                </c:pt>
                <c:pt idx="2">
                  <c:v>49.67</c:v>
                </c:pt>
                <c:pt idx="3">
                  <c:v>49.6</c:v>
                </c:pt>
                <c:pt idx="4">
                  <c:v>27.03</c:v>
                </c:pt>
                <c:pt idx="5">
                  <c:v>19.760000000000002</c:v>
                </c:pt>
                <c:pt idx="6">
                  <c:v>18.09</c:v>
                </c:pt>
                <c:pt idx="7">
                  <c:v>16.940000000000001</c:v>
                </c:pt>
                <c:pt idx="8">
                  <c:v>15.39</c:v>
                </c:pt>
                <c:pt idx="9">
                  <c:v>15.26</c:v>
                </c:pt>
                <c:pt idx="10">
                  <c:v>13.89</c:v>
                </c:pt>
                <c:pt idx="11">
                  <c:v>10.11</c:v>
                </c:pt>
                <c:pt idx="12">
                  <c:v>9.1</c:v>
                </c:pt>
                <c:pt idx="13">
                  <c:v>8.31</c:v>
                </c:pt>
                <c:pt idx="14">
                  <c:v>8.15</c:v>
                </c:pt>
                <c:pt idx="15">
                  <c:v>6.56</c:v>
                </c:pt>
              </c:numCache>
            </c:numRef>
          </c:val>
          <c:extLst>
            <c:ext xmlns:c16="http://schemas.microsoft.com/office/drawing/2014/chart" uri="{C3380CC4-5D6E-409C-BE32-E72D297353CC}">
              <c16:uniqueId val="{00000000-6151-EB45-9FAB-73B8F5BF3780}"/>
            </c:ext>
          </c:extLst>
        </c:ser>
        <c:dLbls>
          <c:showLegendKey val="0"/>
          <c:showVal val="0"/>
          <c:showCatName val="0"/>
          <c:showSerName val="0"/>
          <c:showPercent val="0"/>
          <c:showBubbleSize val="0"/>
        </c:dLbls>
        <c:gapWidth val="182"/>
        <c:axId val="1730549152"/>
        <c:axId val="1731007728"/>
      </c:barChart>
      <c:catAx>
        <c:axId val="1730549152"/>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31007728"/>
        <c:crosses val="autoZero"/>
        <c:auto val="1"/>
        <c:lblAlgn val="ctr"/>
        <c:lblOffset val="100"/>
        <c:noMultiLvlLbl val="0"/>
      </c:catAx>
      <c:valAx>
        <c:axId val="1731007728"/>
        <c:scaling>
          <c:orientation val="minMax"/>
        </c:scaling>
        <c:delete val="0"/>
        <c:axPos val="t"/>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305491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0" i="0" u="none" strike="noStrike" baseline="0">
                <a:effectLst/>
                <a:latin typeface="Avenir Next" panose="020B0503020202020204" pitchFamily="34" charset="0"/>
              </a:rPr>
              <a:t>Revenue of the film industry in the United Kingdom (UK) from 2010 to 2019 (in billion GBP)</a:t>
            </a:r>
            <a:r>
              <a:rPr lang="en-GB" sz="1400" b="0" i="0" u="none" strike="noStrike" baseline="0">
                <a:latin typeface="Avenir Next" panose="020B0503020202020204" pitchFamily="34" charset="0"/>
              </a:rPr>
              <a:t> </a:t>
            </a:r>
            <a:endParaRPr lang="en-US">
              <a:latin typeface="Avenir Next" panose="020B0503020202020204" pitchFamily="34"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7769607843137249E-2"/>
          <c:y val="0.15810286399263859"/>
          <c:w val="0.87526960784313723"/>
          <c:h val="0.76513477004084707"/>
        </c:manualLayout>
      </c:layout>
      <c:barChart>
        <c:barDir val="col"/>
        <c:grouping val="stacked"/>
        <c:varyColors val="0"/>
        <c:ser>
          <c:idx val="0"/>
          <c:order val="0"/>
          <c:tx>
            <c:v>Film and Video production (including post-production)</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Data!$H$5:$Q$5</c:f>
              <c:numCache>
                <c:formatCode>General</c:formatCode>
                <c:ptCount val="10"/>
                <c:pt idx="0">
                  <c:v>2010</c:v>
                </c:pt>
                <c:pt idx="1">
                  <c:v>2011</c:v>
                </c:pt>
                <c:pt idx="2">
                  <c:v>2012</c:v>
                </c:pt>
                <c:pt idx="3">
                  <c:v>2013</c:v>
                </c:pt>
                <c:pt idx="4">
                  <c:v>2014</c:v>
                </c:pt>
                <c:pt idx="5">
                  <c:v>2015</c:v>
                </c:pt>
                <c:pt idx="6">
                  <c:v>2016</c:v>
                </c:pt>
                <c:pt idx="7">
                  <c:v>2017</c:v>
                </c:pt>
                <c:pt idx="8">
                  <c:v>2018</c:v>
                </c:pt>
                <c:pt idx="9">
                  <c:v>2019</c:v>
                </c:pt>
              </c:numCache>
            </c:numRef>
          </c:cat>
          <c:val>
            <c:numRef>
              <c:f>Data!$H$8:$Q$8</c:f>
              <c:numCache>
                <c:formatCode>#,##0</c:formatCode>
                <c:ptCount val="10"/>
                <c:pt idx="0">
                  <c:v>2596</c:v>
                </c:pt>
                <c:pt idx="1">
                  <c:v>2619</c:v>
                </c:pt>
                <c:pt idx="2">
                  <c:v>4238</c:v>
                </c:pt>
                <c:pt idx="3">
                  <c:v>3793</c:v>
                </c:pt>
                <c:pt idx="4">
                  <c:v>3852</c:v>
                </c:pt>
                <c:pt idx="5">
                  <c:v>4969</c:v>
                </c:pt>
                <c:pt idx="6">
                  <c:v>5124</c:v>
                </c:pt>
                <c:pt idx="7">
                  <c:v>5523</c:v>
                </c:pt>
                <c:pt idx="8">
                  <c:v>8448</c:v>
                </c:pt>
                <c:pt idx="9">
                  <c:v>8715</c:v>
                </c:pt>
              </c:numCache>
            </c:numRef>
          </c:val>
          <c:extLst>
            <c:ext xmlns:c16="http://schemas.microsoft.com/office/drawing/2014/chart" uri="{C3380CC4-5D6E-409C-BE32-E72D297353CC}">
              <c16:uniqueId val="{00000000-0BE9-9C4E-8B9E-63959E1DFEBE}"/>
            </c:ext>
          </c:extLst>
        </c:ser>
        <c:ser>
          <c:idx val="1"/>
          <c:order val="1"/>
          <c:tx>
            <c:v>Film and Video Distribution</c:v>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Data!$H$5:$Q$5</c:f>
              <c:numCache>
                <c:formatCode>General</c:formatCode>
                <c:ptCount val="10"/>
                <c:pt idx="0">
                  <c:v>2010</c:v>
                </c:pt>
                <c:pt idx="1">
                  <c:v>2011</c:v>
                </c:pt>
                <c:pt idx="2">
                  <c:v>2012</c:v>
                </c:pt>
                <c:pt idx="3">
                  <c:v>2013</c:v>
                </c:pt>
                <c:pt idx="4">
                  <c:v>2014</c:v>
                </c:pt>
                <c:pt idx="5">
                  <c:v>2015</c:v>
                </c:pt>
                <c:pt idx="6">
                  <c:v>2016</c:v>
                </c:pt>
                <c:pt idx="7">
                  <c:v>2017</c:v>
                </c:pt>
                <c:pt idx="8">
                  <c:v>2018</c:v>
                </c:pt>
                <c:pt idx="9">
                  <c:v>2019</c:v>
                </c:pt>
              </c:numCache>
            </c:numRef>
          </c:cat>
          <c:val>
            <c:numRef>
              <c:f>Data!$H$9:$Q$9</c:f>
              <c:numCache>
                <c:formatCode>#,##0</c:formatCode>
                <c:ptCount val="10"/>
                <c:pt idx="0">
                  <c:v>2950</c:v>
                </c:pt>
                <c:pt idx="1">
                  <c:v>2592</c:v>
                </c:pt>
                <c:pt idx="2">
                  <c:v>1680</c:v>
                </c:pt>
                <c:pt idx="3">
                  <c:v>2912</c:v>
                </c:pt>
                <c:pt idx="4">
                  <c:v>2926</c:v>
                </c:pt>
                <c:pt idx="5">
                  <c:v>5270</c:v>
                </c:pt>
                <c:pt idx="6">
                  <c:v>6427</c:v>
                </c:pt>
                <c:pt idx="7">
                  <c:v>8074</c:v>
                </c:pt>
                <c:pt idx="8">
                  <c:v>8217</c:v>
                </c:pt>
                <c:pt idx="9">
                  <c:v>8330</c:v>
                </c:pt>
              </c:numCache>
            </c:numRef>
          </c:val>
          <c:extLst>
            <c:ext xmlns:c16="http://schemas.microsoft.com/office/drawing/2014/chart" uri="{C3380CC4-5D6E-409C-BE32-E72D297353CC}">
              <c16:uniqueId val="{00000001-0BE9-9C4E-8B9E-63959E1DFEBE}"/>
            </c:ext>
          </c:extLst>
        </c:ser>
        <c:ser>
          <c:idx val="2"/>
          <c:order val="2"/>
          <c:tx>
            <c:v>Film exhibition</c:v>
          </c:tx>
          <c:spPr>
            <a:solidFill>
              <a:schemeClr val="accent4"/>
            </a:solidFill>
            <a:ln>
              <a:noFill/>
            </a:ln>
            <a:effectLst/>
          </c:spPr>
          <c:invertIfNegative val="0"/>
          <c:dLbls>
            <c:spPr>
              <a:solidFill>
                <a:schemeClr val="accent4"/>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Data!$H$5:$Q$5</c:f>
              <c:numCache>
                <c:formatCode>General</c:formatCode>
                <c:ptCount val="10"/>
                <c:pt idx="0">
                  <c:v>2010</c:v>
                </c:pt>
                <c:pt idx="1">
                  <c:v>2011</c:v>
                </c:pt>
                <c:pt idx="2">
                  <c:v>2012</c:v>
                </c:pt>
                <c:pt idx="3">
                  <c:v>2013</c:v>
                </c:pt>
                <c:pt idx="4">
                  <c:v>2014</c:v>
                </c:pt>
                <c:pt idx="5">
                  <c:v>2015</c:v>
                </c:pt>
                <c:pt idx="6">
                  <c:v>2016</c:v>
                </c:pt>
                <c:pt idx="7">
                  <c:v>2017</c:v>
                </c:pt>
                <c:pt idx="8">
                  <c:v>2018</c:v>
                </c:pt>
                <c:pt idx="9">
                  <c:v>2019</c:v>
                </c:pt>
              </c:numCache>
            </c:numRef>
          </c:cat>
          <c:val>
            <c:numRef>
              <c:f>Data!$H$10:$Q$10</c:f>
              <c:numCache>
                <c:formatCode>#,##0</c:formatCode>
                <c:ptCount val="10"/>
                <c:pt idx="0">
                  <c:v>1257</c:v>
                </c:pt>
                <c:pt idx="1">
                  <c:v>1270</c:v>
                </c:pt>
                <c:pt idx="2">
                  <c:v>1325</c:v>
                </c:pt>
                <c:pt idx="3">
                  <c:v>1299</c:v>
                </c:pt>
                <c:pt idx="4">
                  <c:v>1379</c:v>
                </c:pt>
                <c:pt idx="5">
                  <c:v>1593</c:v>
                </c:pt>
                <c:pt idx="6">
                  <c:v>1551</c:v>
                </c:pt>
                <c:pt idx="7">
                  <c:v>1623</c:v>
                </c:pt>
                <c:pt idx="8">
                  <c:v>1756</c:v>
                </c:pt>
                <c:pt idx="9">
                  <c:v>1708</c:v>
                </c:pt>
              </c:numCache>
            </c:numRef>
          </c:val>
          <c:extLst>
            <c:ext xmlns:c16="http://schemas.microsoft.com/office/drawing/2014/chart" uri="{C3380CC4-5D6E-409C-BE32-E72D297353CC}">
              <c16:uniqueId val="{00000002-0BE9-9C4E-8B9E-63959E1DFEBE}"/>
            </c:ext>
          </c:extLst>
        </c:ser>
        <c:dLbls>
          <c:showLegendKey val="0"/>
          <c:showVal val="0"/>
          <c:showCatName val="0"/>
          <c:showSerName val="0"/>
          <c:showPercent val="0"/>
          <c:showBubbleSize val="0"/>
        </c:dLbls>
        <c:gapWidth val="33"/>
        <c:overlap val="100"/>
        <c:axId val="803050000"/>
        <c:axId val="803138880"/>
      </c:barChart>
      <c:catAx>
        <c:axId val="8030500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03138880"/>
        <c:crosses val="autoZero"/>
        <c:auto val="1"/>
        <c:lblAlgn val="ctr"/>
        <c:lblOffset val="100"/>
        <c:noMultiLvlLbl val="0"/>
      </c:catAx>
      <c:valAx>
        <c:axId val="80313888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03050000"/>
        <c:crosses val="autoZero"/>
        <c:crossBetween val="between"/>
      </c:valAx>
      <c:spPr>
        <a:noFill/>
        <a:ln>
          <a:noFill/>
        </a:ln>
        <a:effectLst/>
      </c:spPr>
    </c:plotArea>
    <c:legend>
      <c:legendPos val="b"/>
      <c:layout>
        <c:manualLayout>
          <c:xMode val="edge"/>
          <c:yMode val="edge"/>
          <c:x val="9.9969881069237654E-2"/>
          <c:y val="0.16494512722293694"/>
          <c:w val="0.52126332355205018"/>
          <c:h val="0.2046280937035918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0" i="0" u="none" strike="noStrike" kern="1200" spc="0" baseline="0">
                <a:solidFill>
                  <a:sysClr val="windowText" lastClr="000000">
                    <a:lumMod val="65000"/>
                    <a:lumOff val="35000"/>
                  </a:sysClr>
                </a:solidFill>
                <a:latin typeface="Avenir Next" panose="020B0503020202020204" pitchFamily="34" charset="0"/>
              </a:rPr>
              <a:t>Annual change in the revenue of the Film Exhibiton sector in the UK 2011-2019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Data!$H$14:$P$14</c:f>
              <c:numCache>
                <c:formatCode>General</c:formatCode>
                <c:ptCount val="9"/>
                <c:pt idx="0">
                  <c:v>2011</c:v>
                </c:pt>
                <c:pt idx="1">
                  <c:v>2012</c:v>
                </c:pt>
                <c:pt idx="2">
                  <c:v>2013</c:v>
                </c:pt>
                <c:pt idx="3">
                  <c:v>2014</c:v>
                </c:pt>
                <c:pt idx="4">
                  <c:v>2015</c:v>
                </c:pt>
                <c:pt idx="5">
                  <c:v>2016</c:v>
                </c:pt>
                <c:pt idx="6">
                  <c:v>2017</c:v>
                </c:pt>
                <c:pt idx="7">
                  <c:v>2018</c:v>
                </c:pt>
                <c:pt idx="8">
                  <c:v>2019</c:v>
                </c:pt>
              </c:numCache>
            </c:numRef>
          </c:cat>
          <c:val>
            <c:numRef>
              <c:f>Data!$H$17:$P$17</c:f>
              <c:numCache>
                <c:formatCode>0.00</c:formatCode>
                <c:ptCount val="9"/>
                <c:pt idx="0">
                  <c:v>1.0342084327764518</c:v>
                </c:pt>
                <c:pt idx="1">
                  <c:v>4.3307086614173231</c:v>
                </c:pt>
                <c:pt idx="2">
                  <c:v>-1.9622641509433962</c:v>
                </c:pt>
                <c:pt idx="3">
                  <c:v>6.1585835257890684</c:v>
                </c:pt>
                <c:pt idx="4">
                  <c:v>15.51849166062364</c:v>
                </c:pt>
                <c:pt idx="5">
                  <c:v>-2.6365348399246704</c:v>
                </c:pt>
                <c:pt idx="6">
                  <c:v>4.6421663442940044</c:v>
                </c:pt>
                <c:pt idx="7">
                  <c:v>8.1947011706715962</c:v>
                </c:pt>
                <c:pt idx="8">
                  <c:v>-2.7334851936218678</c:v>
                </c:pt>
              </c:numCache>
            </c:numRef>
          </c:val>
          <c:extLst>
            <c:ext xmlns:c16="http://schemas.microsoft.com/office/drawing/2014/chart" uri="{C3380CC4-5D6E-409C-BE32-E72D297353CC}">
              <c16:uniqueId val="{00000000-046D-6A4E-B03A-48252711713E}"/>
            </c:ext>
          </c:extLst>
        </c:ser>
        <c:dLbls>
          <c:showLegendKey val="0"/>
          <c:showVal val="0"/>
          <c:showCatName val="0"/>
          <c:showSerName val="0"/>
          <c:showPercent val="0"/>
          <c:showBubbleSize val="0"/>
        </c:dLbls>
        <c:gapWidth val="219"/>
        <c:overlap val="-27"/>
        <c:axId val="922580464"/>
        <c:axId val="922582192"/>
      </c:barChart>
      <c:catAx>
        <c:axId val="922580464"/>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2582192"/>
        <c:crosses val="autoZero"/>
        <c:auto val="1"/>
        <c:lblAlgn val="ctr"/>
        <c:lblOffset val="100"/>
        <c:noMultiLvlLbl val="0"/>
      </c:catAx>
      <c:valAx>
        <c:axId val="922582192"/>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25804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0" i="0" u="none" strike="noStrike" kern="1200" spc="0" baseline="0">
                <a:solidFill>
                  <a:sysClr val="windowText" lastClr="000000">
                    <a:lumMod val="65000"/>
                    <a:lumOff val="35000"/>
                  </a:sysClr>
                </a:solidFill>
                <a:effectLst/>
                <a:latin typeface="Avenir Next" panose="020B0503020202020204" pitchFamily="34" charset="0"/>
              </a:rPr>
              <a:t>Revenue of the film industry in the United Kingdom (UK) from 2010 to 2019 (in billion GBP)</a:t>
            </a:r>
            <a:endParaRPr lang="en-US">
              <a:latin typeface="Avenir Next" panose="020B0503020202020204" pitchFamily="34"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5.5804408006579299E-2"/>
          <c:y val="0.1513637804047645"/>
          <c:w val="0.92877953506024069"/>
          <c:h val="0.73116722058538119"/>
        </c:manualLayout>
      </c:layout>
      <c:barChart>
        <c:barDir val="col"/>
        <c:grouping val="clustered"/>
        <c:varyColors val="0"/>
        <c:ser>
          <c:idx val="2"/>
          <c:order val="0"/>
          <c:tx>
            <c:v>Film exhibition</c:v>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Data!$H$5:$Q$5</c:f>
              <c:numCache>
                <c:formatCode>General</c:formatCode>
                <c:ptCount val="10"/>
                <c:pt idx="0">
                  <c:v>2010</c:v>
                </c:pt>
                <c:pt idx="1">
                  <c:v>2011</c:v>
                </c:pt>
                <c:pt idx="2">
                  <c:v>2012</c:v>
                </c:pt>
                <c:pt idx="3">
                  <c:v>2013</c:v>
                </c:pt>
                <c:pt idx="4">
                  <c:v>2014</c:v>
                </c:pt>
                <c:pt idx="5">
                  <c:v>2015</c:v>
                </c:pt>
                <c:pt idx="6">
                  <c:v>2016</c:v>
                </c:pt>
                <c:pt idx="7">
                  <c:v>2017</c:v>
                </c:pt>
                <c:pt idx="8">
                  <c:v>2018</c:v>
                </c:pt>
                <c:pt idx="9">
                  <c:v>2019</c:v>
                </c:pt>
              </c:numCache>
            </c:numRef>
          </c:cat>
          <c:val>
            <c:numRef>
              <c:f>Data!$H$10:$Q$10</c:f>
              <c:numCache>
                <c:formatCode>#,##0</c:formatCode>
                <c:ptCount val="10"/>
                <c:pt idx="0">
                  <c:v>1257</c:v>
                </c:pt>
                <c:pt idx="1">
                  <c:v>1270</c:v>
                </c:pt>
                <c:pt idx="2">
                  <c:v>1325</c:v>
                </c:pt>
                <c:pt idx="3">
                  <c:v>1299</c:v>
                </c:pt>
                <c:pt idx="4">
                  <c:v>1379</c:v>
                </c:pt>
                <c:pt idx="5">
                  <c:v>1593</c:v>
                </c:pt>
                <c:pt idx="6">
                  <c:v>1551</c:v>
                </c:pt>
                <c:pt idx="7">
                  <c:v>1623</c:v>
                </c:pt>
                <c:pt idx="8">
                  <c:v>1756</c:v>
                </c:pt>
                <c:pt idx="9">
                  <c:v>1708</c:v>
                </c:pt>
              </c:numCache>
            </c:numRef>
          </c:val>
          <c:extLst>
            <c:ext xmlns:c16="http://schemas.microsoft.com/office/drawing/2014/chart" uri="{C3380CC4-5D6E-409C-BE32-E72D297353CC}">
              <c16:uniqueId val="{00000000-372A-A848-94C4-B89CFFE35014}"/>
            </c:ext>
          </c:extLst>
        </c:ser>
        <c:ser>
          <c:idx val="1"/>
          <c:order val="1"/>
          <c:tx>
            <c:strRef>
              <c:f>Data!$G$9</c:f>
              <c:strCache>
                <c:ptCount val="1"/>
                <c:pt idx="0">
                  <c:v>Film and video distribution</c:v>
                </c:pt>
              </c:strCache>
            </c:strRef>
          </c:tx>
          <c:spPr>
            <a:solidFill>
              <a:schemeClr val="accent2"/>
            </a:solidFill>
            <a:ln>
              <a:noFill/>
            </a:ln>
            <a:effectLst/>
          </c:spPr>
          <c:invertIfNegative val="0"/>
          <c:dLbls>
            <c:dLbl>
              <c:idx val="4"/>
              <c:layout>
                <c:manualLayout>
                  <c:x val="-4.2331250251102107E-3"/>
                  <c:y val="-9.371927752827395E-1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72A-A848-94C4-B89CFFE3501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Data!$H$5:$Q$5</c:f>
              <c:numCache>
                <c:formatCode>General</c:formatCode>
                <c:ptCount val="10"/>
                <c:pt idx="0">
                  <c:v>2010</c:v>
                </c:pt>
                <c:pt idx="1">
                  <c:v>2011</c:v>
                </c:pt>
                <c:pt idx="2">
                  <c:v>2012</c:v>
                </c:pt>
                <c:pt idx="3">
                  <c:v>2013</c:v>
                </c:pt>
                <c:pt idx="4">
                  <c:v>2014</c:v>
                </c:pt>
                <c:pt idx="5">
                  <c:v>2015</c:v>
                </c:pt>
                <c:pt idx="6">
                  <c:v>2016</c:v>
                </c:pt>
                <c:pt idx="7">
                  <c:v>2017</c:v>
                </c:pt>
                <c:pt idx="8">
                  <c:v>2018</c:v>
                </c:pt>
                <c:pt idx="9">
                  <c:v>2019</c:v>
                </c:pt>
              </c:numCache>
            </c:numRef>
          </c:cat>
          <c:val>
            <c:numRef>
              <c:f>Data!$H$9:$Q$9</c:f>
              <c:numCache>
                <c:formatCode>#,##0</c:formatCode>
                <c:ptCount val="10"/>
                <c:pt idx="0">
                  <c:v>2950</c:v>
                </c:pt>
                <c:pt idx="1">
                  <c:v>2592</c:v>
                </c:pt>
                <c:pt idx="2">
                  <c:v>1680</c:v>
                </c:pt>
                <c:pt idx="3">
                  <c:v>2912</c:v>
                </c:pt>
                <c:pt idx="4">
                  <c:v>2926</c:v>
                </c:pt>
                <c:pt idx="5">
                  <c:v>5270</c:v>
                </c:pt>
                <c:pt idx="6">
                  <c:v>6427</c:v>
                </c:pt>
                <c:pt idx="7">
                  <c:v>8074</c:v>
                </c:pt>
                <c:pt idx="8">
                  <c:v>8217</c:v>
                </c:pt>
                <c:pt idx="9">
                  <c:v>8330</c:v>
                </c:pt>
              </c:numCache>
            </c:numRef>
          </c:val>
          <c:extLst>
            <c:ext xmlns:c16="http://schemas.microsoft.com/office/drawing/2014/chart" uri="{C3380CC4-5D6E-409C-BE32-E72D297353CC}">
              <c16:uniqueId val="{00000002-372A-A848-94C4-B89CFFE35014}"/>
            </c:ext>
          </c:extLst>
        </c:ser>
        <c:ser>
          <c:idx val="0"/>
          <c:order val="2"/>
          <c:tx>
            <c:strRef>
              <c:f>Data!$G$8</c:f>
              <c:strCache>
                <c:ptCount val="1"/>
                <c:pt idx="0">
                  <c:v>Film and video production (including post-production)</c:v>
                </c:pt>
              </c:strCache>
            </c:strRef>
          </c:tx>
          <c:spPr>
            <a:solidFill>
              <a:schemeClr val="accent1"/>
            </a:solidFill>
            <a:ln>
              <a:noFill/>
            </a:ln>
            <a:effectLst/>
          </c:spPr>
          <c:invertIfNegative val="0"/>
          <c:dLbls>
            <c:dLbl>
              <c:idx val="1"/>
              <c:layout>
                <c:manualLayout>
                  <c:x val="6.0788808846349072E-6"/>
                  <c:y val="-2.774615226738751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72A-A848-94C4-B89CFFE35014}"/>
                </c:ext>
              </c:extLst>
            </c:dLbl>
            <c:dLbl>
              <c:idx val="5"/>
              <c:layout>
                <c:manualLayout>
                  <c:x val="2.8096801223426613E-3"/>
                  <c:y val="-9.3365634200796166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72A-A848-94C4-B89CFFE3501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noFill/>
                      <a:round/>
                    </a:ln>
                    <a:effectLst/>
                  </c:spPr>
                </c15:leaderLines>
              </c:ext>
            </c:extLst>
          </c:dLbls>
          <c:cat>
            <c:numRef>
              <c:f>Data!$H$5:$Q$5</c:f>
              <c:numCache>
                <c:formatCode>General</c:formatCode>
                <c:ptCount val="10"/>
                <c:pt idx="0">
                  <c:v>2010</c:v>
                </c:pt>
                <c:pt idx="1">
                  <c:v>2011</c:v>
                </c:pt>
                <c:pt idx="2">
                  <c:v>2012</c:v>
                </c:pt>
                <c:pt idx="3">
                  <c:v>2013</c:v>
                </c:pt>
                <c:pt idx="4">
                  <c:v>2014</c:v>
                </c:pt>
                <c:pt idx="5">
                  <c:v>2015</c:v>
                </c:pt>
                <c:pt idx="6">
                  <c:v>2016</c:v>
                </c:pt>
                <c:pt idx="7">
                  <c:v>2017</c:v>
                </c:pt>
                <c:pt idx="8">
                  <c:v>2018</c:v>
                </c:pt>
                <c:pt idx="9">
                  <c:v>2019</c:v>
                </c:pt>
              </c:numCache>
            </c:numRef>
          </c:cat>
          <c:val>
            <c:numRef>
              <c:f>Data!$H$8:$Q$8</c:f>
              <c:numCache>
                <c:formatCode>#,##0</c:formatCode>
                <c:ptCount val="10"/>
                <c:pt idx="0">
                  <c:v>2596</c:v>
                </c:pt>
                <c:pt idx="1">
                  <c:v>2619</c:v>
                </c:pt>
                <c:pt idx="2">
                  <c:v>4238</c:v>
                </c:pt>
                <c:pt idx="3">
                  <c:v>3793</c:v>
                </c:pt>
                <c:pt idx="4">
                  <c:v>3852</c:v>
                </c:pt>
                <c:pt idx="5">
                  <c:v>4969</c:v>
                </c:pt>
                <c:pt idx="6">
                  <c:v>5124</c:v>
                </c:pt>
                <c:pt idx="7">
                  <c:v>5523</c:v>
                </c:pt>
                <c:pt idx="8">
                  <c:v>8448</c:v>
                </c:pt>
                <c:pt idx="9">
                  <c:v>8715</c:v>
                </c:pt>
              </c:numCache>
            </c:numRef>
          </c:val>
          <c:extLst>
            <c:ext xmlns:c16="http://schemas.microsoft.com/office/drawing/2014/chart" uri="{C3380CC4-5D6E-409C-BE32-E72D297353CC}">
              <c16:uniqueId val="{00000005-372A-A848-94C4-B89CFFE35014}"/>
            </c:ext>
          </c:extLst>
        </c:ser>
        <c:dLbls>
          <c:showLegendKey val="0"/>
          <c:showVal val="0"/>
          <c:showCatName val="0"/>
          <c:showSerName val="0"/>
          <c:showPercent val="0"/>
          <c:showBubbleSize val="0"/>
        </c:dLbls>
        <c:gapWidth val="180"/>
        <c:overlap val="-30"/>
        <c:axId val="912326992"/>
        <c:axId val="906449840"/>
      </c:barChart>
      <c:catAx>
        <c:axId val="9123269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06449840"/>
        <c:crosses val="autoZero"/>
        <c:auto val="1"/>
        <c:lblAlgn val="ctr"/>
        <c:lblOffset val="100"/>
        <c:noMultiLvlLbl val="0"/>
      </c:catAx>
      <c:valAx>
        <c:axId val="90644984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2326992"/>
        <c:crosses val="autoZero"/>
        <c:crossBetween val="between"/>
      </c:valAx>
      <c:spPr>
        <a:noFill/>
        <a:ln>
          <a:noFill/>
        </a:ln>
        <a:effectLst/>
      </c:spPr>
    </c:plotArea>
    <c:legend>
      <c:legendPos val="b"/>
      <c:layout>
        <c:manualLayout>
          <c:xMode val="edge"/>
          <c:yMode val="edge"/>
          <c:x val="9.6056044465030091E-2"/>
          <c:y val="0.16454456077647842"/>
          <c:w val="0.50886811023622047"/>
          <c:h val="0.2017094512078813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200" baseline="0">
                <a:latin typeface="Avenir Next" panose="020B0503020202020204" pitchFamily="34" charset="0"/>
              </a:rPr>
              <a:t>Annual change in the revenue of the Film and video distribution sector in the UK 2011-2019 </a:t>
            </a:r>
            <a:endParaRPr lang="en-GB" sz="1200">
              <a:latin typeface="Avenir Next" panose="020B0503020202020204" pitchFamily="34" charset="0"/>
            </a:endParaRPr>
          </a:p>
        </c:rich>
      </c:tx>
      <c:layout>
        <c:manualLayout>
          <c:xMode val="edge"/>
          <c:yMode val="edge"/>
          <c:x val="0.14684421800216149"/>
          <c:y val="0"/>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012865578386176"/>
          <c:y val="0.14353935057480871"/>
          <c:w val="0.88987134421613823"/>
          <c:h val="0.80337050225409723"/>
        </c:manualLayout>
      </c:layout>
      <c:barChart>
        <c:barDir val="col"/>
        <c:grouping val="clustered"/>
        <c:varyColors val="0"/>
        <c:ser>
          <c:idx val="0"/>
          <c:order val="0"/>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Data!$H$14:$P$14</c:f>
              <c:numCache>
                <c:formatCode>General</c:formatCode>
                <c:ptCount val="9"/>
                <c:pt idx="0">
                  <c:v>2011</c:v>
                </c:pt>
                <c:pt idx="1">
                  <c:v>2012</c:v>
                </c:pt>
                <c:pt idx="2">
                  <c:v>2013</c:v>
                </c:pt>
                <c:pt idx="3">
                  <c:v>2014</c:v>
                </c:pt>
                <c:pt idx="4">
                  <c:v>2015</c:v>
                </c:pt>
                <c:pt idx="5">
                  <c:v>2016</c:v>
                </c:pt>
                <c:pt idx="6">
                  <c:v>2017</c:v>
                </c:pt>
                <c:pt idx="7">
                  <c:v>2018</c:v>
                </c:pt>
                <c:pt idx="8">
                  <c:v>2019</c:v>
                </c:pt>
              </c:numCache>
            </c:numRef>
          </c:cat>
          <c:val>
            <c:numRef>
              <c:f>Data!$H$16:$P$16</c:f>
              <c:numCache>
                <c:formatCode>0.00</c:formatCode>
                <c:ptCount val="9"/>
                <c:pt idx="0">
                  <c:v>-12.135593220338983</c:v>
                </c:pt>
                <c:pt idx="1">
                  <c:v>-35.185185185185183</c:v>
                </c:pt>
                <c:pt idx="2">
                  <c:v>73.333333333333329</c:v>
                </c:pt>
                <c:pt idx="3">
                  <c:v>0.48076923076923078</c:v>
                </c:pt>
                <c:pt idx="4">
                  <c:v>80.109364319890631</c:v>
                </c:pt>
                <c:pt idx="5">
                  <c:v>21.954459203036052</c:v>
                </c:pt>
                <c:pt idx="6">
                  <c:v>25.626264197915045</c:v>
                </c:pt>
                <c:pt idx="7">
                  <c:v>1.7711171662125342</c:v>
                </c:pt>
                <c:pt idx="8">
                  <c:v>1.3751977607399295</c:v>
                </c:pt>
              </c:numCache>
            </c:numRef>
          </c:val>
          <c:extLst>
            <c:ext xmlns:c16="http://schemas.microsoft.com/office/drawing/2014/chart" uri="{C3380CC4-5D6E-409C-BE32-E72D297353CC}">
              <c16:uniqueId val="{00000000-7576-5446-8CDD-D89AD9B0ED9C}"/>
            </c:ext>
          </c:extLst>
        </c:ser>
        <c:dLbls>
          <c:showLegendKey val="0"/>
          <c:showVal val="0"/>
          <c:showCatName val="0"/>
          <c:showSerName val="0"/>
          <c:showPercent val="0"/>
          <c:showBubbleSize val="0"/>
        </c:dLbls>
        <c:gapWidth val="219"/>
        <c:overlap val="-27"/>
        <c:axId val="910151040"/>
        <c:axId val="908192256"/>
      </c:barChart>
      <c:catAx>
        <c:axId val="910151040"/>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08192256"/>
        <c:crosses val="autoZero"/>
        <c:auto val="1"/>
        <c:lblAlgn val="ctr"/>
        <c:lblOffset val="100"/>
        <c:noMultiLvlLbl val="0"/>
      </c:catAx>
      <c:valAx>
        <c:axId val="908192256"/>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015104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GB" sz="1200" b="0" i="0" u="none" strike="noStrike" kern="1200" spc="0" baseline="0">
                <a:solidFill>
                  <a:sysClr val="windowText" lastClr="000000">
                    <a:lumMod val="65000"/>
                    <a:lumOff val="35000"/>
                  </a:sysClr>
                </a:solidFill>
                <a:latin typeface="Avenir Next" panose="020B0503020202020204" pitchFamily="34" charset="0"/>
              </a:rPr>
              <a:t>Annual change in the revenue of the </a:t>
            </a:r>
            <a:r>
              <a:rPr lang="en-GB" sz="1200" b="0" i="0" u="none" strike="noStrike" baseline="0">
                <a:effectLst/>
                <a:latin typeface="Avenir Next" panose="020B0503020202020204" pitchFamily="34" charset="0"/>
              </a:rPr>
              <a:t>Film and video production (including post-production) sector</a:t>
            </a:r>
            <a:r>
              <a:rPr lang="en-GB" sz="1200" b="0" i="0" u="none" strike="noStrike" baseline="0">
                <a:latin typeface="Avenir Next" panose="020B0503020202020204" pitchFamily="34" charset="0"/>
              </a:rPr>
              <a:t> </a:t>
            </a:r>
            <a:r>
              <a:rPr lang="en-GB" sz="1200" b="0" i="0" u="none" strike="noStrike" kern="1200" spc="0" baseline="0">
                <a:solidFill>
                  <a:sysClr val="windowText" lastClr="000000">
                    <a:lumMod val="65000"/>
                    <a:lumOff val="35000"/>
                  </a:sysClr>
                </a:solidFill>
                <a:latin typeface="Avenir Next" panose="020B0503020202020204" pitchFamily="34" charset="0"/>
              </a:rPr>
              <a:t>in the UK 2011-2019 </a:t>
            </a:r>
          </a:p>
          <a:p>
            <a:pPr marL="0" marR="0" lvl="0" indent="0" algn="ctr" defTabSz="914400" rtl="0" eaLnBrk="1" fontAlgn="auto" latinLnBrk="0" hangingPunct="1">
              <a:lnSpc>
                <a:spcPct val="100000"/>
              </a:lnSpc>
              <a:spcBef>
                <a:spcPts val="0"/>
              </a:spcBef>
              <a:spcAft>
                <a:spcPts val="0"/>
              </a:spcAft>
              <a:buClrTx/>
              <a:buSzTx/>
              <a:buFontTx/>
              <a:buNone/>
              <a:tabLst/>
              <a:defRPr>
                <a:solidFill>
                  <a:sysClr val="windowText" lastClr="000000">
                    <a:lumMod val="65000"/>
                    <a:lumOff val="35000"/>
                  </a:sysClr>
                </a:solidFill>
              </a:defRPr>
            </a:pPr>
            <a:endParaRPr lang="en-US"/>
          </a:p>
        </c:rich>
      </c:tx>
      <c:layout>
        <c:manualLayout>
          <c:xMode val="edge"/>
          <c:yMode val="edge"/>
          <c:x val="0.12233441408059284"/>
          <c:y val="6.5430967462395864E-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barChart>
        <c:barDir val="col"/>
        <c:grouping val="clustered"/>
        <c:varyColors val="0"/>
        <c:ser>
          <c:idx val="0"/>
          <c:order val="0"/>
          <c:tx>
            <c:strRef>
              <c:f>Data!$G$15</c:f>
              <c:strCache>
                <c:ptCount val="1"/>
                <c:pt idx="0">
                  <c:v>• Film and video production (including post-production)</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Data!$H$14:$P$14</c:f>
              <c:numCache>
                <c:formatCode>General</c:formatCode>
                <c:ptCount val="9"/>
                <c:pt idx="0">
                  <c:v>2011</c:v>
                </c:pt>
                <c:pt idx="1">
                  <c:v>2012</c:v>
                </c:pt>
                <c:pt idx="2">
                  <c:v>2013</c:v>
                </c:pt>
                <c:pt idx="3">
                  <c:v>2014</c:v>
                </c:pt>
                <c:pt idx="4">
                  <c:v>2015</c:v>
                </c:pt>
                <c:pt idx="5">
                  <c:v>2016</c:v>
                </c:pt>
                <c:pt idx="6">
                  <c:v>2017</c:v>
                </c:pt>
                <c:pt idx="7">
                  <c:v>2018</c:v>
                </c:pt>
                <c:pt idx="8">
                  <c:v>2019</c:v>
                </c:pt>
              </c:numCache>
            </c:numRef>
          </c:cat>
          <c:val>
            <c:numRef>
              <c:f>Data!$H$15:$P$15</c:f>
              <c:numCache>
                <c:formatCode>0.00</c:formatCode>
                <c:ptCount val="9"/>
                <c:pt idx="0">
                  <c:v>0.88597842835130969</c:v>
                </c:pt>
                <c:pt idx="1">
                  <c:v>61.817487590683463</c:v>
                </c:pt>
                <c:pt idx="2">
                  <c:v>-10.50023596035866</c:v>
                </c:pt>
                <c:pt idx="3">
                  <c:v>1.55549696809913</c:v>
                </c:pt>
                <c:pt idx="4">
                  <c:v>28.997923156801665</c:v>
                </c:pt>
                <c:pt idx="5">
                  <c:v>3.1193399074260415</c:v>
                </c:pt>
                <c:pt idx="6">
                  <c:v>7.7868852459016393</c:v>
                </c:pt>
                <c:pt idx="7">
                  <c:v>52.960347637153724</c:v>
                </c:pt>
                <c:pt idx="8">
                  <c:v>3.1605113636363638</c:v>
                </c:pt>
              </c:numCache>
            </c:numRef>
          </c:val>
          <c:extLst>
            <c:ext xmlns:c16="http://schemas.microsoft.com/office/drawing/2014/chart" uri="{C3380CC4-5D6E-409C-BE32-E72D297353CC}">
              <c16:uniqueId val="{00000000-B373-9B41-9E7D-67C9659092A8}"/>
            </c:ext>
          </c:extLst>
        </c:ser>
        <c:dLbls>
          <c:showLegendKey val="0"/>
          <c:showVal val="0"/>
          <c:showCatName val="0"/>
          <c:showSerName val="0"/>
          <c:showPercent val="0"/>
          <c:showBubbleSize val="0"/>
        </c:dLbls>
        <c:gapWidth val="33"/>
        <c:overlap val="-30"/>
        <c:axId val="1421247648"/>
        <c:axId val="906481600"/>
      </c:barChart>
      <c:catAx>
        <c:axId val="142124764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06481600"/>
        <c:crosses val="autoZero"/>
        <c:auto val="1"/>
        <c:lblAlgn val="ctr"/>
        <c:lblOffset val="100"/>
        <c:noMultiLvlLbl val="0"/>
      </c:catAx>
      <c:valAx>
        <c:axId val="906481600"/>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212476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200" b="1">
                <a:latin typeface="Avenir Next" panose="020B0503020202020204" pitchFamily="34" charset="0"/>
              </a:rPr>
              <a:t>Annual</a:t>
            </a:r>
            <a:r>
              <a:rPr lang="en-US" sz="1200" b="1" baseline="0">
                <a:latin typeface="Avenir Next" panose="020B0503020202020204" pitchFamily="34" charset="0"/>
              </a:rPr>
              <a:t> growth rate of the </a:t>
            </a:r>
            <a:r>
              <a:rPr lang="en-GB" sz="1200" b="1" i="0" u="none" strike="noStrike" baseline="0">
                <a:effectLst/>
                <a:latin typeface="Avenir Next" panose="020B0503020202020204" pitchFamily="34" charset="0"/>
              </a:rPr>
              <a:t>Gross revenue of the filmed entertainment market in the UK </a:t>
            </a:r>
            <a:r>
              <a:rPr lang="en-GB" sz="1200" b="0" i="0" u="none" strike="noStrike" baseline="0">
                <a:effectLst/>
                <a:latin typeface="Avenir Next" panose="020B0503020202020204" pitchFamily="34" charset="0"/>
              </a:rPr>
              <a:t>1998-2020</a:t>
            </a:r>
            <a:r>
              <a:rPr lang="en-GB" sz="1200" b="0" i="0" u="none" strike="noStrike" baseline="0">
                <a:latin typeface="Avenir Next" panose="020B0503020202020204" pitchFamily="34" charset="0"/>
              </a:rPr>
              <a:t> </a:t>
            </a:r>
            <a:endParaRPr lang="en-US" sz="1200">
              <a:latin typeface="Avenir Next" panose="020B0503020202020204" pitchFamily="34"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v>Field3</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Data!$B$7:$B$27</c:f>
              <c:strCache>
                <c:ptCount val="21"/>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strCache>
            </c:strRef>
          </c:cat>
          <c:val>
            <c:numRef>
              <c:f>Data!$D$7:$D$27</c:f>
              <c:numCache>
                <c:formatCode>0.00</c:formatCode>
                <c:ptCount val="21"/>
                <c:pt idx="0">
                  <c:v>0.90909090909090973</c:v>
                </c:pt>
                <c:pt idx="1">
                  <c:v>12.612612612612603</c:v>
                </c:pt>
                <c:pt idx="2">
                  <c:v>19.2</c:v>
                </c:pt>
                <c:pt idx="3">
                  <c:v>19.127516778523486</c:v>
                </c:pt>
                <c:pt idx="4">
                  <c:v>8.450704225352121</c:v>
                </c:pt>
                <c:pt idx="5">
                  <c:v>3.8961038961038938</c:v>
                </c:pt>
                <c:pt idx="6">
                  <c:v>-6.9999999999999947</c:v>
                </c:pt>
                <c:pt idx="7">
                  <c:v>-4.8387096774193585</c:v>
                </c:pt>
                <c:pt idx="8">
                  <c:v>2.5423728813559281</c:v>
                </c:pt>
                <c:pt idx="9">
                  <c:v>3.0303030303030392</c:v>
                </c:pt>
                <c:pt idx="10">
                  <c:v>0.53475935828875865</c:v>
                </c:pt>
                <c:pt idx="11">
                  <c:v>-4.7872340425531847</c:v>
                </c:pt>
                <c:pt idx="12">
                  <c:v>-2.2346368715083815</c:v>
                </c:pt>
                <c:pt idx="13">
                  <c:v>-5.7142857142857197</c:v>
                </c:pt>
                <c:pt idx="14">
                  <c:v>-0.60606060606060663</c:v>
                </c:pt>
                <c:pt idx="15">
                  <c:v>-1.5243902439024337</c:v>
                </c:pt>
                <c:pt idx="16">
                  <c:v>3.0959752321981453</c:v>
                </c:pt>
                <c:pt idx="17">
                  <c:v>-1.2012012012012023</c:v>
                </c:pt>
                <c:pt idx="18">
                  <c:v>2.4316109422492422</c:v>
                </c:pt>
                <c:pt idx="19">
                  <c:v>2.9673590504451064</c:v>
                </c:pt>
                <c:pt idx="20">
                  <c:v>-0.28818443804035249</c:v>
                </c:pt>
              </c:numCache>
            </c:numRef>
          </c:val>
          <c:extLst>
            <c:ext xmlns:c16="http://schemas.microsoft.com/office/drawing/2014/chart" uri="{C3380CC4-5D6E-409C-BE32-E72D297353CC}">
              <c16:uniqueId val="{00000000-1CD6-714D-B73C-CFF22DAB86DB}"/>
            </c:ext>
          </c:extLst>
        </c:ser>
        <c:dLbls>
          <c:showLegendKey val="0"/>
          <c:showVal val="0"/>
          <c:showCatName val="0"/>
          <c:showSerName val="0"/>
          <c:showPercent val="0"/>
          <c:showBubbleSize val="0"/>
        </c:dLbls>
        <c:gapWidth val="33"/>
        <c:overlap val="-30"/>
        <c:axId val="1763389408"/>
        <c:axId val="1763114960"/>
      </c:barChart>
      <c:catAx>
        <c:axId val="176338940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3114960"/>
        <c:crosses val="autoZero"/>
        <c:auto val="1"/>
        <c:lblAlgn val="ctr"/>
        <c:lblOffset val="100"/>
        <c:noMultiLvlLbl val="0"/>
      </c:catAx>
      <c:valAx>
        <c:axId val="1763114960"/>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338940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200" b="1" i="0" u="none" strike="noStrike" baseline="0">
                <a:effectLst/>
                <a:latin typeface="Avenir Next" panose="020B0503020202020204" pitchFamily="34" charset="0"/>
              </a:rPr>
              <a:t>Gross revenue of the filmed entertainment market in the United Kingdom from 1998 to 2020</a:t>
            </a:r>
            <a:r>
              <a:rPr lang="en-GB" sz="1200" b="0" i="0" u="none" strike="noStrike" baseline="0">
                <a:effectLst/>
                <a:latin typeface="Avenir Next" panose="020B0503020202020204" pitchFamily="34" charset="0"/>
              </a:rPr>
              <a:t> (in billion GBP)</a:t>
            </a:r>
            <a:r>
              <a:rPr lang="en-GB" sz="1200" b="0" i="0" u="none" strike="noStrike" baseline="0">
                <a:latin typeface="Avenir Next" panose="020B0503020202020204" pitchFamily="34" charset="0"/>
              </a:rPr>
              <a:t> </a:t>
            </a:r>
            <a:endParaRPr lang="en-US" sz="1200">
              <a:latin typeface="Avenir Next" panose="020B0503020202020204" pitchFamily="34"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v>Field2</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Data!$B$6:$B$28</c:f>
              <c:strCache>
                <c:ptCount val="23"/>
                <c:pt idx="0">
                  <c:v>1998</c:v>
                </c:pt>
                <c:pt idx="1">
                  <c:v>1999</c:v>
                </c:pt>
                <c:pt idx="2">
                  <c:v>2000</c:v>
                </c:pt>
                <c:pt idx="3">
                  <c:v>2001</c:v>
                </c:pt>
                <c:pt idx="4">
                  <c:v>2002</c:v>
                </c:pt>
                <c:pt idx="5">
                  <c:v>2003</c:v>
                </c:pt>
                <c:pt idx="6">
                  <c:v>2004</c:v>
                </c:pt>
                <c:pt idx="7">
                  <c:v>2005</c:v>
                </c:pt>
                <c:pt idx="8">
                  <c:v>2006</c:v>
                </c:pt>
                <c:pt idx="9">
                  <c:v>2007</c:v>
                </c:pt>
                <c:pt idx="10">
                  <c:v>2008</c:v>
                </c:pt>
                <c:pt idx="11">
                  <c:v>2009</c:v>
                </c:pt>
                <c:pt idx="12">
                  <c:v>2010</c:v>
                </c:pt>
                <c:pt idx="13">
                  <c:v>2011</c:v>
                </c:pt>
                <c:pt idx="14">
                  <c:v>2012</c:v>
                </c:pt>
                <c:pt idx="15">
                  <c:v>2013</c:v>
                </c:pt>
                <c:pt idx="16">
                  <c:v>2014</c:v>
                </c:pt>
                <c:pt idx="17">
                  <c:v>2015</c:v>
                </c:pt>
                <c:pt idx="18">
                  <c:v>2016</c:v>
                </c:pt>
                <c:pt idx="19">
                  <c:v>2017</c:v>
                </c:pt>
                <c:pt idx="20">
                  <c:v>2018</c:v>
                </c:pt>
                <c:pt idx="21">
                  <c:v>2019</c:v>
                </c:pt>
                <c:pt idx="22">
                  <c:v>2020</c:v>
                </c:pt>
              </c:strCache>
            </c:strRef>
          </c:cat>
          <c:val>
            <c:numRef>
              <c:f>Data!$C$6:$C$28</c:f>
              <c:numCache>
                <c:formatCode>#,##0.00</c:formatCode>
                <c:ptCount val="23"/>
                <c:pt idx="0">
                  <c:v>2.2000000000000002</c:v>
                </c:pt>
                <c:pt idx="1">
                  <c:v>2.2200000000000002</c:v>
                </c:pt>
                <c:pt idx="2">
                  <c:v>2.5</c:v>
                </c:pt>
                <c:pt idx="3">
                  <c:v>2.98</c:v>
                </c:pt>
                <c:pt idx="4">
                  <c:v>3.55</c:v>
                </c:pt>
                <c:pt idx="5">
                  <c:v>3.85</c:v>
                </c:pt>
                <c:pt idx="6" formatCode="#,##0">
                  <c:v>4</c:v>
                </c:pt>
                <c:pt idx="7">
                  <c:v>3.72</c:v>
                </c:pt>
                <c:pt idx="8">
                  <c:v>3.54</c:v>
                </c:pt>
                <c:pt idx="9">
                  <c:v>3.63</c:v>
                </c:pt>
                <c:pt idx="10">
                  <c:v>3.74</c:v>
                </c:pt>
                <c:pt idx="11">
                  <c:v>3.76</c:v>
                </c:pt>
                <c:pt idx="12">
                  <c:v>3.58</c:v>
                </c:pt>
                <c:pt idx="13">
                  <c:v>3.5</c:v>
                </c:pt>
                <c:pt idx="14">
                  <c:v>3.3</c:v>
                </c:pt>
                <c:pt idx="15">
                  <c:v>3.28</c:v>
                </c:pt>
                <c:pt idx="16">
                  <c:v>3.23</c:v>
                </c:pt>
                <c:pt idx="17">
                  <c:v>3.33</c:v>
                </c:pt>
                <c:pt idx="18">
                  <c:v>3.29</c:v>
                </c:pt>
                <c:pt idx="19">
                  <c:v>3.37</c:v>
                </c:pt>
                <c:pt idx="20">
                  <c:v>3.47</c:v>
                </c:pt>
                <c:pt idx="21">
                  <c:v>3.46</c:v>
                </c:pt>
                <c:pt idx="22">
                  <c:v>2.64</c:v>
                </c:pt>
              </c:numCache>
            </c:numRef>
          </c:val>
          <c:extLst>
            <c:ext xmlns:c16="http://schemas.microsoft.com/office/drawing/2014/chart" uri="{C3380CC4-5D6E-409C-BE32-E72D297353CC}">
              <c16:uniqueId val="{00000000-E766-C94F-BDCB-0F7B822F0413}"/>
            </c:ext>
          </c:extLst>
        </c:ser>
        <c:dLbls>
          <c:showLegendKey val="0"/>
          <c:showVal val="0"/>
          <c:showCatName val="0"/>
          <c:showSerName val="0"/>
          <c:showPercent val="0"/>
          <c:showBubbleSize val="0"/>
        </c:dLbls>
        <c:gapWidth val="33"/>
        <c:overlap val="-30"/>
        <c:axId val="1400232143"/>
        <c:axId val="1095512143"/>
      </c:barChart>
      <c:catAx>
        <c:axId val="14002321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5512143"/>
        <c:crosses val="autoZero"/>
        <c:auto val="1"/>
        <c:lblAlgn val="ctr"/>
        <c:lblOffset val="100"/>
        <c:noMultiLvlLbl val="0"/>
      </c:catAx>
      <c:valAx>
        <c:axId val="1095512143"/>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002321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200" b="1">
                <a:latin typeface="Avenir Next" panose="020B0503020202020204" pitchFamily="34" charset="0"/>
              </a:rPr>
              <a:t>Annual</a:t>
            </a:r>
            <a:r>
              <a:rPr lang="en-US" sz="1200" b="1" baseline="0">
                <a:latin typeface="Avenir Next" panose="020B0503020202020204" pitchFamily="34" charset="0"/>
              </a:rPr>
              <a:t> growth rate of the </a:t>
            </a:r>
            <a:r>
              <a:rPr lang="en-GB" sz="1200" b="1" i="0" u="none" strike="noStrike" baseline="0">
                <a:effectLst/>
                <a:latin typeface="Avenir Next" panose="020B0503020202020204" pitchFamily="34" charset="0"/>
              </a:rPr>
              <a:t>Gross revenue of the filmed entertainment market in the UK </a:t>
            </a:r>
            <a:r>
              <a:rPr lang="en-GB" sz="1200" b="0" i="0" u="none" strike="noStrike" baseline="0">
                <a:effectLst/>
                <a:latin typeface="Avenir Next" panose="020B0503020202020204" pitchFamily="34" charset="0"/>
              </a:rPr>
              <a:t>1998-2020</a:t>
            </a:r>
            <a:r>
              <a:rPr lang="en-GB" sz="1200" b="0" i="0" u="none" strike="noStrike" baseline="0">
                <a:latin typeface="Avenir Next" panose="020B0503020202020204" pitchFamily="34" charset="0"/>
              </a:rPr>
              <a:t> </a:t>
            </a:r>
            <a:endParaRPr lang="en-US" sz="1200">
              <a:latin typeface="Avenir Next" panose="020B0503020202020204" pitchFamily="34"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v>Field3</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Data!$B$7:$B$27</c:f>
              <c:strCache>
                <c:ptCount val="21"/>
                <c:pt idx="0">
                  <c:v>1999</c:v>
                </c:pt>
                <c:pt idx="1">
                  <c:v>2000</c:v>
                </c:pt>
                <c:pt idx="2">
                  <c:v>2001</c:v>
                </c:pt>
                <c:pt idx="3">
                  <c:v>2002</c:v>
                </c:pt>
                <c:pt idx="4">
                  <c:v>2003</c:v>
                </c:pt>
                <c:pt idx="5">
                  <c:v>2004</c:v>
                </c:pt>
                <c:pt idx="6">
                  <c:v>2005</c:v>
                </c:pt>
                <c:pt idx="7">
                  <c:v>2006</c:v>
                </c:pt>
                <c:pt idx="8">
                  <c:v>2007</c:v>
                </c:pt>
                <c:pt idx="9">
                  <c:v>2008</c:v>
                </c:pt>
                <c:pt idx="10">
                  <c:v>2009</c:v>
                </c:pt>
                <c:pt idx="11">
                  <c:v>2010</c:v>
                </c:pt>
                <c:pt idx="12">
                  <c:v>2011</c:v>
                </c:pt>
                <c:pt idx="13">
                  <c:v>2012</c:v>
                </c:pt>
                <c:pt idx="14">
                  <c:v>2013</c:v>
                </c:pt>
                <c:pt idx="15">
                  <c:v>2014</c:v>
                </c:pt>
                <c:pt idx="16">
                  <c:v>2015</c:v>
                </c:pt>
                <c:pt idx="17">
                  <c:v>2016</c:v>
                </c:pt>
                <c:pt idx="18">
                  <c:v>2017</c:v>
                </c:pt>
                <c:pt idx="19">
                  <c:v>2018</c:v>
                </c:pt>
                <c:pt idx="20">
                  <c:v>2019</c:v>
                </c:pt>
              </c:strCache>
            </c:strRef>
          </c:cat>
          <c:val>
            <c:numRef>
              <c:f>Data!$D$7:$D$27</c:f>
              <c:numCache>
                <c:formatCode>0.00</c:formatCode>
                <c:ptCount val="21"/>
                <c:pt idx="0">
                  <c:v>0.90909090909090973</c:v>
                </c:pt>
                <c:pt idx="1">
                  <c:v>12.612612612612603</c:v>
                </c:pt>
                <c:pt idx="2">
                  <c:v>19.2</c:v>
                </c:pt>
                <c:pt idx="3">
                  <c:v>19.127516778523486</c:v>
                </c:pt>
                <c:pt idx="4">
                  <c:v>8.450704225352121</c:v>
                </c:pt>
                <c:pt idx="5">
                  <c:v>3.8961038961038938</c:v>
                </c:pt>
                <c:pt idx="6">
                  <c:v>-6.9999999999999947</c:v>
                </c:pt>
                <c:pt idx="7">
                  <c:v>-4.8387096774193585</c:v>
                </c:pt>
                <c:pt idx="8">
                  <c:v>2.5423728813559281</c:v>
                </c:pt>
                <c:pt idx="9">
                  <c:v>3.0303030303030392</c:v>
                </c:pt>
                <c:pt idx="10">
                  <c:v>0.53475935828875865</c:v>
                </c:pt>
                <c:pt idx="11">
                  <c:v>-4.7872340425531847</c:v>
                </c:pt>
                <c:pt idx="12">
                  <c:v>-2.2346368715083815</c:v>
                </c:pt>
                <c:pt idx="13">
                  <c:v>-5.7142857142857197</c:v>
                </c:pt>
                <c:pt idx="14">
                  <c:v>-0.60606060606060663</c:v>
                </c:pt>
                <c:pt idx="15">
                  <c:v>-1.5243902439024337</c:v>
                </c:pt>
                <c:pt idx="16">
                  <c:v>3.0959752321981453</c:v>
                </c:pt>
                <c:pt idx="17">
                  <c:v>-1.2012012012012023</c:v>
                </c:pt>
                <c:pt idx="18">
                  <c:v>2.4316109422492422</c:v>
                </c:pt>
                <c:pt idx="19">
                  <c:v>2.9673590504451064</c:v>
                </c:pt>
                <c:pt idx="20">
                  <c:v>-0.28818443804035249</c:v>
                </c:pt>
              </c:numCache>
            </c:numRef>
          </c:val>
          <c:extLst>
            <c:ext xmlns:c16="http://schemas.microsoft.com/office/drawing/2014/chart" uri="{C3380CC4-5D6E-409C-BE32-E72D297353CC}">
              <c16:uniqueId val="{00000000-1CD6-714D-B73C-CFF22DAB86DB}"/>
            </c:ext>
          </c:extLst>
        </c:ser>
        <c:dLbls>
          <c:showLegendKey val="0"/>
          <c:showVal val="0"/>
          <c:showCatName val="0"/>
          <c:showSerName val="0"/>
          <c:showPercent val="0"/>
          <c:showBubbleSize val="0"/>
        </c:dLbls>
        <c:gapWidth val="33"/>
        <c:overlap val="-30"/>
        <c:axId val="1763389408"/>
        <c:axId val="1763114960"/>
      </c:barChart>
      <c:catAx>
        <c:axId val="176338940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3114960"/>
        <c:crosses val="autoZero"/>
        <c:auto val="1"/>
        <c:lblAlgn val="ctr"/>
        <c:lblOffset val="100"/>
        <c:noMultiLvlLbl val="0"/>
      </c:catAx>
      <c:valAx>
        <c:axId val="1763114960"/>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338940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1" i="0" u="none" strike="noStrike" baseline="0">
                <a:latin typeface="Avenir Next" panose="020B0503020202020204" pitchFamily="34" charset="0"/>
              </a:rPr>
              <a:t>Gross film revenues, all platforms</a:t>
            </a:r>
            <a:r>
              <a:rPr lang="en-GB" sz="1400" b="0" i="0" u="none" strike="noStrike" baseline="0">
                <a:latin typeface="Avenir Next" panose="020B0503020202020204" pitchFamily="34" charset="0"/>
              </a:rPr>
              <a:t> 2011-2020</a:t>
            </a:r>
            <a:endParaRPr lang="en-US">
              <a:latin typeface="Avenir Next" panose="020B0503020202020204" pitchFamily="34"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4.9977281918310065E-2"/>
          <c:y val="0.19084266594107499"/>
          <c:w val="0.93340640388229412"/>
          <c:h val="0.72233520773281235"/>
        </c:manualLayout>
      </c:layout>
      <c:barChart>
        <c:barDir val="col"/>
        <c:grouping val="stacked"/>
        <c:varyColors val="0"/>
        <c:ser>
          <c:idx val="0"/>
          <c:order val="0"/>
          <c:tx>
            <c:strRef>
              <c:f>Sheet1!$A$2</c:f>
              <c:strCache>
                <c:ptCount val="1"/>
                <c:pt idx="0">
                  <c:v>Flm and television</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Sheet1!$B$1:$K$1</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Sheet1!$B$2:$K$2</c:f>
              <c:numCache>
                <c:formatCode>General</c:formatCode>
                <c:ptCount val="10"/>
                <c:pt idx="0">
                  <c:v>913</c:v>
                </c:pt>
                <c:pt idx="1">
                  <c:v>806</c:v>
                </c:pt>
                <c:pt idx="2">
                  <c:v>802</c:v>
                </c:pt>
                <c:pt idx="3">
                  <c:v>826</c:v>
                </c:pt>
                <c:pt idx="4">
                  <c:v>840</c:v>
                </c:pt>
                <c:pt idx="5">
                  <c:v>893</c:v>
                </c:pt>
                <c:pt idx="6">
                  <c:v>885</c:v>
                </c:pt>
                <c:pt idx="7">
                  <c:v>911</c:v>
                </c:pt>
                <c:pt idx="8">
                  <c:v>873</c:v>
                </c:pt>
                <c:pt idx="9">
                  <c:v>736</c:v>
                </c:pt>
              </c:numCache>
            </c:numRef>
          </c:val>
          <c:extLst>
            <c:ext xmlns:c16="http://schemas.microsoft.com/office/drawing/2014/chart" uri="{C3380CC4-5D6E-409C-BE32-E72D297353CC}">
              <c16:uniqueId val="{00000000-35D0-C642-A997-70938C0C1DF6}"/>
            </c:ext>
          </c:extLst>
        </c:ser>
        <c:ser>
          <c:idx val="1"/>
          <c:order val="1"/>
          <c:tx>
            <c:strRef>
              <c:f>Sheet1!$A$3</c:f>
              <c:strCache>
                <c:ptCount val="1"/>
                <c:pt idx="0">
                  <c:v>Digital vdeo</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Sheet1!$B$1:$K$1</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Sheet1!$B$3:$K$3</c:f>
              <c:numCache>
                <c:formatCode>General</c:formatCode>
                <c:ptCount val="10"/>
                <c:pt idx="0">
                  <c:v>155</c:v>
                </c:pt>
                <c:pt idx="1">
                  <c:v>225</c:v>
                </c:pt>
                <c:pt idx="2">
                  <c:v>316</c:v>
                </c:pt>
                <c:pt idx="3">
                  <c:v>384</c:v>
                </c:pt>
                <c:pt idx="4">
                  <c:v>461</c:v>
                </c:pt>
                <c:pt idx="5">
                  <c:v>543</c:v>
                </c:pt>
                <c:pt idx="6">
                  <c:v>660</c:v>
                </c:pt>
                <c:pt idx="7">
                  <c:v>809</c:v>
                </c:pt>
                <c:pt idx="8">
                  <c:v>966</c:v>
                </c:pt>
                <c:pt idx="9" formatCode="#,##0">
                  <c:v>1351</c:v>
                </c:pt>
              </c:numCache>
            </c:numRef>
          </c:val>
          <c:extLst>
            <c:ext xmlns:c16="http://schemas.microsoft.com/office/drawing/2014/chart" uri="{C3380CC4-5D6E-409C-BE32-E72D297353CC}">
              <c16:uniqueId val="{00000001-35D0-C642-A997-70938C0C1DF6}"/>
            </c:ext>
          </c:extLst>
        </c:ser>
        <c:ser>
          <c:idx val="2"/>
          <c:order val="2"/>
          <c:tx>
            <c:strRef>
              <c:f>Sheet1!$A$4</c:f>
              <c:strCache>
                <c:ptCount val="1"/>
                <c:pt idx="0">
                  <c:v>Physical video retail</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Sheet1!$B$1:$K$1</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Sheet1!$B$4:$K$4</c:f>
              <c:numCache>
                <c:formatCode>General</c:formatCode>
                <c:ptCount val="10"/>
                <c:pt idx="0" formatCode="#,##0">
                  <c:v>1165</c:v>
                </c:pt>
                <c:pt idx="1">
                  <c:v>968</c:v>
                </c:pt>
                <c:pt idx="2">
                  <c:v>940</c:v>
                </c:pt>
                <c:pt idx="3">
                  <c:v>861</c:v>
                </c:pt>
                <c:pt idx="4">
                  <c:v>712</c:v>
                </c:pt>
                <c:pt idx="5">
                  <c:v>589</c:v>
                </c:pt>
                <c:pt idx="6">
                  <c:v>503</c:v>
                </c:pt>
                <c:pt idx="7">
                  <c:v>451</c:v>
                </c:pt>
                <c:pt idx="8">
                  <c:v>347</c:v>
                </c:pt>
                <c:pt idx="9">
                  <c:v>233</c:v>
                </c:pt>
              </c:numCache>
            </c:numRef>
          </c:val>
          <c:extLst>
            <c:ext xmlns:c16="http://schemas.microsoft.com/office/drawing/2014/chart" uri="{C3380CC4-5D6E-409C-BE32-E72D297353CC}">
              <c16:uniqueId val="{00000002-35D0-C642-A997-70938C0C1DF6}"/>
            </c:ext>
          </c:extLst>
        </c:ser>
        <c:ser>
          <c:idx val="3"/>
          <c:order val="3"/>
          <c:tx>
            <c:strRef>
              <c:f>Sheet1!$A$5</c:f>
              <c:strCache>
                <c:ptCount val="1"/>
                <c:pt idx="0">
                  <c:v>Physical video rental</c:v>
                </c:pt>
              </c:strCache>
            </c:strRef>
          </c:tx>
          <c:spPr>
            <a:solidFill>
              <a:schemeClr val="accent4"/>
            </a:solidFill>
            <a:ln>
              <a:noFill/>
            </a:ln>
            <a:effectLst/>
          </c:spPr>
          <c:invertIfNegative val="0"/>
          <c:cat>
            <c:numRef>
              <c:f>Sheet1!$B$1:$K$1</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Sheet1!$B$5:$K$5</c:f>
              <c:numCache>
                <c:formatCode>General</c:formatCode>
                <c:ptCount val="10"/>
                <c:pt idx="0">
                  <c:v>262</c:v>
                </c:pt>
                <c:pt idx="1">
                  <c:v>221</c:v>
                </c:pt>
                <c:pt idx="2">
                  <c:v>146</c:v>
                </c:pt>
                <c:pt idx="3">
                  <c:v>88</c:v>
                </c:pt>
                <c:pt idx="4">
                  <c:v>63</c:v>
                </c:pt>
                <c:pt idx="5">
                  <c:v>49</c:v>
                </c:pt>
                <c:pt idx="6">
                  <c:v>40</c:v>
                </c:pt>
                <c:pt idx="7">
                  <c:v>31</c:v>
                </c:pt>
                <c:pt idx="8">
                  <c:v>23</c:v>
                </c:pt>
                <c:pt idx="9">
                  <c:v>17</c:v>
                </c:pt>
              </c:numCache>
            </c:numRef>
          </c:val>
          <c:extLst>
            <c:ext xmlns:c16="http://schemas.microsoft.com/office/drawing/2014/chart" uri="{C3380CC4-5D6E-409C-BE32-E72D297353CC}">
              <c16:uniqueId val="{00000003-35D0-C642-A997-70938C0C1DF6}"/>
            </c:ext>
          </c:extLst>
        </c:ser>
        <c:ser>
          <c:idx val="4"/>
          <c:order val="4"/>
          <c:tx>
            <c:strRef>
              <c:f>Sheet1!$A$6</c:f>
              <c:strCache>
                <c:ptCount val="1"/>
                <c:pt idx="0">
                  <c:v>Theatrical</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Sheet1!$B$1:$K$1</c:f>
              <c:numCache>
                <c:formatCode>General</c:formatCode>
                <c:ptCount val="10"/>
                <c:pt idx="0">
                  <c:v>2011</c:v>
                </c:pt>
                <c:pt idx="1">
                  <c:v>2012</c:v>
                </c:pt>
                <c:pt idx="2">
                  <c:v>2013</c:v>
                </c:pt>
                <c:pt idx="3">
                  <c:v>2014</c:v>
                </c:pt>
                <c:pt idx="4">
                  <c:v>2015</c:v>
                </c:pt>
                <c:pt idx="5">
                  <c:v>2016</c:v>
                </c:pt>
                <c:pt idx="6">
                  <c:v>2017</c:v>
                </c:pt>
                <c:pt idx="7">
                  <c:v>2018</c:v>
                </c:pt>
                <c:pt idx="8">
                  <c:v>2019</c:v>
                </c:pt>
                <c:pt idx="9">
                  <c:v>2020</c:v>
                </c:pt>
              </c:numCache>
            </c:numRef>
          </c:cat>
          <c:val>
            <c:numRef>
              <c:f>Sheet1!$B$6:$K$6</c:f>
              <c:numCache>
                <c:formatCode>#,##0</c:formatCode>
                <c:ptCount val="10"/>
                <c:pt idx="0" formatCode="General">
                  <c:v>1040</c:v>
                </c:pt>
                <c:pt idx="1">
                  <c:v>1099</c:v>
                </c:pt>
                <c:pt idx="2">
                  <c:v>1083</c:v>
                </c:pt>
                <c:pt idx="3" formatCode="General">
                  <c:v>1063</c:v>
                </c:pt>
                <c:pt idx="4">
                  <c:v>1242</c:v>
                </c:pt>
                <c:pt idx="5" formatCode="General">
                  <c:v>1228</c:v>
                </c:pt>
                <c:pt idx="6" formatCode="General">
                  <c:v>1279</c:v>
                </c:pt>
                <c:pt idx="7">
                  <c:v>1282</c:v>
                </c:pt>
                <c:pt idx="8" formatCode="General">
                  <c:v>1254</c:v>
                </c:pt>
                <c:pt idx="9" formatCode="General">
                  <c:v>307</c:v>
                </c:pt>
              </c:numCache>
            </c:numRef>
          </c:val>
          <c:extLst>
            <c:ext xmlns:c16="http://schemas.microsoft.com/office/drawing/2014/chart" uri="{C3380CC4-5D6E-409C-BE32-E72D297353CC}">
              <c16:uniqueId val="{00000004-35D0-C642-A997-70938C0C1DF6}"/>
            </c:ext>
          </c:extLst>
        </c:ser>
        <c:dLbls>
          <c:showLegendKey val="0"/>
          <c:showVal val="0"/>
          <c:showCatName val="0"/>
          <c:showSerName val="0"/>
          <c:showPercent val="0"/>
          <c:showBubbleSize val="0"/>
        </c:dLbls>
        <c:gapWidth val="33"/>
        <c:overlap val="100"/>
        <c:axId val="942900832"/>
        <c:axId val="1094815360"/>
      </c:barChart>
      <c:catAx>
        <c:axId val="94290083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GB"/>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4815360"/>
        <c:crosses val="autoZero"/>
        <c:auto val="1"/>
        <c:lblAlgn val="ctr"/>
        <c:lblOffset val="100"/>
        <c:noMultiLvlLbl val="0"/>
      </c:catAx>
      <c:valAx>
        <c:axId val="1094815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42900832"/>
        <c:crosses val="autoZero"/>
        <c:crossBetween val="between"/>
      </c:valAx>
      <c:spPr>
        <a:noFill/>
        <a:ln>
          <a:noFill/>
        </a:ln>
        <a:effectLst/>
      </c:spPr>
    </c:plotArea>
    <c:legend>
      <c:legendPos val="b"/>
      <c:layout>
        <c:manualLayout>
          <c:xMode val="edge"/>
          <c:yMode val="edge"/>
          <c:x val="9.5196848208031232E-2"/>
          <c:y val="0.10511118774396751"/>
          <c:w val="0.88028369713846022"/>
          <c:h val="4.4031193317432243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400" b="0" i="0" u="none" strike="noStrike" baseline="0"/>
              <a:t>Top 20 countries by filmed entertainment revenues 2020</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US$ million</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Sheet1!$A$2:$A$22</c:f>
              <c:strCache>
                <c:ptCount val="21"/>
                <c:pt idx="0">
                  <c:v>USA</c:v>
                </c:pt>
                <c:pt idx="1">
                  <c:v>China</c:v>
                </c:pt>
                <c:pt idx="2">
                  <c:v>Japan</c:v>
                </c:pt>
                <c:pt idx="3">
                  <c:v>UK</c:v>
                </c:pt>
                <c:pt idx="4">
                  <c:v>Germany</c:v>
                </c:pt>
                <c:pt idx="5">
                  <c:v>France</c:v>
                </c:pt>
                <c:pt idx="6">
                  <c:v>Canada</c:v>
                </c:pt>
                <c:pt idx="7">
                  <c:v>Australia</c:v>
                </c:pt>
                <c:pt idx="8">
                  <c:v>South Korea</c:v>
                </c:pt>
                <c:pt idx="9">
                  <c:v>Brazil</c:v>
                </c:pt>
                <c:pt idx="10">
                  <c:v>Mexico</c:v>
                </c:pt>
                <c:pt idx="11">
                  <c:v>Spain</c:v>
                </c:pt>
                <c:pt idx="12">
                  <c:v>Italy</c:v>
                </c:pt>
                <c:pt idx="13">
                  <c:v>India</c:v>
                </c:pt>
                <c:pt idx="14">
                  <c:v>Russia</c:v>
                </c:pt>
                <c:pt idx="15">
                  <c:v>Netherlands</c:v>
                </c:pt>
                <c:pt idx="16">
                  <c:v>Sweden</c:v>
                </c:pt>
                <c:pt idx="17">
                  <c:v>Poland</c:v>
                </c:pt>
                <c:pt idx="18">
                  <c:v>Denmark</c:v>
                </c:pt>
                <c:pt idx="19">
                  <c:v>Switzerland</c:v>
                </c:pt>
                <c:pt idx="20">
                  <c:v>Rest of the world</c:v>
                </c:pt>
              </c:strCache>
            </c:strRef>
          </c:cat>
          <c:val>
            <c:numRef>
              <c:f>Sheet1!$B$2:$B$22</c:f>
              <c:numCache>
                <c:formatCode>#,##0</c:formatCode>
                <c:ptCount val="21"/>
                <c:pt idx="0">
                  <c:v>20926</c:v>
                </c:pt>
                <c:pt idx="1">
                  <c:v>6984</c:v>
                </c:pt>
                <c:pt idx="2">
                  <c:v>3349</c:v>
                </c:pt>
                <c:pt idx="3">
                  <c:v>2382</c:v>
                </c:pt>
                <c:pt idx="4">
                  <c:v>2306</c:v>
                </c:pt>
                <c:pt idx="5">
                  <c:v>1705</c:v>
                </c:pt>
                <c:pt idx="6">
                  <c:v>1210</c:v>
                </c:pt>
                <c:pt idx="7">
                  <c:v>1048</c:v>
                </c:pt>
                <c:pt idx="8">
                  <c:v>1040</c:v>
                </c:pt>
                <c:pt idx="9" formatCode="General">
                  <c:v>944</c:v>
                </c:pt>
                <c:pt idx="10" formatCode="General">
                  <c:v>814</c:v>
                </c:pt>
                <c:pt idx="11" formatCode="General">
                  <c:v>717</c:v>
                </c:pt>
                <c:pt idx="12" formatCode="General">
                  <c:v>685</c:v>
                </c:pt>
                <c:pt idx="13" formatCode="General">
                  <c:v>643</c:v>
                </c:pt>
                <c:pt idx="14" formatCode="General">
                  <c:v>597</c:v>
                </c:pt>
                <c:pt idx="15" formatCode="General">
                  <c:v>579</c:v>
                </c:pt>
                <c:pt idx="16" formatCode="General">
                  <c:v>420</c:v>
                </c:pt>
                <c:pt idx="17" formatCode="General">
                  <c:v>416</c:v>
                </c:pt>
                <c:pt idx="18" formatCode="General">
                  <c:v>402</c:v>
                </c:pt>
                <c:pt idx="19" formatCode="General">
                  <c:v>328</c:v>
                </c:pt>
                <c:pt idx="20">
                  <c:v>4683</c:v>
                </c:pt>
              </c:numCache>
            </c:numRef>
          </c:val>
          <c:extLst>
            <c:ext xmlns:c16="http://schemas.microsoft.com/office/drawing/2014/chart" uri="{C3380CC4-5D6E-409C-BE32-E72D297353CC}">
              <c16:uniqueId val="{00000000-5001-9948-8302-A5E768F84861}"/>
            </c:ext>
          </c:extLst>
        </c:ser>
        <c:dLbls>
          <c:showLegendKey val="0"/>
          <c:showVal val="0"/>
          <c:showCatName val="0"/>
          <c:showSerName val="0"/>
          <c:showPercent val="0"/>
          <c:showBubbleSize val="0"/>
        </c:dLbls>
        <c:gapWidth val="33"/>
        <c:overlap val="-30"/>
        <c:axId val="1398511136"/>
        <c:axId val="1700905520"/>
      </c:barChart>
      <c:catAx>
        <c:axId val="1398511136"/>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00905520"/>
        <c:crosses val="autoZero"/>
        <c:auto val="1"/>
        <c:lblAlgn val="ctr"/>
        <c:lblOffset val="100"/>
        <c:noMultiLvlLbl val="0"/>
      </c:catAx>
      <c:valAx>
        <c:axId val="1700905520"/>
        <c:scaling>
          <c:orientation val="minMax"/>
        </c:scaling>
        <c:delete val="0"/>
        <c:axPos val="t"/>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85111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Expected</a:t>
            </a:r>
            <a:r>
              <a:rPr lang="en-US" baseline="0"/>
              <a:t> growth 2020-2025</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v>Field4</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Sheet2!$A$3:$A$23</c:f>
              <c:strCache>
                <c:ptCount val="21"/>
                <c:pt idx="0">
                  <c:v>USA</c:v>
                </c:pt>
                <c:pt idx="1">
                  <c:v>China</c:v>
                </c:pt>
                <c:pt idx="2">
                  <c:v>Japan</c:v>
                </c:pt>
                <c:pt idx="3">
                  <c:v>UK</c:v>
                </c:pt>
                <c:pt idx="4">
                  <c:v>Germany</c:v>
                </c:pt>
                <c:pt idx="5">
                  <c:v>France</c:v>
                </c:pt>
                <c:pt idx="6">
                  <c:v>India</c:v>
                </c:pt>
                <c:pt idx="7">
                  <c:v>South Korea</c:v>
                </c:pt>
                <c:pt idx="8">
                  <c:v>Mexico</c:v>
                </c:pt>
                <c:pt idx="9">
                  <c:v>Australia</c:v>
                </c:pt>
                <c:pt idx="10">
                  <c:v>Brazil</c:v>
                </c:pt>
                <c:pt idx="11">
                  <c:v>Canada</c:v>
                </c:pt>
                <c:pt idx="12">
                  <c:v>Spain</c:v>
                </c:pt>
                <c:pt idx="13">
                  <c:v>Italy</c:v>
                </c:pt>
                <c:pt idx="14">
                  <c:v>Russia</c:v>
                </c:pt>
                <c:pt idx="15">
                  <c:v>Netherlands</c:v>
                </c:pt>
                <c:pt idx="16">
                  <c:v>Poland</c:v>
                </c:pt>
                <c:pt idx="17">
                  <c:v>Indonesia</c:v>
                </c:pt>
                <c:pt idx="18">
                  <c:v>Sweden</c:v>
                </c:pt>
                <c:pt idx="19">
                  <c:v>Colombia</c:v>
                </c:pt>
                <c:pt idx="20">
                  <c:v>Rest of the world</c:v>
                </c:pt>
              </c:strCache>
            </c:strRef>
          </c:cat>
          <c:val>
            <c:numRef>
              <c:f>Sheet2!$D$3:$D$23</c:f>
              <c:numCache>
                <c:formatCode>General</c:formatCode>
                <c:ptCount val="21"/>
                <c:pt idx="0">
                  <c:v>69.5</c:v>
                </c:pt>
                <c:pt idx="1">
                  <c:v>137.69999999999999</c:v>
                </c:pt>
                <c:pt idx="2">
                  <c:v>45</c:v>
                </c:pt>
                <c:pt idx="3">
                  <c:v>89.8</c:v>
                </c:pt>
                <c:pt idx="4">
                  <c:v>63.8</c:v>
                </c:pt>
                <c:pt idx="5">
                  <c:v>114.9</c:v>
                </c:pt>
                <c:pt idx="6">
                  <c:v>429.7</c:v>
                </c:pt>
                <c:pt idx="7">
                  <c:v>154.6</c:v>
                </c:pt>
                <c:pt idx="8">
                  <c:v>199.6</c:v>
                </c:pt>
                <c:pt idx="9">
                  <c:v>103.9</c:v>
                </c:pt>
                <c:pt idx="10">
                  <c:v>119</c:v>
                </c:pt>
                <c:pt idx="11">
                  <c:v>66.2</c:v>
                </c:pt>
                <c:pt idx="12">
                  <c:v>134.5</c:v>
                </c:pt>
                <c:pt idx="13">
                  <c:v>122.1</c:v>
                </c:pt>
                <c:pt idx="14">
                  <c:v>112.6</c:v>
                </c:pt>
                <c:pt idx="15">
                  <c:v>72</c:v>
                </c:pt>
                <c:pt idx="16">
                  <c:v>84.7</c:v>
                </c:pt>
                <c:pt idx="17">
                  <c:v>433.3</c:v>
                </c:pt>
                <c:pt idx="18">
                  <c:v>68.5</c:v>
                </c:pt>
                <c:pt idx="19">
                  <c:v>259.39999999999998</c:v>
                </c:pt>
                <c:pt idx="20">
                  <c:v>69.5</c:v>
                </c:pt>
              </c:numCache>
            </c:numRef>
          </c:val>
          <c:extLst>
            <c:ext xmlns:c16="http://schemas.microsoft.com/office/drawing/2014/chart" uri="{C3380CC4-5D6E-409C-BE32-E72D297353CC}">
              <c16:uniqueId val="{00000000-799B-4543-B37D-33497B7CABBE}"/>
            </c:ext>
          </c:extLst>
        </c:ser>
        <c:dLbls>
          <c:showLegendKey val="0"/>
          <c:showVal val="0"/>
          <c:showCatName val="0"/>
          <c:showSerName val="0"/>
          <c:showPercent val="0"/>
          <c:showBubbleSize val="0"/>
        </c:dLbls>
        <c:gapWidth val="33"/>
        <c:overlap val="-30"/>
        <c:axId val="952529152"/>
        <c:axId val="1082159312"/>
      </c:barChart>
      <c:catAx>
        <c:axId val="952529152"/>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82159312"/>
        <c:crosses val="autoZero"/>
        <c:auto val="1"/>
        <c:lblAlgn val="ctr"/>
        <c:lblOffset val="100"/>
        <c:noMultiLvlLbl val="0"/>
      </c:catAx>
      <c:valAx>
        <c:axId val="1082159312"/>
        <c:scaling>
          <c:orientation val="minMax"/>
        </c:scaling>
        <c:delete val="0"/>
        <c:axPos val="t"/>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a:t>Field4</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525291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GB" sz="1400" b="0" i="0" u="none" strike="noStrike" kern="1200" spc="0" baseline="0">
                <a:solidFill>
                  <a:prstClr val="black">
                    <a:lumMod val="65000"/>
                    <a:lumOff val="35000"/>
                  </a:prstClr>
                </a:solidFill>
              </a:rPr>
              <a:t>Top 20 countries by filmed entertainment revenues 2025</a:t>
            </a:r>
            <a:endParaRPr lang="en-US" sz="1400" b="0" i="0" u="none" strike="noStrike" kern="1200" spc="0" baseline="0">
              <a:solidFill>
                <a:prstClr val="black">
                  <a:lumMod val="65000"/>
                  <a:lumOff val="35000"/>
                </a:prstClr>
              </a:solidFill>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Sheet2!$A$3:$A$23</c:f>
              <c:strCache>
                <c:ptCount val="21"/>
                <c:pt idx="0">
                  <c:v>USA</c:v>
                </c:pt>
                <c:pt idx="1">
                  <c:v>China</c:v>
                </c:pt>
                <c:pt idx="2">
                  <c:v>Japan</c:v>
                </c:pt>
                <c:pt idx="3">
                  <c:v>UK</c:v>
                </c:pt>
                <c:pt idx="4">
                  <c:v>Germany</c:v>
                </c:pt>
                <c:pt idx="5">
                  <c:v>France</c:v>
                </c:pt>
                <c:pt idx="6">
                  <c:v>India</c:v>
                </c:pt>
                <c:pt idx="7">
                  <c:v>South Korea</c:v>
                </c:pt>
                <c:pt idx="8">
                  <c:v>Mexico</c:v>
                </c:pt>
                <c:pt idx="9">
                  <c:v>Australia</c:v>
                </c:pt>
                <c:pt idx="10">
                  <c:v>Brazil</c:v>
                </c:pt>
                <c:pt idx="11">
                  <c:v>Canada</c:v>
                </c:pt>
                <c:pt idx="12">
                  <c:v>Spain</c:v>
                </c:pt>
                <c:pt idx="13">
                  <c:v>Italy</c:v>
                </c:pt>
                <c:pt idx="14">
                  <c:v>Russia</c:v>
                </c:pt>
                <c:pt idx="15">
                  <c:v>Netherlands</c:v>
                </c:pt>
                <c:pt idx="16">
                  <c:v>Poland</c:v>
                </c:pt>
                <c:pt idx="17">
                  <c:v>Indonesia</c:v>
                </c:pt>
                <c:pt idx="18">
                  <c:v>Sweden</c:v>
                </c:pt>
                <c:pt idx="19">
                  <c:v>Colombia</c:v>
                </c:pt>
                <c:pt idx="20">
                  <c:v>Rest of the world</c:v>
                </c:pt>
              </c:strCache>
            </c:strRef>
          </c:cat>
          <c:val>
            <c:numRef>
              <c:f>Sheet2!$B$3:$B$23</c:f>
              <c:numCache>
                <c:formatCode>#,##0</c:formatCode>
                <c:ptCount val="21"/>
                <c:pt idx="0">
                  <c:v>35465</c:v>
                </c:pt>
                <c:pt idx="1">
                  <c:v>16603</c:v>
                </c:pt>
                <c:pt idx="2">
                  <c:v>4855</c:v>
                </c:pt>
                <c:pt idx="3">
                  <c:v>4520</c:v>
                </c:pt>
                <c:pt idx="4">
                  <c:v>3778</c:v>
                </c:pt>
                <c:pt idx="5">
                  <c:v>3664</c:v>
                </c:pt>
                <c:pt idx="6">
                  <c:v>3407</c:v>
                </c:pt>
                <c:pt idx="7">
                  <c:v>2649</c:v>
                </c:pt>
                <c:pt idx="8">
                  <c:v>2439</c:v>
                </c:pt>
                <c:pt idx="9">
                  <c:v>2137</c:v>
                </c:pt>
                <c:pt idx="10">
                  <c:v>2068</c:v>
                </c:pt>
                <c:pt idx="11">
                  <c:v>2010</c:v>
                </c:pt>
                <c:pt idx="12">
                  <c:v>1681</c:v>
                </c:pt>
                <c:pt idx="13">
                  <c:v>1521</c:v>
                </c:pt>
                <c:pt idx="14">
                  <c:v>1268</c:v>
                </c:pt>
                <c:pt idx="15" formatCode="General">
                  <c:v>996</c:v>
                </c:pt>
                <c:pt idx="16" formatCode="General">
                  <c:v>769</c:v>
                </c:pt>
                <c:pt idx="17" formatCode="General">
                  <c:v>756</c:v>
                </c:pt>
                <c:pt idx="18" formatCode="General">
                  <c:v>707</c:v>
                </c:pt>
                <c:pt idx="19" formatCode="General">
                  <c:v>642</c:v>
                </c:pt>
                <c:pt idx="20">
                  <c:v>11399</c:v>
                </c:pt>
              </c:numCache>
            </c:numRef>
          </c:val>
          <c:extLst>
            <c:ext xmlns:c16="http://schemas.microsoft.com/office/drawing/2014/chart" uri="{C3380CC4-5D6E-409C-BE32-E72D297353CC}">
              <c16:uniqueId val="{00000000-D9C3-114A-8A8D-70AF327E11BC}"/>
            </c:ext>
          </c:extLst>
        </c:ser>
        <c:dLbls>
          <c:showLegendKey val="0"/>
          <c:showVal val="0"/>
          <c:showCatName val="0"/>
          <c:showSerName val="0"/>
          <c:showPercent val="0"/>
          <c:showBubbleSize val="0"/>
        </c:dLbls>
        <c:gapWidth val="182"/>
        <c:axId val="930261184"/>
        <c:axId val="1474177872"/>
      </c:barChart>
      <c:catAx>
        <c:axId val="930261184"/>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4177872"/>
        <c:crosses val="autoZero"/>
        <c:auto val="1"/>
        <c:lblAlgn val="ctr"/>
        <c:lblOffset val="100"/>
        <c:noMultiLvlLbl val="0"/>
      </c:catAx>
      <c:valAx>
        <c:axId val="1474177872"/>
        <c:scaling>
          <c:orientation val="minMax"/>
        </c:scaling>
        <c:delete val="0"/>
        <c:axPos val="t"/>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02611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sz="1200" b="1" i="0" u="none" strike="noStrike" baseline="0">
                <a:effectLst/>
                <a:latin typeface="Avenir Next" panose="020B0503020202020204" pitchFamily="34" charset="0"/>
              </a:rPr>
              <a:t>Music industry income in the United Kingdom (UK) </a:t>
            </a:r>
            <a:r>
              <a:rPr lang="en-GB" sz="1200" b="0" i="0" u="none" strike="noStrike" baseline="0">
                <a:effectLst/>
                <a:latin typeface="Avenir Next" panose="020B0503020202020204" pitchFamily="34" charset="0"/>
              </a:rPr>
              <a:t>2003-2021</a:t>
            </a:r>
            <a:r>
              <a:rPr lang="en-GB" sz="1200" b="0" i="0" u="none" strike="noStrike" baseline="0">
                <a:latin typeface="Avenir Next" panose="020B0503020202020204" pitchFamily="34" charset="0"/>
              </a:rPr>
              <a:t> </a:t>
            </a:r>
            <a:endParaRPr lang="en-US" sz="1200">
              <a:latin typeface="Avenir Next" panose="020B0503020202020204" pitchFamily="34"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7.0708565743841142E-2"/>
          <c:y val="0.1173765039319528"/>
          <c:w val="0.91264344146544285"/>
          <c:h val="0.79244776600122868"/>
        </c:manualLayout>
      </c:layout>
      <c:barChart>
        <c:barDir val="col"/>
        <c:grouping val="clustered"/>
        <c:varyColors val="0"/>
        <c:ser>
          <c:idx val="0"/>
          <c:order val="0"/>
          <c:tx>
            <c:v>Field2</c:v>
          </c:tx>
          <c:spPr>
            <a:solidFill>
              <a:schemeClr val="accent1"/>
            </a:solidFill>
            <a:ln>
              <a:noFill/>
            </a:ln>
            <a:effectLst/>
          </c:spPr>
          <c:invertIfNegative val="0"/>
          <c:dLbls>
            <c:dLbl>
              <c:idx val="1"/>
              <c:layout>
                <c:manualLayout>
                  <c:x val="0"/>
                  <c:y val="-4.476076711984119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A49-374E-88D6-BE0C15D0DB10}"/>
                </c:ext>
              </c:extLst>
            </c:dLbl>
            <c:dLbl>
              <c:idx val="2"/>
              <c:layout>
                <c:manualLayout>
                  <c:x val="0"/>
                  <c:y val="-3.443135932295476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A49-374E-88D6-BE0C15D0DB10}"/>
                </c:ext>
              </c:extLst>
            </c:dLbl>
            <c:dLbl>
              <c:idx val="3"/>
              <c:layout>
                <c:manualLayout>
                  <c:x val="0"/>
                  <c:y val="-3.44313593229547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A49-374E-88D6-BE0C15D0DB10}"/>
                </c:ext>
              </c:extLst>
            </c:dLbl>
            <c:dLbl>
              <c:idx val="4"/>
              <c:layout>
                <c:manualLayout>
                  <c:x val="-5.5492668246347783E-17"/>
                  <c:y val="-7.574899051050050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A49-374E-88D6-BE0C15D0DB10}"/>
                </c:ext>
              </c:extLst>
            </c:dLbl>
            <c:dLbl>
              <c:idx val="5"/>
              <c:layout>
                <c:manualLayout>
                  <c:x val="0"/>
                  <c:y val="-3.443135932295476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A49-374E-88D6-BE0C15D0DB10}"/>
                </c:ext>
              </c:extLst>
            </c:dLbl>
            <c:dLbl>
              <c:idx val="7"/>
              <c:layout>
                <c:manualLayout>
                  <c:x val="-5.5492668246347783E-17"/>
                  <c:y val="-4.47607671198412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A49-374E-88D6-BE0C15D0DB10}"/>
                </c:ext>
              </c:extLst>
            </c:dLbl>
            <c:dLbl>
              <c:idx val="8"/>
              <c:layout>
                <c:manualLayout>
                  <c:x val="-1.1098533649269557E-16"/>
                  <c:y val="-2.754508745836381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A49-374E-88D6-BE0C15D0DB10}"/>
                </c:ext>
              </c:extLst>
            </c:dLbl>
            <c:dLbl>
              <c:idx val="9"/>
              <c:layout>
                <c:manualLayout>
                  <c:x val="0"/>
                  <c:y val="-2.754508745836381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A49-374E-88D6-BE0C15D0DB10}"/>
                </c:ext>
              </c:extLst>
            </c:dLbl>
            <c:dLbl>
              <c:idx val="10"/>
              <c:layout>
                <c:manualLayout>
                  <c:x val="-1.1098533649269557E-16"/>
                  <c:y val="-2.754508745836381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A49-374E-88D6-BE0C15D0DB1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Data!$B$6:$B$24</c:f>
              <c:strCache>
                <c:ptCount val="19"/>
                <c:pt idx="0">
                  <c:v>2003</c:v>
                </c:pt>
                <c:pt idx="1">
                  <c:v>2004</c:v>
                </c:pt>
                <c:pt idx="2">
                  <c:v>2005</c:v>
                </c:pt>
                <c:pt idx="3">
                  <c:v>2006</c:v>
                </c:pt>
                <c:pt idx="4">
                  <c:v>2007</c:v>
                </c:pt>
                <c:pt idx="5">
                  <c:v>2008</c:v>
                </c:pt>
                <c:pt idx="6">
                  <c:v>2009</c:v>
                </c:pt>
                <c:pt idx="7">
                  <c:v>2010</c:v>
                </c:pt>
                <c:pt idx="8">
                  <c:v>2011</c:v>
                </c:pt>
                <c:pt idx="9">
                  <c:v>2012</c:v>
                </c:pt>
                <c:pt idx="10">
                  <c:v>2013</c:v>
                </c:pt>
                <c:pt idx="11">
                  <c:v>2014</c:v>
                </c:pt>
                <c:pt idx="12">
                  <c:v>2015</c:v>
                </c:pt>
                <c:pt idx="13">
                  <c:v>2016</c:v>
                </c:pt>
                <c:pt idx="14">
                  <c:v>2017</c:v>
                </c:pt>
                <c:pt idx="15">
                  <c:v>2018</c:v>
                </c:pt>
                <c:pt idx="16">
                  <c:v>2019</c:v>
                </c:pt>
                <c:pt idx="17">
                  <c:v>2020</c:v>
                </c:pt>
                <c:pt idx="18">
                  <c:v>2021</c:v>
                </c:pt>
              </c:strCache>
            </c:strRef>
          </c:cat>
          <c:val>
            <c:numRef>
              <c:f>Data!$C$6:$C$24</c:f>
              <c:numCache>
                <c:formatCode>#,##0.00</c:formatCode>
                <c:ptCount val="19"/>
                <c:pt idx="0">
                  <c:v>1223.0999999999999</c:v>
                </c:pt>
                <c:pt idx="1">
                  <c:v>1220.4000000000001</c:v>
                </c:pt>
                <c:pt idx="2">
                  <c:v>1176.0999999999999</c:v>
                </c:pt>
                <c:pt idx="3" formatCode="#,##0">
                  <c:v>1089</c:v>
                </c:pt>
                <c:pt idx="4">
                  <c:v>943.4</c:v>
                </c:pt>
                <c:pt idx="5">
                  <c:v>915.6</c:v>
                </c:pt>
                <c:pt idx="6">
                  <c:v>928.4</c:v>
                </c:pt>
                <c:pt idx="7">
                  <c:v>823.7</c:v>
                </c:pt>
                <c:pt idx="8">
                  <c:v>781.9</c:v>
                </c:pt>
                <c:pt idx="9">
                  <c:v>711.5</c:v>
                </c:pt>
                <c:pt idx="10">
                  <c:v>729.2</c:v>
                </c:pt>
                <c:pt idx="11">
                  <c:v>694.2</c:v>
                </c:pt>
                <c:pt idx="12" formatCode="#,##0">
                  <c:v>688</c:v>
                </c:pt>
                <c:pt idx="13">
                  <c:v>729.4</c:v>
                </c:pt>
                <c:pt idx="14">
                  <c:v>839.4</c:v>
                </c:pt>
                <c:pt idx="15">
                  <c:v>997.3</c:v>
                </c:pt>
                <c:pt idx="16">
                  <c:v>1077.5999999999999</c:v>
                </c:pt>
                <c:pt idx="17">
                  <c:v>1118.8</c:v>
                </c:pt>
                <c:pt idx="18">
                  <c:v>1261.5</c:v>
                </c:pt>
              </c:numCache>
            </c:numRef>
          </c:val>
          <c:extLst>
            <c:ext xmlns:c16="http://schemas.microsoft.com/office/drawing/2014/chart" uri="{C3380CC4-5D6E-409C-BE32-E72D297353CC}">
              <c16:uniqueId val="{00000009-EA49-374E-88D6-BE0C15D0DB10}"/>
            </c:ext>
          </c:extLst>
        </c:ser>
        <c:dLbls>
          <c:showLegendKey val="0"/>
          <c:showVal val="0"/>
          <c:showCatName val="0"/>
          <c:showSerName val="0"/>
          <c:showPercent val="0"/>
          <c:showBubbleSize val="0"/>
        </c:dLbls>
        <c:gapWidth val="33"/>
        <c:overlap val="-30"/>
        <c:axId val="1386518271"/>
        <c:axId val="1386312511"/>
      </c:barChart>
      <c:catAx>
        <c:axId val="13865182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6312511"/>
        <c:crosses val="autoZero"/>
        <c:auto val="1"/>
        <c:lblAlgn val="ctr"/>
        <c:lblOffset val="100"/>
        <c:noMultiLvlLbl val="0"/>
      </c:catAx>
      <c:valAx>
        <c:axId val="1386312511"/>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651827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US" sz="1200" b="1">
                <a:latin typeface="Avenir Next" panose="020B0503020202020204" pitchFamily="34" charset="0"/>
              </a:rPr>
              <a:t>Annual</a:t>
            </a:r>
            <a:r>
              <a:rPr lang="en-US" sz="1200" b="1" baseline="0">
                <a:latin typeface="Avenir Next" panose="020B0503020202020204" pitchFamily="34" charset="0"/>
              </a:rPr>
              <a:t> growth rate of </a:t>
            </a:r>
            <a:r>
              <a:rPr lang="en-GB" sz="1200" b="1" i="0" u="none" strike="noStrike" kern="1200" spc="0" baseline="0">
                <a:solidFill>
                  <a:sysClr val="windowText" lastClr="000000">
                    <a:lumMod val="65000"/>
                    <a:lumOff val="35000"/>
                  </a:sysClr>
                </a:solidFill>
                <a:effectLst/>
                <a:latin typeface="Avenir Next" panose="020B0503020202020204" pitchFamily="34" charset="0"/>
              </a:rPr>
              <a:t>Music industry income in the United Kingdom (UK) </a:t>
            </a:r>
            <a:r>
              <a:rPr lang="en-GB" sz="1200" b="0" i="0" u="none" strike="noStrike" kern="1200" spc="0" baseline="0">
                <a:solidFill>
                  <a:sysClr val="windowText" lastClr="000000">
                    <a:lumMod val="65000"/>
                    <a:lumOff val="35000"/>
                  </a:sysClr>
                </a:solidFill>
                <a:effectLst/>
                <a:latin typeface="Avenir Next" panose="020B0503020202020204" pitchFamily="34" charset="0"/>
              </a:rPr>
              <a:t>2003-2021</a:t>
            </a:r>
            <a:r>
              <a:rPr lang="en-GB" sz="1200" b="0" i="0" u="none" strike="noStrike" kern="1200" spc="0" baseline="0">
                <a:solidFill>
                  <a:sysClr val="windowText" lastClr="000000">
                    <a:lumMod val="65000"/>
                    <a:lumOff val="35000"/>
                  </a:sysClr>
                </a:solidFill>
                <a:latin typeface="Avenir Next" panose="020B0503020202020204" pitchFamily="34" charset="0"/>
              </a:rPr>
              <a:t> </a:t>
            </a:r>
            <a:endParaRPr lang="en-US" sz="1200" b="0" i="0" u="none" strike="noStrike" kern="1200" spc="0" baseline="0">
              <a:solidFill>
                <a:sysClr val="windowText" lastClr="000000">
                  <a:lumMod val="65000"/>
                  <a:lumOff val="35000"/>
                </a:sysClr>
              </a:solidFill>
              <a:latin typeface="Avenir Next" panose="020B0503020202020204" pitchFamily="34" charset="0"/>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Data!$B$7:$B$24</c:f>
              <c:strCache>
                <c:ptCount val="18"/>
                <c:pt idx="0">
                  <c:v>2004</c:v>
                </c:pt>
                <c:pt idx="1">
                  <c:v>2005</c:v>
                </c:pt>
                <c:pt idx="2">
                  <c:v>2006</c:v>
                </c:pt>
                <c:pt idx="3">
                  <c:v>2007</c:v>
                </c:pt>
                <c:pt idx="4">
                  <c:v>2008</c:v>
                </c:pt>
                <c:pt idx="5">
                  <c:v>2009</c:v>
                </c:pt>
                <c:pt idx="6">
                  <c:v>2010</c:v>
                </c:pt>
                <c:pt idx="7">
                  <c:v>2011</c:v>
                </c:pt>
                <c:pt idx="8">
                  <c:v>2012</c:v>
                </c:pt>
                <c:pt idx="9">
                  <c:v>2013</c:v>
                </c:pt>
                <c:pt idx="10">
                  <c:v>2014</c:v>
                </c:pt>
                <c:pt idx="11">
                  <c:v>2015</c:v>
                </c:pt>
                <c:pt idx="12">
                  <c:v>2016</c:v>
                </c:pt>
                <c:pt idx="13">
                  <c:v>2017</c:v>
                </c:pt>
                <c:pt idx="14">
                  <c:v>2018</c:v>
                </c:pt>
                <c:pt idx="15">
                  <c:v>2019</c:v>
                </c:pt>
                <c:pt idx="16">
                  <c:v>2020</c:v>
                </c:pt>
                <c:pt idx="17">
                  <c:v>2021</c:v>
                </c:pt>
              </c:strCache>
            </c:strRef>
          </c:cat>
          <c:val>
            <c:numRef>
              <c:f>Data!$D$7:$D$24</c:f>
              <c:numCache>
                <c:formatCode>0.0</c:formatCode>
                <c:ptCount val="18"/>
                <c:pt idx="0">
                  <c:v>-0.2207505518763648</c:v>
                </c:pt>
                <c:pt idx="1">
                  <c:v>-3.6299573910193526</c:v>
                </c:pt>
                <c:pt idx="2">
                  <c:v>-7.4058328373437563</c:v>
                </c:pt>
                <c:pt idx="3">
                  <c:v>-13.370064279155191</c:v>
                </c:pt>
                <c:pt idx="4">
                  <c:v>-2.9467882128471441</c:v>
                </c:pt>
                <c:pt idx="5">
                  <c:v>1.3979903888160718</c:v>
                </c:pt>
                <c:pt idx="6">
                  <c:v>-11.277466609220156</c:v>
                </c:pt>
                <c:pt idx="7">
                  <c:v>-5.0746631054995825</c:v>
                </c:pt>
                <c:pt idx="8">
                  <c:v>-9.003708914183397</c:v>
                </c:pt>
                <c:pt idx="9">
                  <c:v>2.4877020379480039</c:v>
                </c:pt>
                <c:pt idx="10">
                  <c:v>-4.7997805814591326</c:v>
                </c:pt>
                <c:pt idx="11">
                  <c:v>-0.89311437626045009</c:v>
                </c:pt>
                <c:pt idx="12">
                  <c:v>6.0174418604651132</c:v>
                </c:pt>
                <c:pt idx="13">
                  <c:v>15.080888401425829</c:v>
                </c:pt>
                <c:pt idx="14">
                  <c:v>18.81105551584465</c:v>
                </c:pt>
                <c:pt idx="15">
                  <c:v>8.0517396971823878</c:v>
                </c:pt>
                <c:pt idx="16">
                  <c:v>3.8233110616184161</c:v>
                </c:pt>
                <c:pt idx="17">
                  <c:v>12.754737218448343</c:v>
                </c:pt>
              </c:numCache>
            </c:numRef>
          </c:val>
          <c:extLst>
            <c:ext xmlns:c16="http://schemas.microsoft.com/office/drawing/2014/chart" uri="{C3380CC4-5D6E-409C-BE32-E72D297353CC}">
              <c16:uniqueId val="{00000000-17E1-E140-9A6F-226C27BF8359}"/>
            </c:ext>
          </c:extLst>
        </c:ser>
        <c:dLbls>
          <c:showLegendKey val="0"/>
          <c:showVal val="0"/>
          <c:showCatName val="0"/>
          <c:showSerName val="0"/>
          <c:showPercent val="0"/>
          <c:showBubbleSize val="0"/>
        </c:dLbls>
        <c:gapWidth val="33"/>
        <c:overlap val="-30"/>
        <c:axId val="1398847072"/>
        <c:axId val="1399183696"/>
      </c:barChart>
      <c:catAx>
        <c:axId val="1398847072"/>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9183696"/>
        <c:crosses val="autoZero"/>
        <c:auto val="1"/>
        <c:lblAlgn val="ctr"/>
        <c:lblOffset val="100"/>
        <c:noMultiLvlLbl val="0"/>
      </c:catAx>
      <c:valAx>
        <c:axId val="1399183696"/>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88470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200" b="1">
                <a:latin typeface="Avenir Next" panose="020B0503020202020204" pitchFamily="34" charset="0"/>
              </a:rPr>
              <a:t>Annual</a:t>
            </a:r>
            <a:r>
              <a:rPr lang="en-US" sz="1200" b="1" baseline="0">
                <a:latin typeface="Avenir Next" panose="020B0503020202020204" pitchFamily="34" charset="0"/>
              </a:rPr>
              <a:t> growth rate of </a:t>
            </a:r>
            <a:r>
              <a:rPr lang="en-GB" sz="1200" b="1" i="0" u="none" strike="noStrike" baseline="0">
                <a:effectLst/>
                <a:latin typeface="Avenir Next" panose="020B0503020202020204" pitchFamily="34" charset="0"/>
              </a:rPr>
              <a:t>Music retail sales revenue in the UK </a:t>
            </a:r>
            <a:r>
              <a:rPr lang="en-GB" sz="1200" b="0" i="0" u="none" strike="noStrike" baseline="0">
                <a:effectLst/>
                <a:latin typeface="Avenir Next" panose="020B0503020202020204" pitchFamily="34" charset="0"/>
              </a:rPr>
              <a:t>2011-2022</a:t>
            </a:r>
            <a:endParaRPr lang="en-US" b="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v>Field3</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Data!$B$6:$B$17</c:f>
              <c:strCache>
                <c:ptCount val="12"/>
                <c:pt idx="0">
                  <c:v>2011</c:v>
                </c:pt>
                <c:pt idx="1">
                  <c:v>2012</c:v>
                </c:pt>
                <c:pt idx="2">
                  <c:v>2013</c:v>
                </c:pt>
                <c:pt idx="3">
                  <c:v>2014</c:v>
                </c:pt>
                <c:pt idx="4">
                  <c:v>2015</c:v>
                </c:pt>
                <c:pt idx="5">
                  <c:v>2016</c:v>
                </c:pt>
                <c:pt idx="6">
                  <c:v>2017</c:v>
                </c:pt>
                <c:pt idx="7">
                  <c:v>2018</c:v>
                </c:pt>
                <c:pt idx="8">
                  <c:v>2019</c:v>
                </c:pt>
                <c:pt idx="9">
                  <c:v>2020</c:v>
                </c:pt>
                <c:pt idx="10">
                  <c:v>2021</c:v>
                </c:pt>
                <c:pt idx="11">
                  <c:v>2022</c:v>
                </c:pt>
              </c:strCache>
            </c:strRef>
          </c:cat>
          <c:val>
            <c:numRef>
              <c:f>Data!$D$6:$D$17</c:f>
              <c:numCache>
                <c:formatCode>0.00</c:formatCode>
                <c:ptCount val="12"/>
                <c:pt idx="0" formatCode="General">
                  <c:v>0</c:v>
                </c:pt>
                <c:pt idx="1">
                  <c:v>2.5932087288384493</c:v>
                </c:pt>
                <c:pt idx="2">
                  <c:v>-0.10492178557803666</c:v>
                </c:pt>
                <c:pt idx="3">
                  <c:v>-2.3107037143129889</c:v>
                </c:pt>
                <c:pt idx="4">
                  <c:v>3.5675887010067333</c:v>
                </c:pt>
                <c:pt idx="5">
                  <c:v>3.4918837297093246</c:v>
                </c:pt>
                <c:pt idx="6">
                  <c:v>11.827466715301847</c:v>
                </c:pt>
                <c:pt idx="7">
                  <c:v>7.4614694609801839</c:v>
                </c:pt>
                <c:pt idx="8">
                  <c:v>10.312642282592206</c:v>
                </c:pt>
                <c:pt idx="9">
                  <c:v>19.343743550938985</c:v>
                </c:pt>
                <c:pt idx="10">
                  <c:v>11.18220070321056</c:v>
                </c:pt>
                <c:pt idx="11">
                  <c:v>3.0068951215718802</c:v>
                </c:pt>
              </c:numCache>
            </c:numRef>
          </c:val>
          <c:extLst>
            <c:ext xmlns:c16="http://schemas.microsoft.com/office/drawing/2014/chart" uri="{C3380CC4-5D6E-409C-BE32-E72D297353CC}">
              <c16:uniqueId val="{00000000-5A04-404C-A6B5-C81F87D70EB7}"/>
            </c:ext>
          </c:extLst>
        </c:ser>
        <c:dLbls>
          <c:showLegendKey val="0"/>
          <c:showVal val="0"/>
          <c:showCatName val="0"/>
          <c:showSerName val="0"/>
          <c:showPercent val="0"/>
          <c:showBubbleSize val="0"/>
        </c:dLbls>
        <c:gapWidth val="33"/>
        <c:overlap val="-30"/>
        <c:axId val="1411850128"/>
        <c:axId val="1372215632"/>
      </c:barChart>
      <c:catAx>
        <c:axId val="141185012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2215632"/>
        <c:crosses val="autoZero"/>
        <c:auto val="1"/>
        <c:lblAlgn val="ctr"/>
        <c:lblOffset val="100"/>
        <c:noMultiLvlLbl val="0"/>
      </c:catAx>
      <c:valAx>
        <c:axId val="13722156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1185012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0" i="0" u="none" strike="noStrike" kern="1200" spc="0" baseline="0">
                <a:solidFill>
                  <a:schemeClr val="tx1">
                    <a:lumMod val="65000"/>
                    <a:lumOff val="35000"/>
                  </a:schemeClr>
                </a:solidFill>
                <a:latin typeface="+mn-lt"/>
                <a:ea typeface="+mn-ea"/>
                <a:cs typeface="+mn-cs"/>
              </a:defRPr>
            </a:pPr>
            <a:r>
              <a:rPr lang="en-GB" sz="1200" b="1" i="0" u="none" strike="noStrike" baseline="0">
                <a:effectLst/>
                <a:latin typeface="Avenir Next" panose="020B0503020202020204" pitchFamily="34" charset="0"/>
              </a:rPr>
              <a:t>Music retail sales revenue in the UK</a:t>
            </a:r>
            <a:r>
              <a:rPr lang="en-GB" sz="1200" b="0" i="1" u="none" strike="noStrike" baseline="0">
                <a:effectLst/>
                <a:latin typeface="Avenir Next" panose="020B0503020202020204" pitchFamily="34" charset="0"/>
              </a:rPr>
              <a:t> </a:t>
            </a:r>
            <a:r>
              <a:rPr lang="en-GB" sz="1200" b="0" i="0" u="none" strike="noStrike" baseline="0">
                <a:effectLst/>
                <a:latin typeface="Avenir Next" panose="020B0503020202020204" pitchFamily="34" charset="0"/>
              </a:rPr>
              <a:t>2011-2022</a:t>
            </a:r>
            <a:r>
              <a:rPr lang="en-GB" sz="1200" b="0" i="0" u="none" strike="noStrike" baseline="0">
                <a:latin typeface="Avenir Next" panose="020B0503020202020204" pitchFamily="34" charset="0"/>
              </a:rPr>
              <a:t> </a:t>
            </a:r>
            <a:endParaRPr lang="en-US" sz="1200" b="0" i="0">
              <a:latin typeface="Avenir Next" panose="020B0503020202020204" pitchFamily="34" charset="0"/>
            </a:endParaRPr>
          </a:p>
        </c:rich>
      </c:tx>
      <c:overlay val="0"/>
      <c:spPr>
        <a:noFill/>
        <a:ln>
          <a:noFill/>
        </a:ln>
        <a:effectLst/>
      </c:spPr>
      <c:txPr>
        <a:bodyPr rot="0" spcFirstLastPara="1" vertOverflow="ellipsis" vert="horz" wrap="square" anchor="ctr" anchorCtr="1"/>
        <a:lstStyle/>
        <a:p>
          <a:pPr>
            <a:defRPr sz="11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v>Field2</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Data!$B$6:$B$17</c:f>
              <c:strCache>
                <c:ptCount val="12"/>
                <c:pt idx="0">
                  <c:v>2011</c:v>
                </c:pt>
                <c:pt idx="1">
                  <c:v>2012</c:v>
                </c:pt>
                <c:pt idx="2">
                  <c:v>2013</c:v>
                </c:pt>
                <c:pt idx="3">
                  <c:v>2014</c:v>
                </c:pt>
                <c:pt idx="4">
                  <c:v>2015</c:v>
                </c:pt>
                <c:pt idx="5">
                  <c:v>2016</c:v>
                </c:pt>
                <c:pt idx="6">
                  <c:v>2017</c:v>
                </c:pt>
                <c:pt idx="7">
                  <c:v>2018</c:v>
                </c:pt>
                <c:pt idx="8">
                  <c:v>2019</c:v>
                </c:pt>
                <c:pt idx="9">
                  <c:v>2020</c:v>
                </c:pt>
                <c:pt idx="10">
                  <c:v>2021</c:v>
                </c:pt>
                <c:pt idx="11">
                  <c:v>2022</c:v>
                </c:pt>
              </c:strCache>
            </c:strRef>
          </c:cat>
          <c:val>
            <c:numRef>
              <c:f>Data!$C$6:$C$17</c:f>
              <c:numCache>
                <c:formatCode>#,##0.00</c:formatCode>
                <c:ptCount val="12"/>
                <c:pt idx="0">
                  <c:v>1021.9</c:v>
                </c:pt>
                <c:pt idx="1">
                  <c:v>1048.4000000000001</c:v>
                </c:pt>
                <c:pt idx="2">
                  <c:v>1047.3</c:v>
                </c:pt>
                <c:pt idx="3">
                  <c:v>1023.1</c:v>
                </c:pt>
                <c:pt idx="4">
                  <c:v>1059.5999999999999</c:v>
                </c:pt>
                <c:pt idx="5">
                  <c:v>1096.5999999999999</c:v>
                </c:pt>
                <c:pt idx="6">
                  <c:v>1226.3</c:v>
                </c:pt>
                <c:pt idx="7">
                  <c:v>1317.8</c:v>
                </c:pt>
                <c:pt idx="8">
                  <c:v>1453.7</c:v>
                </c:pt>
                <c:pt idx="9">
                  <c:v>1734.9</c:v>
                </c:pt>
                <c:pt idx="10">
                  <c:v>1928.9</c:v>
                </c:pt>
                <c:pt idx="11">
                  <c:v>1986.9</c:v>
                </c:pt>
              </c:numCache>
            </c:numRef>
          </c:val>
          <c:extLst>
            <c:ext xmlns:c16="http://schemas.microsoft.com/office/drawing/2014/chart" uri="{C3380CC4-5D6E-409C-BE32-E72D297353CC}">
              <c16:uniqueId val="{00000000-88D9-B745-B172-F16327923D2A}"/>
            </c:ext>
          </c:extLst>
        </c:ser>
        <c:dLbls>
          <c:showLegendKey val="0"/>
          <c:showVal val="0"/>
          <c:showCatName val="0"/>
          <c:showSerName val="0"/>
          <c:showPercent val="0"/>
          <c:showBubbleSize val="0"/>
        </c:dLbls>
        <c:gapWidth val="33"/>
        <c:overlap val="-30"/>
        <c:axId val="1360791487"/>
        <c:axId val="1360546287"/>
      </c:barChart>
      <c:catAx>
        <c:axId val="1360791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0546287"/>
        <c:crosses val="autoZero"/>
        <c:auto val="1"/>
        <c:lblAlgn val="ctr"/>
        <c:lblOffset val="100"/>
        <c:noMultiLvlLbl val="0"/>
      </c:catAx>
      <c:valAx>
        <c:axId val="1360546287"/>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079148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Sheet1!$A$2:$A$22</cx:f>
        <cx:lvl ptCount="21">
          <cx:pt idx="0">USA</cx:pt>
          <cx:pt idx="1">China</cx:pt>
          <cx:pt idx="2">Japan</cx:pt>
          <cx:pt idx="3">UK</cx:pt>
          <cx:pt idx="4">Germany</cx:pt>
          <cx:pt idx="5">France</cx:pt>
          <cx:pt idx="6">Canada</cx:pt>
          <cx:pt idx="7">Australia</cx:pt>
          <cx:pt idx="8">South Korea</cx:pt>
          <cx:pt idx="9">Brazil</cx:pt>
          <cx:pt idx="10">Mexico</cx:pt>
          <cx:pt idx="11">Spain</cx:pt>
          <cx:pt idx="12">Italy</cx:pt>
          <cx:pt idx="13">India</cx:pt>
          <cx:pt idx="14">Russia</cx:pt>
          <cx:pt idx="15">Netherlands</cx:pt>
          <cx:pt idx="16">Sweden</cx:pt>
          <cx:pt idx="17">Poland</cx:pt>
          <cx:pt idx="18">Denmark</cx:pt>
          <cx:pt idx="19">Switzerland</cx:pt>
          <cx:pt idx="20">Rest of the world</cx:pt>
        </cx:lvl>
      </cx:strDim>
      <cx:numDim type="size">
        <cx:f>Sheet1!$C$2:$C$22</cx:f>
        <cx:lvl ptCount="21" formatCode="General">
          <cx:pt idx="0">40.100000000000001</cx:pt>
          <cx:pt idx="1">13.4</cx:pt>
          <cx:pt idx="2">6.4000000000000004</cx:pt>
          <cx:pt idx="3">4.5999999999999996</cx:pt>
          <cx:pt idx="4">4.4000000000000004</cx:pt>
          <cx:pt idx="5">3.2999999999999998</cx:pt>
          <cx:pt idx="6">2.2999999999999998</cx:pt>
          <cx:pt idx="7">2</cx:pt>
          <cx:pt idx="8">2</cx:pt>
          <cx:pt idx="9">1.8</cx:pt>
          <cx:pt idx="10">1.6000000000000001</cx:pt>
          <cx:pt idx="11">1.3999999999999999</cx:pt>
          <cx:pt idx="12">1.3</cx:pt>
          <cx:pt idx="13">1.2</cx:pt>
          <cx:pt idx="14">1.1000000000000001</cx:pt>
          <cx:pt idx="15">1.1000000000000001</cx:pt>
          <cx:pt idx="16">0.80000000000000004</cx:pt>
          <cx:pt idx="17">0.80000000000000004</cx:pt>
          <cx:pt idx="18">0.80000000000000004</cx:pt>
          <cx:pt idx="19">0.59999999999999998</cx:pt>
          <cx:pt idx="20">9</cx:pt>
        </cx:lvl>
      </cx:numDim>
    </cx:data>
  </cx:chartData>
  <cx:chart>
    <cx:plotArea>
      <cx:plotAreaRegion>
        <cx:series layoutId="treemap" uniqueId="{017D7705-D418-6544-A738-3628B651E4EC}">
          <cx:dataLabels pos="ctr">
            <cx:visibility seriesName="0" categoryName="1" value="1"/>
            <cx:separator>
</cx:separator>
            <cx:dataLabel idx="0">
              <cx:visibility seriesName="0" categoryName="1" value="1"/>
              <cx:separator>
</cx:separator>
            </cx:dataLabel>
          </cx:dataLabels>
          <cx:dataId val="0"/>
          <cx:layoutPr>
            <cx:parentLabelLayout val="overlapping"/>
          </cx:layoutPr>
        </cx:series>
      </cx:plotAreaRegion>
    </cx:plotArea>
  </cx:chart>
</cx:chartSpace>
</file>

<file path=ppt/charts/colors1.xml><?xml version="1.0" encoding="utf-8"?>
<cs:colorStyle xmlns:cs="http://schemas.microsoft.com/office/drawing/2012/chartStyle" xmlns:a="http://schemas.openxmlformats.org/drawingml/2006/main" meth="acrossLinear" id="2">
  <a:schemeClr val="accent1"/>
  <a:schemeClr val="accent2"/>
  <a:schemeClr val="accent3"/>
  <a:schemeClr val="accent4"/>
  <a:schemeClr val="accent5"/>
  <a:schemeClr val="accent6"/>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withinLinear" id="14">
  <a:schemeClr val="accent1"/>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411">
  <cs:axisTitle>
    <cs:lnRef idx="0"/>
    <cs:fillRef idx="0"/>
    <cs:effectRef idx="0"/>
    <cs:fontRef idx="minor">
      <a:schemeClr val="dk1">
        <a:lumMod val="75000"/>
        <a:lumOff val="25000"/>
      </a:schemeClr>
    </cs:fontRef>
    <cs:spPr>
      <a:solidFill>
        <a:schemeClr val="bg1">
          <a:lumMod val="65000"/>
        </a:schemeClr>
      </a:solidFill>
      <a:ln>
        <a:solidFill>
          <a:schemeClr val="bg1"/>
        </a:solidFill>
      </a:ln>
    </cs:spPr>
    <cs:defRPr sz="9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cs:chartArea>
  <cs:dataLabel>
    <cs:lnRef idx="0"/>
    <cs:fillRef idx="0"/>
    <cs:effectRef idx="0"/>
    <cs:fontRef idx="minor">
      <a:schemeClr val="lt1"/>
    </cs:fontRef>
    <cs:defRPr sz="900"/>
  </cs:dataLabel>
  <cs:dataLabelCallout>
    <cs:lnRef idx="0"/>
    <cs:fillRef idx="0"/>
    <cs:effectRef idx="0"/>
    <cs:fontRef idx="minor">
      <a:schemeClr val="lt1"/>
    </cs:fontRef>
    <cs:spPr>
      <a:solidFill>
        <a:schemeClr val="dk1">
          <a:lumMod val="65000"/>
          <a:lumOff val="35000"/>
          <a:alpha val="75000"/>
        </a:schemeClr>
      </a:solidFill>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ln>
        <a:solidFill>
          <a:schemeClr val="lt1"/>
        </a:solidFill>
      </a:ln>
    </cs:spPr>
  </cs:dataPoint>
  <cs:dataPoint3D>
    <cs:lnRef idx="0"/>
    <cs:fillRef idx="0">
      <cs:styleClr val="auto"/>
    </cs:fillRef>
    <cs:effectRef idx="0"/>
    <cs:fontRef idx="minor">
      <a:schemeClr val="dk1"/>
    </cs:fontRef>
    <cs:spPr>
      <a:solidFill>
        <a:schemeClr val="ph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2857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75000"/>
            <a:lumOff val="25000"/>
          </a:schemeClr>
        </a:solidFill>
      </a:ln>
    </cs:spPr>
    <cs:defRPr sz="9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lumOff val="10000"/>
              </a:schemeClr>
            </a:gs>
            <a:gs pos="0">
              <a:schemeClr val="lt1">
                <a:lumMod val="75000"/>
                <a:alpha val="36000"/>
                <a:lumOff val="10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cs:seriesAxis>
  <cs:seriesLine>
    <cs:lnRef idx="0"/>
    <cs:fillRef idx="0"/>
    <cs:effectRef idx="0"/>
    <cs:fontRef idx="minor">
      <a:schemeClr val="dk1"/>
    </cs:fontRef>
    <cs:spPr>
      <a:ln w="9525" cap="flat">
        <a:solidFill>
          <a:schemeClr val="bg1">
            <a:lumMod val="50000"/>
          </a:schemeClr>
        </a:solidFill>
        <a:round/>
      </a:ln>
    </cs:spPr>
  </cs:seriesLine>
  <cs:title>
    <cs:lnRef idx="0"/>
    <cs:fillRef idx="0"/>
    <cs:effectRef idx="0"/>
    <cs:fontRef idx="minor">
      <a:schemeClr val="dk1">
        <a:lumMod val="75000"/>
        <a:lumOff val="25000"/>
      </a:schemeClr>
    </cs:fontRef>
    <cs:defRPr sz="1800" b="1"/>
  </cs:title>
  <cs:trendline>
    <cs:lnRef idx="0"/>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75000"/>
        <a:lumOff val="25000"/>
      </a:schemeClr>
    </cs:fontRef>
    <cs:defRPr sz="9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defRPr sz="900"/>
  </cs:valueAxis>
  <cs:wall>
    <cs:lnRef idx="0"/>
    <cs:fillRef idx="0"/>
    <cs:effectRef idx="0"/>
    <cs:fontRef idx="minor">
      <a:schemeClr val="dk1"/>
    </cs:fontRef>
  </cs:wall>
</cs:chartStyle>
</file>

<file path=ppt/charts/style1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10_E16032B9.xml><?xml version="1.0" encoding="utf-8"?>
<p188:cmLst xmlns:a="http://schemas.openxmlformats.org/drawingml/2006/main" xmlns:r="http://schemas.openxmlformats.org/officeDocument/2006/relationships" xmlns:p188="http://schemas.microsoft.com/office/powerpoint/2018/8/main">
  <p188:cm id="{F56E1832-92B6-E144-8993-776D5A38E225}" authorId="{EB6D31E3-3A7A-66E3-5A8A-C32CC4E15A7F}" status="resolved" created="2023-07-06T13:52:19.544" complete="100000">
    <pc:sldMkLst xmlns:pc="http://schemas.microsoft.com/office/powerpoint/2013/main/command">
      <pc:docMk/>
      <pc:sldMk cId="3781178041" sldId="272"/>
    </pc:sldMkLst>
    <p188:txBody>
      <a:bodyPr/>
      <a:lstStyle/>
      <a:p>
        <a:r>
          <a:rPr lang="en-US"/>
          <a:t>Smt</a:t>
        </a:r>
      </a:p>
    </p188:txBody>
  </p188:cm>
</p188:cmLst>
</file>

<file path=ppt/comments/modernComment_111_58E908AE.xml><?xml version="1.0" encoding="utf-8"?>
<p188:cmLst xmlns:a="http://schemas.openxmlformats.org/drawingml/2006/main" xmlns:r="http://schemas.openxmlformats.org/officeDocument/2006/relationships" xmlns:p188="http://schemas.microsoft.com/office/powerpoint/2018/8/main">
  <p188:cm id="{7FB61C2F-5F44-6746-A891-9C430EFAEE74}" authorId="{EB6D31E3-3A7A-66E3-5A8A-C32CC4E15A7F}" status="resolved" created="2023-07-06T13:53:23.354" complete="100000">
    <pc:sldMkLst xmlns:pc="http://schemas.microsoft.com/office/powerpoint/2013/main/command">
      <pc:docMk/>
      <pc:sldMk cId="1491667118" sldId="273"/>
    </pc:sldMkLst>
    <p188:txBody>
      <a:bodyPr/>
      <a:lstStyle/>
      <a:p>
        <a:r>
          <a:rPr lang="en-US"/>
          <a:t>Background
A bit out of the overall style</a:t>
        </a:r>
      </a:p>
    </p188:txBody>
  </p188:cm>
</p188:cmLst>
</file>

<file path=ppt/comments/modernComment_114_2A8309AB.xml><?xml version="1.0" encoding="utf-8"?>
<p188:cmLst xmlns:a="http://schemas.openxmlformats.org/drawingml/2006/main" xmlns:r="http://schemas.openxmlformats.org/officeDocument/2006/relationships" xmlns:p188="http://schemas.microsoft.com/office/powerpoint/2018/8/main">
  <p188:cm id="{800CE5F0-D4FD-EE40-A31A-84DAEB66B571}" authorId="{EB6D31E3-3A7A-66E3-5A8A-C32CC4E15A7F}" status="resolved" created="2023-07-06T13:54:40.190" complete="100000">
    <pc:sldMkLst xmlns:pc="http://schemas.microsoft.com/office/powerpoint/2013/main/command">
      <pc:docMk/>
      <pc:sldMk cId="713230763" sldId="276"/>
    </pc:sldMkLst>
    <p188:txBody>
      <a:bodyPr/>
      <a:lstStyle/>
      <a:p>
        <a:r>
          <a:rPr lang="en-US"/>
          <a:t>Colours
</a:t>
        </a:r>
      </a:p>
    </p188:txBody>
  </p188:cm>
</p188:cmLst>
</file>

<file path=ppt/drawings/drawing1.xml><?xml version="1.0" encoding="utf-8"?>
<c:userShapes xmlns:c="http://schemas.openxmlformats.org/drawingml/2006/chart">
  <cdr:relSizeAnchor xmlns:cdr="http://schemas.openxmlformats.org/drawingml/2006/chartDrawing">
    <cdr:from>
      <cdr:x>0.41684</cdr:x>
      <cdr:y>0.17507</cdr:y>
    </cdr:from>
    <cdr:to>
      <cdr:x>0.74578</cdr:x>
      <cdr:y>0.27792</cdr:y>
    </cdr:to>
    <cdr:sp macro="" textlink="">
      <cdr:nvSpPr>
        <cdr:cNvPr id="4" name="TextBox 1">
          <a:extLst xmlns:a="http://schemas.openxmlformats.org/drawingml/2006/main">
            <a:ext uri="{FF2B5EF4-FFF2-40B4-BE49-F238E27FC236}">
              <a16:creationId xmlns:a16="http://schemas.microsoft.com/office/drawing/2014/main" id="{6505625D-616F-6E0E-C8A5-A2DC9C99CD9C}"/>
            </a:ext>
          </a:extLst>
        </cdr:cNvPr>
        <cdr:cNvSpPr txBox="1"/>
      </cdr:nvSpPr>
      <cdr:spPr>
        <a:xfrm xmlns:a="http://schemas.openxmlformats.org/drawingml/2006/main">
          <a:off x="2159907" y="713852"/>
          <a:ext cx="1704436" cy="419383"/>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GB" sz="1100" b="1" dirty="0"/>
            <a:t>Average growth rate during </a:t>
          </a:r>
          <a:r>
            <a:rPr lang="en-GB" sz="1100" b="1" dirty="0">
              <a:solidFill>
                <a:schemeClr val="accent2"/>
              </a:solidFill>
            </a:rPr>
            <a:t>2011-2018</a:t>
          </a:r>
          <a:r>
            <a:rPr lang="en-GB" sz="1100" b="1" baseline="0" dirty="0">
              <a:solidFill>
                <a:schemeClr val="accent6"/>
              </a:solidFill>
            </a:rPr>
            <a:t> </a:t>
          </a:r>
          <a:r>
            <a:rPr lang="en-GB" sz="1100" b="1" dirty="0">
              <a:solidFill>
                <a:schemeClr val="accent6"/>
              </a:solidFill>
            </a:rPr>
            <a:t> </a:t>
          </a:r>
          <a:r>
            <a:rPr lang="en-GB" sz="1100" b="1" dirty="0">
              <a:solidFill>
                <a:schemeClr val="tx1"/>
              </a:solidFill>
            </a:rPr>
            <a:t>=</a:t>
          </a:r>
          <a:r>
            <a:rPr lang="en-GB" sz="1100" b="1" dirty="0">
              <a:solidFill>
                <a:schemeClr val="accent6"/>
              </a:solidFill>
            </a:rPr>
            <a:t> </a:t>
          </a:r>
          <a:r>
            <a:rPr lang="en-GB" sz="1100" b="1" dirty="0">
              <a:solidFill>
                <a:schemeClr val="accent2"/>
              </a:solidFill>
            </a:rPr>
            <a:t>5.4</a:t>
          </a:r>
        </a:p>
      </cdr:txBody>
    </cdr:sp>
  </cdr:relSizeAnchor>
  <cdr:relSizeAnchor xmlns:cdr="http://schemas.openxmlformats.org/drawingml/2006/chartDrawing">
    <cdr:from>
      <cdr:x>0.0959</cdr:x>
      <cdr:y>0.17507</cdr:y>
    </cdr:from>
    <cdr:to>
      <cdr:x>0.41929</cdr:x>
      <cdr:y>0.29825</cdr:y>
    </cdr:to>
    <cdr:sp macro="" textlink="">
      <cdr:nvSpPr>
        <cdr:cNvPr id="3" name="TextBox 2">
          <a:extLst xmlns:a="http://schemas.openxmlformats.org/drawingml/2006/main">
            <a:ext uri="{FF2B5EF4-FFF2-40B4-BE49-F238E27FC236}">
              <a16:creationId xmlns:a16="http://schemas.microsoft.com/office/drawing/2014/main" id="{3C1E6CC9-4F9E-1ECF-BF54-6E8E2D305D69}"/>
            </a:ext>
          </a:extLst>
        </cdr:cNvPr>
        <cdr:cNvSpPr txBox="1"/>
      </cdr:nvSpPr>
      <cdr:spPr>
        <a:xfrm xmlns:a="http://schemas.openxmlformats.org/drawingml/2006/main">
          <a:off x="496931" y="713852"/>
          <a:ext cx="1675677" cy="5023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GB" sz="1100" b="1" dirty="0"/>
            <a:t>Average growth rate during this period = </a:t>
          </a:r>
          <a:r>
            <a:rPr lang="en-GB" sz="1100" b="1" dirty="0">
              <a:solidFill>
                <a:schemeClr val="accent2"/>
              </a:solidFill>
            </a:rPr>
            <a:t>7.54</a:t>
          </a:r>
        </a:p>
      </cdr:txBody>
    </cdr:sp>
  </cdr:relSizeAnchor>
</c:userShapes>
</file>

<file path=ppt/drawings/drawing2.xml><?xml version="1.0" encoding="utf-8"?>
<c:userShapes xmlns:c="http://schemas.openxmlformats.org/drawingml/2006/chart">
  <cdr:relSizeAnchor xmlns:cdr="http://schemas.openxmlformats.org/drawingml/2006/chartDrawing">
    <cdr:from>
      <cdr:x>0.59952</cdr:x>
      <cdr:y>0.14308</cdr:y>
    </cdr:from>
    <cdr:to>
      <cdr:x>1</cdr:x>
      <cdr:y>0.20491</cdr:y>
    </cdr:to>
    <cdr:sp macro="" textlink="">
      <cdr:nvSpPr>
        <cdr:cNvPr id="2" name="TextBox 2">
          <a:extLst xmlns:a="http://schemas.openxmlformats.org/drawingml/2006/main">
            <a:ext uri="{FF2B5EF4-FFF2-40B4-BE49-F238E27FC236}">
              <a16:creationId xmlns:a16="http://schemas.microsoft.com/office/drawing/2014/main" id="{20D03014-D64A-1FD8-6114-EA3E80399C72}"/>
            </a:ext>
          </a:extLst>
        </cdr:cNvPr>
        <cdr:cNvSpPr txBox="1"/>
      </cdr:nvSpPr>
      <cdr:spPr>
        <a:xfrm xmlns:a="http://schemas.openxmlformats.org/drawingml/2006/main">
          <a:off x="2772319" y="572864"/>
          <a:ext cx="1851912" cy="247548"/>
        </a:xfrm>
        <a:prstGeom xmlns:a="http://schemas.openxmlformats.org/drawingml/2006/main" prst="rect">
          <a:avLst/>
        </a:prstGeom>
        <a:solidFill xmlns:a="http://schemas.openxmlformats.org/drawingml/2006/main">
          <a:schemeClr val="lt1"/>
        </a:solidFill>
        <a:ln xmlns:a="http://schemas.openxmlformats.org/drawingml/2006/main" w="9525" cmpd="sng">
          <a:no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wrap="square" rtlCol="0" anchor="t"/>
        <a:lstStyle xmlns:a="http://schemas.openxmlformats.org/drawingml/2006/main">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xmlns:a="http://schemas.openxmlformats.org/drawingml/2006/main">
          <a:pPr algn="ctr"/>
          <a:r>
            <a:rPr lang="en-GB" sz="1100" dirty="0">
              <a:latin typeface="Avenir Next" panose="020B0503020202020204" pitchFamily="34" charset="0"/>
            </a:rPr>
            <a:t>Average</a:t>
          </a:r>
          <a:r>
            <a:rPr lang="en-GB" sz="1100" baseline="0" dirty="0">
              <a:latin typeface="Avenir Next" panose="020B0503020202020204" pitchFamily="34" charset="0"/>
            </a:rPr>
            <a:t> growth rate – </a:t>
          </a:r>
          <a:r>
            <a:rPr lang="en-GB" sz="1100" dirty="0">
              <a:solidFill>
                <a:schemeClr val="accent2"/>
              </a:solidFill>
              <a:latin typeface="Avenir Next" panose="020B0503020202020204" pitchFamily="34" charset="0"/>
            </a:rPr>
            <a:t>17.48</a:t>
          </a:r>
        </a:p>
      </cdr:txBody>
    </cdr:sp>
  </cdr:relSizeAnchor>
</c:userShapes>
</file>

<file path=ppt/drawings/drawing3.xml><?xml version="1.0" encoding="utf-8"?>
<c:userShapes xmlns:c="http://schemas.openxmlformats.org/drawingml/2006/chart">
  <cdr:relSizeAnchor xmlns:cdr="http://schemas.openxmlformats.org/drawingml/2006/chartDrawing">
    <cdr:from>
      <cdr:x>0.35317</cdr:x>
      <cdr:y>0.19695</cdr:y>
    </cdr:from>
    <cdr:to>
      <cdr:x>0.81679</cdr:x>
      <cdr:y>0.2755</cdr:y>
    </cdr:to>
    <cdr:sp macro="" textlink="">
      <cdr:nvSpPr>
        <cdr:cNvPr id="2" name="TextBox 1">
          <a:extLst xmlns:a="http://schemas.openxmlformats.org/drawingml/2006/main">
            <a:ext uri="{FF2B5EF4-FFF2-40B4-BE49-F238E27FC236}">
              <a16:creationId xmlns:a16="http://schemas.microsoft.com/office/drawing/2014/main" id="{E7F3101F-2536-13DF-F8C2-07627113B744}"/>
            </a:ext>
          </a:extLst>
        </cdr:cNvPr>
        <cdr:cNvSpPr txBox="1"/>
      </cdr:nvSpPr>
      <cdr:spPr>
        <a:xfrm xmlns:a="http://schemas.openxmlformats.org/drawingml/2006/main">
          <a:off x="2195913" y="692615"/>
          <a:ext cx="2882588" cy="276242"/>
        </a:xfrm>
        <a:prstGeom xmlns:a="http://schemas.openxmlformats.org/drawingml/2006/main" prst="rect">
          <a:avLst/>
        </a:prstGeom>
        <a:solidFill xmlns:a="http://schemas.openxmlformats.org/drawingml/2006/main">
          <a:schemeClr val="lt1"/>
        </a:solidFill>
        <a:ln xmlns:a="http://schemas.openxmlformats.org/drawingml/2006/main" w="9525" cmpd="sng">
          <a:no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vertOverflow="clip" horzOverflow="clip" wrap="square" rtlCol="0" anchor="t"/>
        <a:lstStyle xmlns:a="http://schemas.openxmlformats.org/drawingml/2006/main"/>
        <a:p xmlns:a="http://schemas.openxmlformats.org/drawingml/2006/main">
          <a:pPr marL="0" marR="0" lvl="0" indent="0" algn="l" defTabSz="914400" eaLnBrk="1" fontAlgn="auto" latinLnBrk="0" hangingPunct="1">
            <a:lnSpc>
              <a:spcPct val="100000"/>
            </a:lnSpc>
            <a:spcBef>
              <a:spcPts val="0"/>
            </a:spcBef>
            <a:spcAft>
              <a:spcPts val="0"/>
            </a:spcAft>
            <a:buClrTx/>
            <a:buSzTx/>
            <a:buFontTx/>
            <a:buNone/>
            <a:tabLst/>
            <a:defRPr/>
          </a:pPr>
          <a:r>
            <a:rPr lang="en-GB" sz="1100" dirty="0"/>
            <a:t>Average growth rate during</a:t>
          </a:r>
          <a:r>
            <a:rPr lang="en-GB" sz="1100" baseline="0" dirty="0"/>
            <a:t> </a:t>
          </a:r>
          <a:r>
            <a:rPr lang="en-GB" sz="1100" baseline="0" dirty="0">
              <a:solidFill>
                <a:schemeClr val="accent2"/>
              </a:solidFill>
            </a:rPr>
            <a:t>1999-2019</a:t>
          </a:r>
          <a:r>
            <a:rPr lang="en-GB" sz="1100" baseline="0" dirty="0"/>
            <a:t> = </a:t>
          </a:r>
          <a:r>
            <a:rPr lang="en-GB" sz="1100" baseline="0" dirty="0">
              <a:solidFill>
                <a:schemeClr val="accent2"/>
              </a:solidFill>
            </a:rPr>
            <a:t>2.41</a:t>
          </a:r>
        </a:p>
        <a:p xmlns:a="http://schemas.openxmlformats.org/drawingml/2006/main">
          <a:pPr marL="0" marR="0" lvl="0" indent="0" algn="l" defTabSz="914400" eaLnBrk="1" fontAlgn="auto" latinLnBrk="0" hangingPunct="1">
            <a:lnSpc>
              <a:spcPct val="100000"/>
            </a:lnSpc>
            <a:spcBef>
              <a:spcPts val="0"/>
            </a:spcBef>
            <a:spcAft>
              <a:spcPts val="0"/>
            </a:spcAft>
            <a:buClrTx/>
            <a:buSzTx/>
            <a:buFontTx/>
            <a:buNone/>
            <a:tabLst/>
            <a:defRPr/>
          </a:pPr>
          <a:endParaRPr lang="en-GB" sz="1100" dirty="0">
            <a:solidFill>
              <a:schemeClr val="accent6"/>
            </a:solidFill>
          </a:endParaRPr>
        </a:p>
        <a:p xmlns:a="http://schemas.openxmlformats.org/drawingml/2006/main">
          <a:pPr algn="l"/>
          <a:endParaRPr lang="en-GB" sz="1100" dirty="0"/>
        </a:p>
      </cdr:txBody>
    </cdr:sp>
  </cdr:relSizeAnchor>
</c:userShapes>
</file>

<file path=ppt/drawings/drawing4.xml><?xml version="1.0" encoding="utf-8"?>
<c:userShapes xmlns:c="http://schemas.openxmlformats.org/drawingml/2006/chart">
  <cdr:relSizeAnchor xmlns:cdr="http://schemas.openxmlformats.org/drawingml/2006/chartDrawing">
    <cdr:from>
      <cdr:x>0.35317</cdr:x>
      <cdr:y>0.19695</cdr:y>
    </cdr:from>
    <cdr:to>
      <cdr:x>0.81679</cdr:x>
      <cdr:y>0.2755</cdr:y>
    </cdr:to>
    <cdr:sp macro="" textlink="">
      <cdr:nvSpPr>
        <cdr:cNvPr id="2" name="TextBox 1">
          <a:extLst xmlns:a="http://schemas.openxmlformats.org/drawingml/2006/main">
            <a:ext uri="{FF2B5EF4-FFF2-40B4-BE49-F238E27FC236}">
              <a16:creationId xmlns:a16="http://schemas.microsoft.com/office/drawing/2014/main" id="{E7F3101F-2536-13DF-F8C2-07627113B744}"/>
            </a:ext>
          </a:extLst>
        </cdr:cNvPr>
        <cdr:cNvSpPr txBox="1"/>
      </cdr:nvSpPr>
      <cdr:spPr>
        <a:xfrm xmlns:a="http://schemas.openxmlformats.org/drawingml/2006/main">
          <a:off x="2195913" y="692615"/>
          <a:ext cx="2882588" cy="276242"/>
        </a:xfrm>
        <a:prstGeom xmlns:a="http://schemas.openxmlformats.org/drawingml/2006/main" prst="rect">
          <a:avLst/>
        </a:prstGeom>
        <a:solidFill xmlns:a="http://schemas.openxmlformats.org/drawingml/2006/main">
          <a:schemeClr val="lt1"/>
        </a:solidFill>
        <a:ln xmlns:a="http://schemas.openxmlformats.org/drawingml/2006/main" w="9525" cmpd="sng">
          <a:no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vertOverflow="clip" horzOverflow="clip" wrap="square" rtlCol="0" anchor="t"/>
        <a:lstStyle xmlns:a="http://schemas.openxmlformats.org/drawingml/2006/main"/>
        <a:p xmlns:a="http://schemas.openxmlformats.org/drawingml/2006/main">
          <a:pPr marL="0" marR="0" lvl="0" indent="0" algn="l" defTabSz="914400" eaLnBrk="1" fontAlgn="auto" latinLnBrk="0" hangingPunct="1">
            <a:lnSpc>
              <a:spcPct val="100000"/>
            </a:lnSpc>
            <a:spcBef>
              <a:spcPts val="0"/>
            </a:spcBef>
            <a:spcAft>
              <a:spcPts val="0"/>
            </a:spcAft>
            <a:buClrTx/>
            <a:buSzTx/>
            <a:buFontTx/>
            <a:buNone/>
            <a:tabLst/>
            <a:defRPr/>
          </a:pPr>
          <a:r>
            <a:rPr lang="en-GB" sz="1100" dirty="0"/>
            <a:t>Average growth rate during</a:t>
          </a:r>
          <a:r>
            <a:rPr lang="en-GB" sz="1100" baseline="0" dirty="0"/>
            <a:t> </a:t>
          </a:r>
          <a:r>
            <a:rPr lang="en-GB" sz="1100" baseline="0" dirty="0">
              <a:solidFill>
                <a:schemeClr val="accent2"/>
              </a:solidFill>
            </a:rPr>
            <a:t>1999-2019</a:t>
          </a:r>
          <a:r>
            <a:rPr lang="en-GB" sz="1100" baseline="0" dirty="0"/>
            <a:t> = </a:t>
          </a:r>
          <a:r>
            <a:rPr lang="en-GB" sz="1100" baseline="0" dirty="0">
              <a:solidFill>
                <a:schemeClr val="accent2"/>
              </a:solidFill>
            </a:rPr>
            <a:t>2.41</a:t>
          </a:r>
        </a:p>
        <a:p xmlns:a="http://schemas.openxmlformats.org/drawingml/2006/main">
          <a:pPr marL="0" marR="0" lvl="0" indent="0" algn="l" defTabSz="914400" eaLnBrk="1" fontAlgn="auto" latinLnBrk="0" hangingPunct="1">
            <a:lnSpc>
              <a:spcPct val="100000"/>
            </a:lnSpc>
            <a:spcBef>
              <a:spcPts val="0"/>
            </a:spcBef>
            <a:spcAft>
              <a:spcPts val="0"/>
            </a:spcAft>
            <a:buClrTx/>
            <a:buSzTx/>
            <a:buFontTx/>
            <a:buNone/>
            <a:tabLst/>
            <a:defRPr/>
          </a:pPr>
          <a:endParaRPr lang="en-GB" sz="1100" dirty="0">
            <a:solidFill>
              <a:schemeClr val="accent6"/>
            </a:solidFill>
          </a:endParaRPr>
        </a:p>
        <a:p xmlns:a="http://schemas.openxmlformats.org/drawingml/2006/main">
          <a:pPr algn="l"/>
          <a:endParaRPr lang="en-GB" sz="1100" dirty="0"/>
        </a:p>
      </cdr:txBody>
    </cdr:sp>
  </cdr:relSizeAnchor>
</c:userShapes>
</file>

<file path=ppt/drawings/drawing5.xml><?xml version="1.0" encoding="utf-8"?>
<c:userShapes xmlns:c="http://schemas.openxmlformats.org/drawingml/2006/chart">
  <cdr:relSizeAnchor xmlns:cdr="http://schemas.openxmlformats.org/drawingml/2006/chartDrawing">
    <cdr:from>
      <cdr:x>0.26682</cdr:x>
      <cdr:y>0.12742</cdr:y>
    </cdr:from>
    <cdr:to>
      <cdr:x>0.73318</cdr:x>
      <cdr:y>0.18278</cdr:y>
    </cdr:to>
    <cdr:sp macro="" textlink="">
      <cdr:nvSpPr>
        <cdr:cNvPr id="2" name="TextBox 1">
          <a:extLst xmlns:a="http://schemas.openxmlformats.org/drawingml/2006/main">
            <a:ext uri="{FF2B5EF4-FFF2-40B4-BE49-F238E27FC236}">
              <a16:creationId xmlns:a16="http://schemas.microsoft.com/office/drawing/2014/main" id="{B8640CD8-4CA1-6CF0-89BB-75724828802B}"/>
            </a:ext>
          </a:extLst>
        </cdr:cNvPr>
        <cdr:cNvSpPr txBox="1"/>
      </cdr:nvSpPr>
      <cdr:spPr>
        <a:xfrm xmlns:a="http://schemas.openxmlformats.org/drawingml/2006/main">
          <a:off x="1750858" y="450624"/>
          <a:ext cx="3060119" cy="19578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GB" sz="1100" dirty="0"/>
            <a:t>Average growth rate during </a:t>
          </a:r>
          <a:r>
            <a:rPr lang="en-GB" sz="1100" dirty="0">
              <a:solidFill>
                <a:schemeClr val="accent2"/>
              </a:solidFill>
            </a:rPr>
            <a:t>2003-2021</a:t>
          </a:r>
          <a:r>
            <a:rPr lang="en-GB" sz="1100" dirty="0"/>
            <a:t> = </a:t>
          </a:r>
          <a:r>
            <a:rPr lang="en-GB" sz="1100" dirty="0">
              <a:solidFill>
                <a:schemeClr val="accent2"/>
              </a:solidFill>
            </a:rPr>
            <a:t>0.54 %</a:t>
          </a:r>
          <a:r>
            <a:rPr lang="en-GB" sz="1100" baseline="0" dirty="0">
              <a:solidFill>
                <a:schemeClr val="accent6"/>
              </a:solidFill>
            </a:rPr>
            <a:t> </a:t>
          </a:r>
          <a:endParaRPr lang="en-GB" sz="1100" dirty="0">
            <a:solidFill>
              <a:schemeClr val="accent6"/>
            </a:solidFill>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0.05017</cdr:x>
      <cdr:y>0.18609</cdr:y>
    </cdr:from>
    <cdr:to>
      <cdr:x>0.64738</cdr:x>
      <cdr:y>0.28354</cdr:y>
    </cdr:to>
    <cdr:sp macro="" textlink="">
      <cdr:nvSpPr>
        <cdr:cNvPr id="2" name="TextBox 1">
          <a:extLst xmlns:a="http://schemas.openxmlformats.org/drawingml/2006/main">
            <a:ext uri="{FF2B5EF4-FFF2-40B4-BE49-F238E27FC236}">
              <a16:creationId xmlns:a16="http://schemas.microsoft.com/office/drawing/2014/main" id="{DA8D9F9B-6F94-BE24-7D33-716FE2F03112}"/>
            </a:ext>
          </a:extLst>
        </cdr:cNvPr>
        <cdr:cNvSpPr txBox="1"/>
      </cdr:nvSpPr>
      <cdr:spPr>
        <a:xfrm xmlns:a="http://schemas.openxmlformats.org/drawingml/2006/main">
          <a:off x="266994" y="731534"/>
          <a:ext cx="3178263" cy="38307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GB" sz="1100" dirty="0"/>
            <a:t>Average</a:t>
          </a:r>
          <a:r>
            <a:rPr lang="en-GB" sz="1100" baseline="0" dirty="0"/>
            <a:t> growth rate during </a:t>
          </a:r>
          <a:r>
            <a:rPr lang="en-GB" sz="1100" baseline="0" dirty="0">
              <a:solidFill>
                <a:schemeClr val="accent2"/>
              </a:solidFill>
            </a:rPr>
            <a:t>2011-2022</a:t>
          </a:r>
          <a:r>
            <a:rPr lang="en-GB" sz="1100" baseline="0" dirty="0"/>
            <a:t> = </a:t>
          </a:r>
          <a:r>
            <a:rPr lang="en-GB" sz="1100" baseline="0" dirty="0">
              <a:solidFill>
                <a:schemeClr val="accent2"/>
              </a:solidFill>
            </a:rPr>
            <a:t>5.86</a:t>
          </a:r>
          <a:endParaRPr lang="en-GB" sz="1100" dirty="0">
            <a:solidFill>
              <a:schemeClr val="accent2"/>
            </a:solidFill>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02C1A1-77AF-4F79-B823-88D6C0F85A93}" type="datetimeFigureOut">
              <a:t>7/7/2023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750BEF-81E7-4FE7-A3E5-0CF4CBC55386}" type="slidenum">
              <a:t>‹#›</a:t>
            </a:fld>
            <a:endParaRPr lang="en-US"/>
          </a:p>
        </p:txBody>
      </p:sp>
    </p:spTree>
    <p:extLst>
      <p:ext uri="{BB962C8B-B14F-4D97-AF65-F5344CB8AC3E}">
        <p14:creationId xmlns:p14="http://schemas.microsoft.com/office/powerpoint/2010/main" val="3720616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a:t>Steadiest and fastest growing sub-sector of advertising</a:t>
            </a:r>
          </a:p>
          <a:p>
            <a:pPr marL="285750" indent="-285750">
              <a:buFont typeface="Arial" panose="020B0604020202020204" pitchFamily="34" charset="0"/>
              <a:buChar char="•"/>
            </a:pPr>
            <a:r>
              <a:rPr lang="en-US"/>
              <a:t>Print advertisement will be shrinking with each year</a:t>
            </a:r>
          </a:p>
          <a:p>
            <a:endParaRPr lang="en-US"/>
          </a:p>
        </p:txBody>
      </p:sp>
      <p:sp>
        <p:nvSpPr>
          <p:cNvPr id="4" name="Slide Number Placeholder 3"/>
          <p:cNvSpPr>
            <a:spLocks noGrp="1"/>
          </p:cNvSpPr>
          <p:nvPr>
            <p:ph type="sldNum" sz="quarter" idx="5"/>
          </p:nvPr>
        </p:nvSpPr>
        <p:spPr/>
        <p:txBody>
          <a:bodyPr/>
          <a:lstStyle/>
          <a:p>
            <a:fld id="{B1750BEF-81E7-4FE7-A3E5-0CF4CBC55386}" type="slidenum">
              <a:rPr lang="en-GB" smtClean="0"/>
              <a:t>3</a:t>
            </a:fld>
            <a:endParaRPr lang="en-GB"/>
          </a:p>
        </p:txBody>
      </p:sp>
    </p:spTree>
    <p:extLst>
      <p:ext uri="{BB962C8B-B14F-4D97-AF65-F5344CB8AC3E}">
        <p14:creationId xmlns:p14="http://schemas.microsoft.com/office/powerpoint/2010/main" val="2590669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Fast Moving consumer goods</a:t>
            </a:r>
          </a:p>
        </p:txBody>
      </p:sp>
      <p:sp>
        <p:nvSpPr>
          <p:cNvPr id="4" name="Slide Number Placeholder 3"/>
          <p:cNvSpPr>
            <a:spLocks noGrp="1"/>
          </p:cNvSpPr>
          <p:nvPr>
            <p:ph type="sldNum" sz="quarter" idx="5"/>
          </p:nvPr>
        </p:nvSpPr>
        <p:spPr/>
        <p:txBody>
          <a:bodyPr/>
          <a:lstStyle/>
          <a:p>
            <a:fld id="{B1750BEF-81E7-4FE7-A3E5-0CF4CBC55386}" type="slidenum">
              <a:rPr lang="en-GB" smtClean="0"/>
              <a:t>4</a:t>
            </a:fld>
            <a:endParaRPr lang="en-GB"/>
          </a:p>
        </p:txBody>
      </p:sp>
    </p:spTree>
    <p:extLst>
      <p:ext uri="{BB962C8B-B14F-4D97-AF65-F5344CB8AC3E}">
        <p14:creationId xmlns:p14="http://schemas.microsoft.com/office/powerpoint/2010/main" val="12178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Based on the latest projections, advertising spending in the United Kingdom is set to reach 39.4 billion British pounds in 2022. The source further estimated that the spending would surpass 48 billion pounds by 2027.</a:t>
            </a:r>
          </a:p>
          <a:p>
            <a:endParaRPr lang="en-US"/>
          </a:p>
          <a:p>
            <a:r>
              <a:rPr lang="en-US"/>
              <a:t>The UK is one of the world’s leading advertising markets , but even so, the region’s ad industry has experienced major disruptions following the onset of the pandemic. Revenue growth slowed for the first time in many years as many companies scaled down their budgets and reduced advertising activities amid the uncertainties of the time. This weariness subsided as early as 2021 when the industry made a full financial recovery – an upward trend that was also mirrored on a global scale. Between 2020 and 2021, global ad revenue jumped from 621 to over 772 billion U.S. dollars and visibly surpassed pre-pandemic levels. </a:t>
            </a:r>
          </a:p>
          <a:p>
            <a:endParaRPr lang="en-US"/>
          </a:p>
          <a:p>
            <a:endParaRPr lang="en-US"/>
          </a:p>
          <a:p>
            <a:r>
              <a:rPr lang="en-US"/>
              <a:t>Advertisers across the UK no longer place all their bets on traditional media formats as consumers gradually turn to digital channels for information, communication, and entertainment. The internet has long overtaken television as the leading advertising medium in the UK , and based on the latest data, digital ad spending reached an all-time high of around 28 billion British pounds in 2021. Television and video, for example, drew less than five billion that year. And even though there has been an uplift in spending on TV commercials in 2021, other legacy media such as print newspapers and magazines continue to attract smaller investments and brand</a:t>
            </a:r>
          </a:p>
        </p:txBody>
      </p:sp>
      <p:sp>
        <p:nvSpPr>
          <p:cNvPr id="4" name="Slide Number Placeholder 3"/>
          <p:cNvSpPr>
            <a:spLocks noGrp="1"/>
          </p:cNvSpPr>
          <p:nvPr>
            <p:ph type="sldNum" sz="quarter" idx="5"/>
          </p:nvPr>
        </p:nvSpPr>
        <p:spPr/>
        <p:txBody>
          <a:bodyPr/>
          <a:lstStyle/>
          <a:p>
            <a:fld id="{B1750BEF-81E7-4FE7-A3E5-0CF4CBC55386}" type="slidenum">
              <a:rPr lang="en-GB" smtClean="0"/>
              <a:t>7</a:t>
            </a:fld>
            <a:endParaRPr lang="en-GB"/>
          </a:p>
        </p:txBody>
      </p:sp>
    </p:spTree>
    <p:extLst>
      <p:ext uri="{BB962C8B-B14F-4D97-AF65-F5344CB8AC3E}">
        <p14:creationId xmlns:p14="http://schemas.microsoft.com/office/powerpoint/2010/main" val="1854331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Accroding</a:t>
            </a:r>
            <a:r>
              <a:rPr lang="en-US"/>
              <a:t> to BFI yearbook of 2021 full report </a:t>
            </a:r>
          </a:p>
          <a:p>
            <a:endParaRPr lang="en-US"/>
          </a:p>
          <a:p>
            <a:pPr marL="214884" indent="-214884" defTabSz="859536">
              <a:spcBef>
                <a:spcPts val="940"/>
              </a:spcBef>
            </a:pPr>
            <a:r>
              <a:rPr lang="en-GB" sz="1200" kern="1200">
                <a:solidFill>
                  <a:schemeClr val="tx1"/>
                </a:solidFill>
                <a:latin typeface="Avenir Next" panose="020B0503020202020204" pitchFamily="34" charset="0"/>
                <a:ea typeface="+mn-ea"/>
                <a:cs typeface="+mn-cs"/>
              </a:rPr>
              <a:t>The industry's direct contribution to GDP was £8 billion in 2019, representing 7% of the GDP of all creative industries.</a:t>
            </a:r>
          </a:p>
          <a:p>
            <a:pPr marL="214884" indent="-214884" defTabSz="859536">
              <a:spcBef>
                <a:spcPts val="940"/>
              </a:spcBef>
            </a:pPr>
            <a:endParaRPr lang="en-GB" sz="1200" kern="1200">
              <a:solidFill>
                <a:schemeClr val="tx1"/>
              </a:solidFill>
              <a:latin typeface="Avenir Next" panose="020B0503020202020204" pitchFamily="34" charset="0"/>
              <a:ea typeface="+mn-ea"/>
              <a:cs typeface="+mn-cs"/>
            </a:endParaRPr>
          </a:p>
          <a:p>
            <a:pPr marL="214884" indent="-214884" defTabSz="859536">
              <a:spcBef>
                <a:spcPts val="940"/>
              </a:spcBef>
            </a:pPr>
            <a:r>
              <a:rPr lang="en-GB" sz="1200" kern="1200">
                <a:solidFill>
                  <a:schemeClr val="tx1"/>
                </a:solidFill>
                <a:latin typeface="Avenir Next" panose="020B0503020202020204" pitchFamily="34" charset="0"/>
                <a:ea typeface="+mn-ea"/>
                <a:cs typeface="+mn-cs"/>
              </a:rPr>
              <a:t>The UK film industry exported £2.3 billion worth of services in 2019, with £1.7 billion in royalties and £600 million in </a:t>
            </a:r>
            <a:r>
              <a:rPr lang="en-GB" sz="1200" kern="1200" err="1">
                <a:solidFill>
                  <a:schemeClr val="tx1"/>
                </a:solidFill>
                <a:latin typeface="Avenir Next" panose="020B0503020202020204" pitchFamily="34" charset="0"/>
                <a:ea typeface="+mn-ea"/>
                <a:cs typeface="+mn-cs"/>
              </a:rPr>
              <a:t>audiovisual</a:t>
            </a:r>
            <a:r>
              <a:rPr lang="en-GB" sz="1200" kern="1200">
                <a:solidFill>
                  <a:schemeClr val="tx1"/>
                </a:solidFill>
                <a:latin typeface="Avenir Next" panose="020B0503020202020204" pitchFamily="34" charset="0"/>
                <a:ea typeface="+mn-ea"/>
                <a:cs typeface="+mn-cs"/>
              </a:rPr>
              <a:t> and related services.</a:t>
            </a:r>
          </a:p>
          <a:p>
            <a:pPr marL="214884" indent="-214884" defTabSz="859536">
              <a:spcBef>
                <a:spcPts val="940"/>
              </a:spcBef>
            </a:pPr>
            <a:endParaRPr lang="en-GB" sz="1200" kern="1200">
              <a:solidFill>
                <a:schemeClr val="tx1"/>
              </a:solidFill>
              <a:latin typeface="Avenir Next" panose="020B0503020202020204" pitchFamily="34" charset="0"/>
              <a:ea typeface="+mn-ea"/>
              <a:cs typeface="+mn-cs"/>
            </a:endParaRPr>
          </a:p>
          <a:p>
            <a:pPr marL="214884" marR="0" lvl="0" indent="-214884" algn="l" defTabSz="859536" rtl="0" eaLnBrk="1" fontAlgn="auto" latinLnBrk="0" hangingPunct="1">
              <a:lnSpc>
                <a:spcPct val="100000"/>
              </a:lnSpc>
              <a:spcBef>
                <a:spcPts val="940"/>
              </a:spcBef>
              <a:spcAft>
                <a:spcPts val="0"/>
              </a:spcAft>
              <a:buClrTx/>
              <a:buSzTx/>
              <a:buFontTx/>
              <a:buNone/>
              <a:tabLst/>
              <a:defRPr/>
            </a:pPr>
            <a:r>
              <a:rPr lang="en-GB" sz="1200" kern="1200">
                <a:solidFill>
                  <a:schemeClr val="tx1"/>
                </a:solidFill>
                <a:latin typeface="Avenir Next" panose="020B0503020202020204" pitchFamily="34" charset="0"/>
                <a:ea typeface="+mn-ea"/>
                <a:cs typeface="+mn-cs"/>
              </a:rPr>
              <a:t>The European Union was the largest export destination for UK film, accounting for 43% of exports, followed by the USA at 24%.</a:t>
            </a:r>
          </a:p>
          <a:p>
            <a:pPr marL="214884" indent="-214884" defTabSz="859536">
              <a:spcBef>
                <a:spcPts val="940"/>
              </a:spcBef>
            </a:pPr>
            <a:endParaRPr lang="en-GB" sz="1200" kern="1200">
              <a:solidFill>
                <a:schemeClr val="tx1"/>
              </a:solidFill>
              <a:latin typeface="Avenir Next" panose="020B0503020202020204" pitchFamily="34" charset="0"/>
              <a:ea typeface="+mn-ea"/>
              <a:cs typeface="+mn-cs"/>
            </a:endParaRPr>
          </a:p>
          <a:p>
            <a:pPr marL="214884" indent="-214884" defTabSz="859536">
              <a:spcBef>
                <a:spcPts val="940"/>
              </a:spcBef>
            </a:pPr>
            <a:endParaRPr lang="en-GB" sz="1200" kern="1200">
              <a:solidFill>
                <a:schemeClr val="tx1"/>
              </a:solidFill>
              <a:latin typeface="Avenir Next" panose="020B0503020202020204" pitchFamily="34" charset="0"/>
              <a:ea typeface="+mn-ea"/>
              <a:cs typeface="+mn-cs"/>
            </a:endParaRPr>
          </a:p>
          <a:p>
            <a:pPr marL="214884" indent="-214884" defTabSz="859536">
              <a:spcBef>
                <a:spcPts val="940"/>
              </a:spcBef>
            </a:pPr>
            <a:r>
              <a:rPr lang="en-GB" sz="1200" kern="1200">
                <a:solidFill>
                  <a:schemeClr val="tx1"/>
                </a:solidFill>
                <a:latin typeface="Avenir Next" panose="020B0503020202020204" pitchFamily="34" charset="0"/>
                <a:ea typeface="+mn-ea"/>
                <a:cs typeface="+mn-cs"/>
              </a:rPr>
              <a:t>The UK film trade surplus in 2019 was £1.28 billion.</a:t>
            </a:r>
          </a:p>
          <a:p>
            <a:endParaRPr lang="en-US"/>
          </a:p>
        </p:txBody>
      </p:sp>
      <p:sp>
        <p:nvSpPr>
          <p:cNvPr id="4" name="Slide Number Placeholder 3"/>
          <p:cNvSpPr>
            <a:spLocks noGrp="1"/>
          </p:cNvSpPr>
          <p:nvPr>
            <p:ph type="sldNum" sz="quarter" idx="5"/>
          </p:nvPr>
        </p:nvSpPr>
        <p:spPr/>
        <p:txBody>
          <a:bodyPr/>
          <a:lstStyle/>
          <a:p>
            <a:fld id="{B1750BEF-81E7-4FE7-A3E5-0CF4CBC55386}" type="slidenum">
              <a:rPr lang="en-GB" smtClean="0"/>
              <a:t>9</a:t>
            </a:fld>
            <a:endParaRPr lang="en-GB"/>
          </a:p>
        </p:txBody>
      </p:sp>
    </p:spTree>
    <p:extLst>
      <p:ext uri="{BB962C8B-B14F-4D97-AF65-F5344CB8AC3E}">
        <p14:creationId xmlns:p14="http://schemas.microsoft.com/office/powerpoint/2010/main" val="248952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a:solidFill>
                  <a:srgbClr val="FFFFFF"/>
                </a:solidFill>
                <a:effectLst/>
                <a:latin typeface="Roboto" panose="020F0502020204030204" pitchFamily="34" charset="0"/>
              </a:rPr>
              <a:t>bfi-yeabook-2021-uk-market-as-a-whole-full-report-revised</a:t>
            </a:r>
            <a:endParaRPr lang="en-US">
              <a:ea typeface="Calibri"/>
              <a:cs typeface="Calibri"/>
            </a:endParaRPr>
          </a:p>
        </p:txBody>
      </p:sp>
      <p:sp>
        <p:nvSpPr>
          <p:cNvPr id="4" name="Slide Number Placeholder 3"/>
          <p:cNvSpPr>
            <a:spLocks noGrp="1"/>
          </p:cNvSpPr>
          <p:nvPr>
            <p:ph type="sldNum" sz="quarter" idx="5"/>
          </p:nvPr>
        </p:nvSpPr>
        <p:spPr/>
        <p:txBody>
          <a:bodyPr/>
          <a:lstStyle/>
          <a:p>
            <a:fld id="{B1750BEF-81E7-4FE7-A3E5-0CF4CBC55386}" type="slidenum">
              <a:t>13</a:t>
            </a:fld>
            <a:endParaRPr lang="en-US"/>
          </a:p>
        </p:txBody>
      </p:sp>
    </p:spTree>
    <p:extLst>
      <p:ext uri="{BB962C8B-B14F-4D97-AF65-F5344CB8AC3E}">
        <p14:creationId xmlns:p14="http://schemas.microsoft.com/office/powerpoint/2010/main" val="3640277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123456</a:t>
            </a:r>
          </a:p>
        </p:txBody>
      </p:sp>
      <p:sp>
        <p:nvSpPr>
          <p:cNvPr id="4" name="Slide Number Placeholder 3"/>
          <p:cNvSpPr>
            <a:spLocks noGrp="1"/>
          </p:cNvSpPr>
          <p:nvPr>
            <p:ph type="sldNum" sz="quarter" idx="5"/>
          </p:nvPr>
        </p:nvSpPr>
        <p:spPr/>
        <p:txBody>
          <a:bodyPr/>
          <a:lstStyle/>
          <a:p>
            <a:fld id="{B1750BEF-81E7-4FE7-A3E5-0CF4CBC55386}" type="slidenum">
              <a:t>14</a:t>
            </a:fld>
            <a:endParaRPr lang="en-US"/>
          </a:p>
        </p:txBody>
      </p:sp>
    </p:spTree>
    <p:extLst>
      <p:ext uri="{BB962C8B-B14F-4D97-AF65-F5344CB8AC3E}">
        <p14:creationId xmlns:p14="http://schemas.microsoft.com/office/powerpoint/2010/main" val="30173097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Physical average decline rate -10 %</a:t>
            </a:r>
          </a:p>
          <a:p>
            <a:r>
              <a:rPr lang="en-US"/>
              <a:t>Digital average growth rate 26</a:t>
            </a:r>
          </a:p>
        </p:txBody>
      </p:sp>
      <p:sp>
        <p:nvSpPr>
          <p:cNvPr id="4" name="Slide Number Placeholder 3"/>
          <p:cNvSpPr>
            <a:spLocks noGrp="1"/>
          </p:cNvSpPr>
          <p:nvPr>
            <p:ph type="sldNum" sz="quarter" idx="5"/>
          </p:nvPr>
        </p:nvSpPr>
        <p:spPr/>
        <p:txBody>
          <a:bodyPr/>
          <a:lstStyle/>
          <a:p>
            <a:fld id="{B1750BEF-81E7-4FE7-A3E5-0CF4CBC55386}" type="slidenum">
              <a:rPr lang="en-GB" smtClean="0"/>
              <a:t>19</a:t>
            </a:fld>
            <a:endParaRPr lang="en-GB"/>
          </a:p>
        </p:txBody>
      </p:sp>
    </p:spTree>
    <p:extLst>
      <p:ext uri="{BB962C8B-B14F-4D97-AF65-F5344CB8AC3E}">
        <p14:creationId xmlns:p14="http://schemas.microsoft.com/office/powerpoint/2010/main" val="2920487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Online dominance: The industry has witnessed a substantial increase in online revenue share, surpassing offline sales, indicating the growing preference for online apparel shopping.</a:t>
            </a:r>
            <a:endParaRPr lang="en-US" b="1">
              <a:cs typeface="Calibri"/>
            </a:endParaRPr>
          </a:p>
          <a:p>
            <a:r>
              <a:rPr lang="en-US" b="1"/>
              <a:t>Fluctuating revenue growth: While the industry experienced fluctuations in revenue growth rates, the overall trend demonstrates a positive trajectory, with recovery after the decline in 2020.</a:t>
            </a:r>
            <a:endParaRPr lang="en-US" b="1">
              <a:cs typeface="Calibri"/>
            </a:endParaRPr>
          </a:p>
          <a:p>
            <a:r>
              <a:rPr lang="en-US" b="1"/>
              <a:t>Women's apparel dominance: Women's apparel remains the leading category in terms of revenue, but men's and children's apparel segments also show steady growth, presenting opportunities for expansion.</a:t>
            </a:r>
            <a:endParaRPr lang="en-US" b="1">
              <a:cs typeface="Calibri"/>
            </a:endParaRPr>
          </a:p>
          <a:p>
            <a:r>
              <a:rPr lang="en-US"/>
              <a:t>Consumer spending resilience: Consumer spending on clothing and footwear has shown overall growth, with occasional dips influenced by economic downturns and the impact of the COVID-19 pandemic.</a:t>
            </a:r>
            <a:endParaRPr lang="en-US">
              <a:cs typeface="Calibri"/>
            </a:endParaRPr>
          </a:p>
          <a:p>
            <a:r>
              <a:rPr lang="en-US"/>
              <a:t>Importance of adaptation: Businesses should adapt to changing consumer behavior and market trends, emphasizing online presence and customer-centric strategies to leverage the industry's growth potential.</a:t>
            </a:r>
            <a:endParaRPr lang="en-US">
              <a:cs typeface="Calibri"/>
            </a:endParaRPr>
          </a:p>
          <a:p>
            <a:r>
              <a:rPr lang="en-US" b="1"/>
              <a:t>The increased spending on digital static display advertising aligns with the growth of online apparel revenue seen in the overall revenue data. The shift towards online sales is likely supported by increased digital advertising efforts. crucial recommendation  to emphasize is the importance of understanding and adapting to consumer preferences. The surge in online revenue share percentages, particularly in the apparel industry, indicates a clear shift towards online shopping. To capitalize on this trend, it is essential for authorities to foster and nurture the online market, paving the way for exponential growth in the apparel sector and the wider fashion industry.</a:t>
            </a:r>
            <a:endParaRPr lang="en-US" b="1">
              <a:cs typeface="Calibri"/>
            </a:endParaRPr>
          </a:p>
          <a:p>
            <a:endParaRPr lang="en-US" b="1">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B1750BEF-81E7-4FE7-A3E5-0CF4CBC55386}" type="slidenum">
              <a:rPr lang="en-US"/>
              <a:t>32</a:t>
            </a:fld>
            <a:endParaRPr lang="en-US"/>
          </a:p>
        </p:txBody>
      </p:sp>
    </p:spTree>
    <p:extLst>
      <p:ext uri="{BB962C8B-B14F-4D97-AF65-F5344CB8AC3E}">
        <p14:creationId xmlns:p14="http://schemas.microsoft.com/office/powerpoint/2010/main" val="39443248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b="1"/>
              <a:t>The apparel industry in the UK witnessed a gradual decrease in revenue over the years, reaching its lowest point in 2020 at 53.22 billion GBP. </a:t>
            </a:r>
          </a:p>
          <a:p>
            <a:pPr marL="285750" indent="-285750">
              <a:buFont typeface="Arial"/>
              <a:buChar char="•"/>
            </a:pPr>
            <a:r>
              <a:rPr lang="en-US"/>
              <a:t>However, a positive trend emerged post-2020, driven primarily by the increasing adoption of online apparel shopping. This shift to online platforms played a significant role in the industry's resurgence. </a:t>
            </a:r>
            <a:endParaRPr lang="en-US">
              <a:cs typeface="Calibri"/>
            </a:endParaRPr>
          </a:p>
          <a:p>
            <a:pPr marL="285750" indent="-285750">
              <a:buFont typeface="Arial"/>
              <a:buChar char="•"/>
            </a:pPr>
            <a:r>
              <a:rPr lang="en-US"/>
              <a:t>Notably, the industry experienced a slight decline in revenue in 2022, which can be attributed to factors such as inflation and high living costs. Nevertheless, these challenges did not hinder the overall growth trajectory of the apparel sector. </a:t>
            </a:r>
            <a:endParaRPr lang="en-US">
              <a:cs typeface="Calibri"/>
            </a:endParaRPr>
          </a:p>
          <a:p>
            <a:pPr marL="285750" indent="-285750">
              <a:buFont typeface="Arial"/>
              <a:buChar char="•"/>
            </a:pPr>
            <a:r>
              <a:rPr lang="en-US"/>
              <a:t>Despite the temporary setback, the apparel industry demonstrated a consistent recovery after the COVID-19 pandemic and is expected to sustain its growth momentum in the coming years.</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B1750BEF-81E7-4FE7-A3E5-0CF4CBC55386}" type="slidenum">
              <a:rPr lang="en-US"/>
              <a:t>33</a:t>
            </a:fld>
            <a:endParaRPr lang="en-US"/>
          </a:p>
        </p:txBody>
      </p:sp>
    </p:spTree>
    <p:extLst>
      <p:ext uri="{BB962C8B-B14F-4D97-AF65-F5344CB8AC3E}">
        <p14:creationId xmlns:p14="http://schemas.microsoft.com/office/powerpoint/2010/main" val="4097456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b="1"/>
              <a:t>Shifting Consumer Behavior</a:t>
            </a:r>
            <a:r>
              <a:rPr lang="en-US"/>
              <a:t>: There is a noticeable trend of increasing online revenue share and a corresponding decline in offline revenue share over the years. This indicates a significant shift in consumer behavior towards online shopping for apparel. </a:t>
            </a:r>
          </a:p>
          <a:p>
            <a:pPr marL="285750" indent="-285750">
              <a:buFont typeface="Arial"/>
              <a:buChar char="•"/>
            </a:pPr>
            <a:r>
              <a:rPr lang="en-US"/>
              <a:t>However, s</a:t>
            </a:r>
            <a:r>
              <a:rPr lang="en-US" b="1"/>
              <a:t>tarting from 2020, online revenue surpasses offline revenue, indicating the increasing dominance of online channels in the apparel industry. </a:t>
            </a:r>
            <a:endParaRPr lang="en-US"/>
          </a:p>
          <a:p>
            <a:pPr marL="285750" indent="-285750">
              <a:buFont typeface="Arial"/>
              <a:buChar char="•"/>
            </a:pPr>
            <a:endParaRPr lang="en-US">
              <a:cs typeface="Calibri"/>
            </a:endParaRPr>
          </a:p>
          <a:p>
            <a:pPr marL="285750" indent="-285750">
              <a:buFont typeface="Arial"/>
              <a:buChar char="•"/>
            </a:pPr>
            <a:r>
              <a:rPr lang="en-US"/>
              <a:t>Online Dominance: The online revenue share has consistently been lower than offline revenue share in the earlier years (2017-2019). Accelerated Online Growth: The online revenue share experiences substantial growth from 2017 to 2021, demonstrating an upward trajectory. This suggests that consumers have been increasingly embracing online platforms for apparel purchases, and the growth is expected to continue in the coming years. </a:t>
            </a:r>
            <a:endParaRPr lang="en-US">
              <a:cs typeface="Calibri"/>
            </a:endParaRPr>
          </a:p>
          <a:p>
            <a:pPr marL="285750" indent="-285750">
              <a:buFont typeface="Arial"/>
              <a:buChar char="•"/>
            </a:pPr>
            <a:r>
              <a:rPr lang="en-US"/>
              <a:t>Offline Revenue Decline: Conversely, the offline revenue share experiences a decline over the years. This decline can be attributed to various factors such as the convenience of online shopping, the proliferation of e-commerce platforms, and changes in consumer preferences. </a:t>
            </a:r>
            <a:endParaRPr lang="en-US">
              <a:cs typeface="Calibri"/>
            </a:endParaRPr>
          </a:p>
          <a:p>
            <a:pPr marL="285750" indent="-285750">
              <a:buFont typeface="Arial"/>
              <a:buChar char="•"/>
            </a:pPr>
            <a:r>
              <a:rPr lang="en-US"/>
              <a:t>Future Outlook: Looking ahead, the data indicates a continued growth of online revenue share and a further decline in offline revenue share. By 2025, online revenue is projected to account for the majority of the apparel industry's revenue, with offline sales becoming increasingly marginalized.</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B1750BEF-81E7-4FE7-A3E5-0CF4CBC55386}" type="slidenum">
              <a:rPr lang="en-US"/>
              <a:t>34</a:t>
            </a:fld>
            <a:endParaRPr lang="en-US"/>
          </a:p>
        </p:txBody>
      </p:sp>
    </p:spTree>
    <p:extLst>
      <p:ext uri="{BB962C8B-B14F-4D97-AF65-F5344CB8AC3E}">
        <p14:creationId xmlns:p14="http://schemas.microsoft.com/office/powerpoint/2010/main" val="10044572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a:t>Women's Apparel Dominance: Women's apparel consistently has the highest revenue among the three categories throughout the period, indicating its dominance in the UK apparel market. </a:t>
            </a:r>
          </a:p>
          <a:p>
            <a:pPr marL="285750" indent="-285750">
              <a:buFont typeface="Arial"/>
              <a:buChar char="•"/>
            </a:pPr>
            <a:r>
              <a:rPr lang="en-US"/>
              <a:t>Men's and Children's Apparel Growth: While women's apparel remains the leading category, both men's and children's apparel show a steady growth trend over the years, reflecting increasing consumer spending in these segments. </a:t>
            </a:r>
            <a:endParaRPr lang="en-US">
              <a:cs typeface="Calibri"/>
            </a:endParaRPr>
          </a:p>
          <a:p>
            <a:pPr marL="285750" indent="-285750">
              <a:buFont typeface="Arial"/>
              <a:buChar char="•"/>
            </a:pPr>
            <a:r>
              <a:rPr lang="en-US"/>
              <a:t>Dip in 2020: The year 2020 witnessed a decline in revenue across all three apparel categories, likely due to the impact of the COVID-19 pandemic, which resulted in reduced consumer spending and temporary store closures. </a:t>
            </a:r>
            <a:endParaRPr lang="en-US">
              <a:cs typeface="Calibri"/>
            </a:endParaRPr>
          </a:p>
          <a:p>
            <a:pPr marL="285750" indent="-285750">
              <a:buFont typeface="Arial"/>
              <a:buChar char="•"/>
            </a:pPr>
            <a:r>
              <a:rPr lang="en-US"/>
              <a:t>Recovery and Future Growth: The data suggests a recovery in revenue for all three categories in 2021 and projected growth in subsequent years (2022-2027). This indicates a positive outlook for the UK apparel market as consumer confidence and spending rebound. </a:t>
            </a:r>
            <a:endParaRPr lang="en-US">
              <a:cs typeface="Calibri"/>
            </a:endParaRPr>
          </a:p>
          <a:p>
            <a:pPr marL="285750" indent="-285750">
              <a:buFont typeface="Arial"/>
              <a:buChar char="•"/>
            </a:pPr>
            <a:r>
              <a:rPr lang="en-US"/>
              <a:t>Overall Market Growth: Despite fluctuations, the apparel market in the UK shows an overall growth trend, with projected revenue increases across all three categories in the forecasted years (2023-2027). This indicates a favorable market environment for the apparel industry.</a:t>
            </a:r>
            <a:endParaRPr lang="en-US">
              <a:cs typeface="Calibri"/>
            </a:endParaRPr>
          </a:p>
          <a:p>
            <a:endParaRPr lang="en-US">
              <a:cs typeface="Calibri"/>
            </a:endParaRPr>
          </a:p>
          <a:p>
            <a:pPr marL="285750" indent="-285750">
              <a:buFont typeface="Arial,Sans-Serif"/>
              <a:buChar char="•"/>
            </a:pPr>
            <a:r>
              <a:rPr lang="en-US"/>
              <a:t>The revenue of the women’s apparel segment in the UK was estimated to be 40.6 billion British pounds in 2022, which was the highest among all segments1. The revenue of this segment is projected to grow at a compound annual growth rate (CAGR) of 5% from 2022 to 2026. </a:t>
            </a:r>
          </a:p>
          <a:p>
            <a:pPr marL="285750" indent="-285750">
              <a:buFont typeface="Arial,Sans-Serif"/>
              <a:buChar char="•"/>
            </a:pPr>
            <a:r>
              <a:rPr lang="en-US"/>
              <a:t>The revenue of the men’s apparel segment in the UK was estimated to be 21.98 billion British pounds in 2022, which was the second highest among all segments1. The revenue of this segment is projected to grow at a CAGR of 5% from 2022 to 2026. </a:t>
            </a:r>
          </a:p>
          <a:p>
            <a:pPr marL="285750" indent="-285750">
              <a:buFont typeface="Arial,Sans-Serif"/>
              <a:buChar char="•"/>
            </a:pPr>
            <a:r>
              <a:rPr lang="en-US"/>
              <a:t>The revenue of the children’s apparel segment in the UK was estimated to be 10.8 billion British pounds in 2022, which was the lowest among all segments1. The revenue of this segment is projected to grow at a CAGR of 4.7% from 2022 to 2026. </a:t>
            </a:r>
          </a:p>
          <a:p>
            <a:endParaRPr lang="en-US">
              <a:cs typeface="Calibri"/>
            </a:endParaRPr>
          </a:p>
        </p:txBody>
      </p:sp>
      <p:sp>
        <p:nvSpPr>
          <p:cNvPr id="4" name="Slide Number Placeholder 3"/>
          <p:cNvSpPr>
            <a:spLocks noGrp="1"/>
          </p:cNvSpPr>
          <p:nvPr>
            <p:ph type="sldNum" sz="quarter" idx="5"/>
          </p:nvPr>
        </p:nvSpPr>
        <p:spPr/>
        <p:txBody>
          <a:bodyPr/>
          <a:lstStyle/>
          <a:p>
            <a:fld id="{B1750BEF-81E7-4FE7-A3E5-0CF4CBC55386}" type="slidenum">
              <a:rPr lang="en-US"/>
              <a:t>35</a:t>
            </a:fld>
            <a:endParaRPr lang="en-US"/>
          </a:p>
        </p:txBody>
      </p:sp>
    </p:spTree>
    <p:extLst>
      <p:ext uri="{BB962C8B-B14F-4D97-AF65-F5344CB8AC3E}">
        <p14:creationId xmlns:p14="http://schemas.microsoft.com/office/powerpoint/2010/main" val="6583195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a:t>The negative growth rates observed  indicate the impact of the COVID-19 pandemic on the fashion industry. The pandemic disrupted consumer spending patterns, supply chains, and retail operations, leading to a decline in revenue growth during those years. </a:t>
            </a:r>
          </a:p>
          <a:p>
            <a:pPr marL="171450" indent="-171450">
              <a:buFont typeface="Arial"/>
              <a:buChar char="•"/>
            </a:pPr>
            <a:r>
              <a:rPr lang="en-US"/>
              <a:t>Recovery and Future Growth: Both apparel market and the fashion market show a rebound in revenue growth rates in the subsequent years (2021 onwards). This suggests a recovery from the pandemic's impact and indicates a positive outlook for the industry's future growth.</a:t>
            </a:r>
          </a:p>
          <a:p>
            <a:r>
              <a:rPr lang="en-US"/>
              <a:t> </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B1750BEF-81E7-4FE7-A3E5-0CF4CBC55386}" type="slidenum">
              <a:rPr lang="en-US"/>
              <a:t>36</a:t>
            </a:fld>
            <a:endParaRPr lang="en-US"/>
          </a:p>
        </p:txBody>
      </p:sp>
    </p:spTree>
    <p:extLst>
      <p:ext uri="{BB962C8B-B14F-4D97-AF65-F5344CB8AC3E}">
        <p14:creationId xmlns:p14="http://schemas.microsoft.com/office/powerpoint/2010/main" val="38802154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Comparison between revenue growth of apparel and fashion market</a:t>
            </a:r>
          </a:p>
          <a:p>
            <a:r>
              <a:rPr lang="en-US"/>
              <a:t> </a:t>
            </a:r>
            <a:endParaRPr lang="en-US">
              <a:cs typeface="Calibri"/>
            </a:endParaRPr>
          </a:p>
          <a:p>
            <a:r>
              <a:rPr lang="en-US" b="1"/>
              <a:t>The fashion market, encompassing apparels, accessories, and footwear, often exhibited higher revenue growth compared to the apparel industry alone. This suggests that the growth of the fashion market is driven by segments beyond traditional apparel. Additionally, during the year 2020, while the apparel industry faced a significant decline, the fashion market experienced a substantial surge, indicating increased demand for accessories and footwear. Furthermore, the revenue growth rates of the fashion market and the apparel industry fluctuated over the years, highlighting the dynamic nature of the industry.</a:t>
            </a:r>
            <a:endParaRPr lang="en-US" b="1">
              <a:ea typeface="Calibri"/>
              <a:cs typeface="Calibri"/>
            </a:endParaRPr>
          </a:p>
          <a:p>
            <a:r>
              <a:rPr lang="en-US"/>
              <a:t> </a:t>
            </a:r>
            <a:endParaRPr lang="en-US">
              <a:cs typeface="Calibri"/>
            </a:endParaRPr>
          </a:p>
          <a:p>
            <a:r>
              <a:rPr lang="en-US" b="1"/>
              <a:t>Comparison between consumer spending and revenue growth rate of apparel </a:t>
            </a:r>
            <a:endParaRPr lang="en-US" b="1">
              <a:ea typeface="Calibri"/>
              <a:cs typeface="Calibri"/>
            </a:endParaRPr>
          </a:p>
          <a:p>
            <a:r>
              <a:rPr lang="en-US" b="1"/>
              <a:t> </a:t>
            </a:r>
            <a:endParaRPr lang="en-US" b="1">
              <a:ea typeface="Calibri"/>
              <a:cs typeface="Calibri"/>
            </a:endParaRPr>
          </a:p>
          <a:p>
            <a:pPr marL="171450" indent="-171450">
              <a:buFont typeface="Arial"/>
              <a:buChar char="•"/>
            </a:pPr>
            <a:r>
              <a:rPr lang="en-US" b="1"/>
              <a:t>An interesting insight from these figures is that there seems to be a disconnect between the revenue growth rate of the apparel industry and consumer spending on clothing and footwear. While the apparel industry experienced fluctuations in revenue growth, with both positive and negative growth rates, consumer spending on clothing and footwear generally showed a positive trend, increasing over the years (except for 2020).</a:t>
            </a:r>
            <a:endParaRPr lang="en-US" b="1">
              <a:ea typeface="Calibri"/>
              <a:cs typeface="Calibri"/>
            </a:endParaRPr>
          </a:p>
          <a:p>
            <a:pPr marL="171450" indent="-171450">
              <a:buFont typeface="Arial"/>
              <a:buChar char="•"/>
            </a:pPr>
            <a:r>
              <a:rPr lang="en-US" b="1"/>
              <a:t>Economic Factors: Despite high consumer spending, the overall economic conditions in the UK may have been unfavorable. Factors such as inflation, rising production costs, or a slowdown in GDP growth can impact businesses and consumer behavior, leading to a decline in the apparel industry.</a:t>
            </a:r>
            <a:endParaRPr lang="en-US" b="1">
              <a:ea typeface="Calibri"/>
              <a:cs typeface="Calibri"/>
            </a:endParaRPr>
          </a:p>
          <a:p>
            <a:pPr marL="171450" indent="-171450">
              <a:buFont typeface="Arial"/>
              <a:buChar char="•"/>
            </a:pPr>
            <a:r>
              <a:rPr lang="en-US"/>
              <a:t>Changing Consumer Preferences: The apparel industry is highly sensitive to changing fashion trends and consumer preferences. If there was a shift in consumer preferences towards alternative forms of clothing, such as athleisure or sustainable fashion, traditional apparel retailers may have struggled to adapt and meet the new demands.</a:t>
            </a:r>
            <a:endParaRPr lang="en-US">
              <a:cs typeface="Calibri"/>
            </a:endParaRPr>
          </a:p>
          <a:p>
            <a:endParaRPr lang="en-US">
              <a:cs typeface="Calibri"/>
            </a:endParaRPr>
          </a:p>
          <a:p>
            <a:r>
              <a:rPr lang="en-US" b="1"/>
              <a:t>Comparison between revenue growth and ad expenditure (both):</a:t>
            </a:r>
            <a:endParaRPr lang="en-US" b="1">
              <a:ea typeface="Calibri"/>
              <a:cs typeface="Calibri"/>
            </a:endParaRPr>
          </a:p>
          <a:p>
            <a:r>
              <a:rPr lang="en-US" b="1"/>
              <a:t> </a:t>
            </a:r>
            <a:endParaRPr lang="en-US" b="1">
              <a:ea typeface="Calibri"/>
              <a:cs typeface="Calibri"/>
            </a:endParaRPr>
          </a:p>
          <a:p>
            <a:pPr marL="171450" indent="-171450">
              <a:buFont typeface="Arial"/>
              <a:buChar char="•"/>
            </a:pPr>
            <a:r>
              <a:rPr lang="en-US" b="1"/>
              <a:t>An interesting insight from this data is that the revenue growth rate of the apparel industry seems to have a correlation with the advertising expenditures.</a:t>
            </a:r>
            <a:r>
              <a:rPr lang="en-US"/>
              <a:t> In 2019, when the industry experienced a modest growth rate, the ad expenditures were relatively lower compared to the following years. In 2020, when the growth rate declined significantly, the ad expenditures also decreased. However, in 2021, when the industry rebounded strongly, the ad expenditures increased significantly. </a:t>
            </a:r>
            <a:endParaRPr lang="en-US">
              <a:cs typeface="Calibri"/>
            </a:endParaRPr>
          </a:p>
          <a:p>
            <a:pPr marL="171450" indent="-171450">
              <a:buFont typeface="Arial"/>
              <a:buChar char="•"/>
            </a:pPr>
            <a:r>
              <a:rPr lang="en-US"/>
              <a:t>This suggests that advertising plays a role in promoting and driving revenue growth in the apparel industry. When the industry is experiencing positive growth, businesses tend to invest more in advertising, both in outdoor and digital static display formats. Conversely, during periods of declining growth, ad expenditures are likely to decrease. </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B1750BEF-81E7-4FE7-A3E5-0CF4CBC55386}" type="slidenum">
              <a:rPr lang="en-US"/>
              <a:t>37</a:t>
            </a:fld>
            <a:endParaRPr lang="en-US"/>
          </a:p>
        </p:txBody>
      </p:sp>
    </p:spTree>
    <p:extLst>
      <p:ext uri="{BB962C8B-B14F-4D97-AF65-F5344CB8AC3E}">
        <p14:creationId xmlns:p14="http://schemas.microsoft.com/office/powerpoint/2010/main" val="34925612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Global comparison</a:t>
            </a:r>
          </a:p>
          <a:p>
            <a:r>
              <a:rPr lang="en-US"/>
              <a:t> </a:t>
            </a:r>
            <a:endParaRPr lang="en-US" b="1">
              <a:cs typeface="Calibri"/>
            </a:endParaRPr>
          </a:p>
          <a:p>
            <a:r>
              <a:rPr lang="en-US" b="1"/>
              <a:t>The United Kingdom has demonstrated an overall upward trend in apparel industry revenue, although there have been fluctuations along the way. And consistently maintained the highest revenue among the other listed countries.</a:t>
            </a:r>
            <a:endParaRPr lang="en-US" b="1">
              <a:cs typeface="Calibri"/>
            </a:endParaRPr>
          </a:p>
          <a:p>
            <a:r>
              <a:rPr lang="en-US"/>
              <a:t>But if you look at the bigger picture,</a:t>
            </a:r>
            <a:endParaRPr lang="en-US">
              <a:cs typeface="Calibri"/>
            </a:endParaRPr>
          </a:p>
          <a:p>
            <a:r>
              <a:rPr lang="en-US"/>
              <a:t> </a:t>
            </a:r>
            <a:endParaRPr lang="en-US">
              <a:cs typeface="Calibri"/>
            </a:endParaRPr>
          </a:p>
          <a:p>
            <a:r>
              <a:rPr lang="en-US" b="1"/>
              <a:t>China has been a consistently strong performer in the apparel industry, with a steady revenue increase over the years, except for a slight dip in the last year. </a:t>
            </a:r>
            <a:endParaRPr lang="en-US" b="1">
              <a:cs typeface="Calibri"/>
            </a:endParaRPr>
          </a:p>
          <a:p>
            <a:r>
              <a:rPr lang="en-US" b="1"/>
              <a:t>The United States has consistently maintained the highest revenue among the listed countries in the apparel industry, with a notable increase over the years. </a:t>
            </a:r>
            <a:endParaRPr lang="en-US" b="1">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B1750BEF-81E7-4FE7-A3E5-0CF4CBC55386}" type="slidenum">
              <a:rPr lang="en-US"/>
              <a:t>38</a:t>
            </a:fld>
            <a:endParaRPr lang="en-US"/>
          </a:p>
        </p:txBody>
      </p:sp>
    </p:spTree>
    <p:extLst>
      <p:ext uri="{BB962C8B-B14F-4D97-AF65-F5344CB8AC3E}">
        <p14:creationId xmlns:p14="http://schemas.microsoft.com/office/powerpoint/2010/main" val="11029302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architectural activities industry is expected to reach £9.8 billion by 2027-28, demonstrating steady growth at a compound annual rate of 3.1%. This suggests a positive outlook for architects and interior designers as they collaborate to create visually appealing spaces.</a:t>
            </a:r>
          </a:p>
          <a:p>
            <a:endParaRPr lang="en-US"/>
          </a:p>
          <a:p>
            <a:r>
              <a:rPr lang="en-US"/>
              <a:t>The construction market revenue serves as the foundation for both architectural and interior design activities. As the construction industry grows, the demand for architectural services and subsequently interior design services also increases. These industries are interconnected, driving each other's growth.</a:t>
            </a:r>
            <a:endParaRPr lang="en-US">
              <a:cs typeface="Calibri" panose="020F0502020204030204"/>
            </a:endParaRPr>
          </a:p>
          <a:p>
            <a:endParaRPr lang="en-US"/>
          </a:p>
          <a:p>
            <a:r>
              <a:rPr lang="en-US"/>
              <a:t>The interior design industry closely correlates with architectural activities, as both professions collaborate to create cohesive and visually appealing spaces. Architects provide the framework and design concepts, while interior designers focus on enhancing the aesthetics and functionality of the interior spaces.</a:t>
            </a:r>
            <a:endParaRPr lang="en-US">
              <a:cs typeface="Calibri"/>
            </a:endParaRPr>
          </a:p>
          <a:p>
            <a:endParaRPr lang="en-US">
              <a:cs typeface="Calibri"/>
            </a:endParaRPr>
          </a:p>
          <a:p>
            <a:r>
              <a:rPr lang="en-US" b="1"/>
              <a:t>Sustainable interior design is gaining importance in the industry. It offers a range of benefits, including improved health and well-being for occupants, cost savings through energy efficiency, and reduced environmental impact by promoting the use of renewable and eco-friendly materials. This shift towards sustainability aligns with the growing awareness of environmental responsibility and the desire for healthier living spaces.</a:t>
            </a:r>
            <a:endParaRPr lang="en-US" b="1">
              <a:cs typeface="Calibri" panose="020F0502020204030204"/>
            </a:endParaRPr>
          </a:p>
        </p:txBody>
      </p:sp>
      <p:sp>
        <p:nvSpPr>
          <p:cNvPr id="4" name="Slide Number Placeholder 3"/>
          <p:cNvSpPr>
            <a:spLocks noGrp="1"/>
          </p:cNvSpPr>
          <p:nvPr>
            <p:ph type="sldNum" sz="quarter" idx="5"/>
          </p:nvPr>
        </p:nvSpPr>
        <p:spPr/>
        <p:txBody>
          <a:bodyPr/>
          <a:lstStyle/>
          <a:p>
            <a:fld id="{B1750BEF-81E7-4FE7-A3E5-0CF4CBC55386}" type="slidenum">
              <a:rPr lang="en-US"/>
              <a:t>39</a:t>
            </a:fld>
            <a:endParaRPr lang="en-US"/>
          </a:p>
        </p:txBody>
      </p:sp>
    </p:spTree>
    <p:extLst>
      <p:ext uri="{BB962C8B-B14F-4D97-AF65-F5344CB8AC3E}">
        <p14:creationId xmlns:p14="http://schemas.microsoft.com/office/powerpoint/2010/main" val="40825975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endParaRPr lang="en-US">
              <a:cs typeface="Calibri"/>
            </a:endParaRPr>
          </a:p>
          <a:p>
            <a:pPr marL="285750" indent="-285750">
              <a:buFont typeface="Arial"/>
              <a:buChar char="•"/>
            </a:pPr>
            <a:r>
              <a:rPr lang="en-US" b="1"/>
              <a:t>Hotel and restaurant interior design generates the highest revenue at 34.0%, amounting to £494.63 million. This highlights the significant demand for interior design services in the hospitality sector. </a:t>
            </a:r>
            <a:endParaRPr lang="en-US" b="1">
              <a:cs typeface="Calibri"/>
            </a:endParaRPr>
          </a:p>
          <a:p>
            <a:pPr marL="285750" indent="-285750">
              <a:buFont typeface="Arial"/>
              <a:buChar char="•"/>
            </a:pPr>
            <a:r>
              <a:rPr lang="en-US" b="1"/>
              <a:t>Residential interior design holds the second-largest share, accounting for 29.0% of the revenue with £421.89 million. This indicates a substantial market for interior design services in the residential housing sector. </a:t>
            </a:r>
            <a:endParaRPr lang="en-US" b="1">
              <a:cs typeface="Calibri"/>
            </a:endParaRPr>
          </a:p>
          <a:p>
            <a:pPr marL="285750" indent="-285750">
              <a:buFont typeface="Arial"/>
              <a:buChar char="•"/>
            </a:pPr>
            <a:r>
              <a:rPr lang="en-US"/>
              <a:t>Commercial office interior design contributes 17.0% of the revenue, totaling £247.32 million. This suggests a demand for well-designed office spaces that enhance productivity and create a positive work environment. </a:t>
            </a:r>
            <a:endParaRPr lang="en-US">
              <a:cs typeface="Calibri"/>
            </a:endParaRPr>
          </a:p>
          <a:p>
            <a:pPr marL="285750" indent="-285750">
              <a:buFont typeface="Arial"/>
              <a:buChar char="•"/>
            </a:pPr>
            <a:r>
              <a:rPr lang="en-US"/>
              <a:t>Ocean liner interior design represents 15.0% of the revenue, generating £218.22 million. This category emphasizes the importance of interior design in the cruise industry, catering to passengers' comfort and luxury. </a:t>
            </a:r>
            <a:endParaRPr lang="en-US">
              <a:cs typeface="Calibri"/>
            </a:endParaRPr>
          </a:p>
          <a:p>
            <a:pPr marL="285750" indent="-285750">
              <a:buFont typeface="Arial"/>
              <a:buChar char="•"/>
            </a:pPr>
            <a:r>
              <a:rPr lang="en-US"/>
              <a:t>Signature interior design holds a 3.0% share, with £43.64 million in revenue. This likely represents specialized or high-end interior design services. </a:t>
            </a:r>
            <a:endParaRPr lang="en-US">
              <a:cs typeface="Calibri"/>
            </a:endParaRPr>
          </a:p>
          <a:p>
            <a:endParaRPr lang="en-US">
              <a:cs typeface="Calibri"/>
            </a:endParaRPr>
          </a:p>
          <a:p>
            <a:r>
              <a:rPr lang="en-US"/>
              <a:t>Revenue</a:t>
            </a:r>
            <a:endParaRPr lang="en-US">
              <a:cs typeface="Calibri"/>
            </a:endParaRPr>
          </a:p>
          <a:p>
            <a:r>
              <a:rPr lang="en-US"/>
              <a:t> </a:t>
            </a:r>
            <a:endParaRPr lang="en-US">
              <a:cs typeface="Calibri"/>
            </a:endParaRPr>
          </a:p>
          <a:p>
            <a:r>
              <a:rPr lang="en-US"/>
              <a:t>The interior design industry experienced volatility during the COVID-19 pandemic, with a 9.9% decline in revenue in 2020-21. However, with the successful vaccine rollout and lifting of restrictions in the UK, the industry is expected to rebound strongly, with a projected 10.5% revenue increase in 2021-22, reaching nearly £1.5 billion. </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B1750BEF-81E7-4FE7-A3E5-0CF4CBC55386}" type="slidenum">
              <a:rPr lang="en-US"/>
              <a:t>40</a:t>
            </a:fld>
            <a:endParaRPr lang="en-US"/>
          </a:p>
        </p:txBody>
      </p:sp>
    </p:spTree>
    <p:extLst>
      <p:ext uri="{BB962C8B-B14F-4D97-AF65-F5344CB8AC3E}">
        <p14:creationId xmlns:p14="http://schemas.microsoft.com/office/powerpoint/2010/main" val="8407724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The Architectural Activities industry encompasses designing, planning, and supervising the construction of buildings, urban areas, and landscapes. Demand in the industry is influenced by construction activity trends. </a:t>
            </a:r>
            <a:r>
              <a:rPr lang="en-US"/>
              <a:t>While residential construction has been resilient due to government initiatives and consumer spending, commercial construction has faced challenges from lower business confidence and Brexit uncertainty. Intense competition from multidisciplinary firms has further impacted operators. However, overall demand has remained steady, and industry revenue is projected to increase at a compound annual rate of 0.2% over the next five years, reaching £8.4 billion by 2022-23.</a:t>
            </a:r>
          </a:p>
          <a:p>
            <a:r>
              <a:rPr lang="en-US"/>
              <a:t> </a:t>
            </a:r>
            <a:endParaRPr lang="en-US">
              <a:cs typeface="Calibri"/>
            </a:endParaRPr>
          </a:p>
          <a:p>
            <a:r>
              <a:rPr lang="en-US"/>
              <a:t> </a:t>
            </a:r>
            <a:endParaRPr lang="en-US">
              <a:cs typeface="Calibri"/>
            </a:endParaRPr>
          </a:p>
          <a:p>
            <a:pPr marL="285750" indent="-285750">
              <a:buFont typeface="Arial"/>
              <a:buChar char="•"/>
            </a:pPr>
            <a:r>
              <a:rPr lang="en-US"/>
              <a:t>The Architectural Activities industry saw a revenue drop in 2020-21 due to COVID-19 and restrictions, affecting construction activity and new work orders. </a:t>
            </a:r>
            <a:endParaRPr lang="en-US">
              <a:cs typeface="Calibri"/>
            </a:endParaRPr>
          </a:p>
          <a:p>
            <a:pPr marL="285750" indent="-285750">
              <a:buFont typeface="Arial"/>
              <a:buChar char="•"/>
            </a:pPr>
            <a:r>
              <a:rPr lang="en-US"/>
              <a:t>Recovery was observed as restrictions lifted, leading to rising demand from the construction sector. </a:t>
            </a:r>
            <a:endParaRPr lang="en-US">
              <a:cs typeface="Calibri"/>
            </a:endParaRPr>
          </a:p>
          <a:p>
            <a:pPr marL="285750" indent="-285750">
              <a:buFont typeface="Arial"/>
              <a:buChar char="•"/>
            </a:pPr>
            <a:r>
              <a:rPr lang="en-US"/>
              <a:t>However, revenue is projected to decline by 3.6% in 2022-23 due to economic challenges, including rising material prices, supply chain disruptions, and labor shortages. </a:t>
            </a:r>
            <a:endParaRPr lang="en-US">
              <a:cs typeface="Calibri"/>
            </a:endParaRPr>
          </a:p>
          <a:p>
            <a:pPr marL="285750" indent="-285750">
              <a:buFont typeface="Arial"/>
              <a:buChar char="•"/>
            </a:pPr>
            <a:r>
              <a:rPr lang="en-US"/>
              <a:t>Over the next five years, industry revenue is forecast to grow at a compound annual rate of 3.1% to reach £9.8 billion by 2027-28. </a:t>
            </a:r>
            <a:endParaRPr lang="en-US">
              <a:cs typeface="Calibri"/>
            </a:endParaRPr>
          </a:p>
          <a:p>
            <a:pPr marL="285750" indent="-285750">
              <a:buFont typeface="Arial"/>
              <a:buChar char="•"/>
            </a:pPr>
            <a:r>
              <a:rPr lang="en-US"/>
              <a:t>Factors such as lower business confidence, limited construction investment, government initiatives, technological advancements, and increased competition may impact revenue and profit in the industry. </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B1750BEF-81E7-4FE7-A3E5-0CF4CBC55386}" type="slidenum">
              <a:rPr lang="en-US"/>
              <a:t>41</a:t>
            </a:fld>
            <a:endParaRPr lang="en-US"/>
          </a:p>
        </p:txBody>
      </p:sp>
    </p:spTree>
    <p:extLst>
      <p:ext uri="{BB962C8B-B14F-4D97-AF65-F5344CB8AC3E}">
        <p14:creationId xmlns:p14="http://schemas.microsoft.com/office/powerpoint/2010/main" val="10696847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endParaRPr lang="en-US"/>
          </a:p>
          <a:p>
            <a:pPr marL="171450" indent="-171450">
              <a:buFont typeface="Arial,Sans-Serif"/>
              <a:buChar char="•"/>
            </a:pPr>
            <a:r>
              <a:rPr lang="en-US" b="1"/>
              <a:t>The construction market revenue serves as the foundation for both architectural and interior design activities. As the construction industry grows, the demand for architectural services and subsequently interior design services also increases. These industries are interconnected, driving each other's growth.</a:t>
            </a:r>
            <a:endParaRPr lang="en-US"/>
          </a:p>
          <a:p>
            <a:pPr marL="171450" indent="-171450">
              <a:buFont typeface="Arial,Sans-Serif"/>
              <a:buChar char="•"/>
            </a:pPr>
            <a:endParaRPr lang="en-US"/>
          </a:p>
          <a:p>
            <a:pPr marL="171450" indent="-171450">
              <a:buFont typeface="Arial,Sans-Serif"/>
              <a:buChar char="•"/>
            </a:pPr>
            <a:r>
              <a:rPr lang="en-US" b="1"/>
              <a:t>The interior design industry closely correlates with architectural activities, as both professions collaborate to create cohesive and visually appealing spaces. Architects provide the framework and design concepts, while interior designers focus on enhancing the aesthetics and functionality of the interior spaces.</a:t>
            </a:r>
            <a:endParaRPr lang="en-US"/>
          </a:p>
          <a:p>
            <a:pPr marL="171450" indent="-171450">
              <a:buFont typeface="Arial,Sans-Serif"/>
              <a:buChar char="•"/>
            </a:pPr>
            <a:endParaRPr lang="en-US"/>
          </a:p>
          <a:p>
            <a:pPr marL="171450" indent="-171450">
              <a:buFont typeface="Arial,Sans-Serif"/>
              <a:buChar char="•"/>
            </a:pPr>
            <a:r>
              <a:rPr lang="en-US" b="1"/>
              <a:t>Sustainable interior design is gaining importance in the industry. It offers a range of benefits, including improved health and well-being for occupants, cost savings through energy efficiency, and reduced environmental impact by promoting the use of renewable and eco-friendly materials. This shift towards sustainability aligns with the growing awareness of environmental responsibility and the desire for healthier living spaces.</a:t>
            </a:r>
            <a:endParaRPr lang="en-US"/>
          </a:p>
          <a:p>
            <a:pPr marL="285750" indent="-285750">
              <a:buFont typeface="Arial"/>
              <a:buChar char="•"/>
            </a:pPr>
            <a:r>
              <a:rPr lang="en-US"/>
              <a:t>Architectural activities revenue and construction market revenue generally move in the same direction, reflecting their interdependence. As construction activity and investment increase, the demand for architectural services also tends to rise.</a:t>
            </a:r>
            <a:endParaRPr lang="en-US">
              <a:cs typeface="Calibri"/>
            </a:endParaRPr>
          </a:p>
          <a:p>
            <a:pPr marL="285750" indent="-285750">
              <a:buFont typeface="Arial"/>
              <a:buChar char="•"/>
            </a:pPr>
            <a:r>
              <a:rPr lang="en-US"/>
              <a:t>Interior design activities revenue is closely tied to both architectural activities and the construction market. The growth in construction projects and architectural designs drives the demand for interior design services, as completed structures require interior enhancements.</a:t>
            </a:r>
            <a:endParaRPr lang="en-US">
              <a:cs typeface="Calibri"/>
            </a:endParaRPr>
          </a:p>
          <a:p>
            <a:r>
              <a:rPr lang="en-US"/>
              <a:t> </a:t>
            </a:r>
            <a:endParaRPr lang="en-US">
              <a:cs typeface="Calibri"/>
            </a:endParaRPr>
          </a:p>
          <a:p>
            <a:pPr marL="285750" indent="-285750">
              <a:buFont typeface="Arial"/>
              <a:buChar char="•"/>
            </a:pPr>
            <a:r>
              <a:rPr lang="en-US"/>
              <a:t>Architecture activities revenue and interior design activities revenue are closely linked, as architects collaborate with interior designers during the design process to ensure cohesive and visually appealing spaces.</a:t>
            </a:r>
            <a:endParaRPr lang="en-US">
              <a:cs typeface="Calibri"/>
            </a:endParaRPr>
          </a:p>
          <a:p>
            <a:pPr marL="285750" indent="-285750">
              <a:buFont typeface="Arial"/>
              <a:buChar char="•"/>
            </a:pPr>
            <a:r>
              <a:rPr lang="en-US"/>
              <a:t>The revenue of the construction market serves as a foundation for both architectural and interior design activities, as construction projects provide opportunities for design and implementation.</a:t>
            </a:r>
            <a:endParaRPr lang="en-US">
              <a:cs typeface="Calibri"/>
            </a:endParaRPr>
          </a:p>
          <a:p>
            <a:pPr marL="285750" indent="-285750">
              <a:buFont typeface="Arial"/>
              <a:buChar char="•"/>
            </a:pPr>
            <a:endParaRPr lang="en-US" b="1">
              <a:cs typeface="Calibri"/>
            </a:endParaRPr>
          </a:p>
          <a:p>
            <a:pPr marL="171450" indent="-171450">
              <a:buFont typeface="Arial"/>
              <a:buChar char="•"/>
            </a:pPr>
            <a:endParaRPr lang="en-US" b="1">
              <a:cs typeface="Calibri"/>
            </a:endParaRPr>
          </a:p>
          <a:p>
            <a:pPr marL="285750" indent="-285750">
              <a:buFont typeface="Arial"/>
              <a:buChar char="•"/>
            </a:pP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B1750BEF-81E7-4FE7-A3E5-0CF4CBC55386}" type="slidenum">
              <a:rPr lang="en-US"/>
              <a:t>42</a:t>
            </a:fld>
            <a:endParaRPr lang="en-US"/>
          </a:p>
        </p:txBody>
      </p:sp>
    </p:spTree>
    <p:extLst>
      <p:ext uri="{BB962C8B-B14F-4D97-AF65-F5344CB8AC3E}">
        <p14:creationId xmlns:p14="http://schemas.microsoft.com/office/powerpoint/2010/main" val="36191758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Consistent Growth: </a:t>
            </a:r>
            <a:r>
              <a:rPr lang="en-US" b="1"/>
              <a:t>Consumer spending on digital console and online games in the UK has shown consistent growth, indicating a thriving market. Revenue increased from £891 million in 2013 to £2,640 million in 2022.</a:t>
            </a:r>
            <a:endParaRPr lang="en-US" b="1">
              <a:cs typeface="Calibri"/>
            </a:endParaRPr>
          </a:p>
          <a:p>
            <a:r>
              <a:rPr lang="en-US" b="1"/>
              <a:t>COVID-19 Impact: The pandemic resulted in increased demand for gaming as people sought entertainment options at home.</a:t>
            </a:r>
            <a:endParaRPr lang="en-US"/>
          </a:p>
          <a:p>
            <a:r>
              <a:rPr lang="en-US" b="1"/>
              <a:t>Digital Transformation</a:t>
            </a:r>
            <a:r>
              <a:rPr lang="en-US"/>
              <a:t>: </a:t>
            </a:r>
            <a:r>
              <a:rPr lang="en-US" b="1"/>
              <a:t>Advancements in technology, the availability of online gaming platforms, and the popularity of multiplayer and competitive gaming have contributed to the growing consumer demand for digital console and online games.</a:t>
            </a:r>
            <a:endParaRPr lang="en-US"/>
          </a:p>
          <a:p>
            <a:endParaRPr lang="en-US"/>
          </a:p>
          <a:p>
            <a:r>
              <a:rPr lang="en-US" b="1"/>
              <a:t>The correlation between digital video game sales revenue and consumer spending on digital console and online games suggests that changes in video game sales revenue can be indicative of changes in consumer spending patterns.</a:t>
            </a:r>
            <a:endParaRPr lang="en-US" b="1">
              <a:cs typeface="Calibri"/>
            </a:endParaRPr>
          </a:p>
          <a:p>
            <a:pPr marL="171450" indent="-171450">
              <a:buFont typeface="Arial,Sans-Serif"/>
              <a:buChar char="•"/>
            </a:pPr>
            <a:r>
              <a:rPr lang="en-US" b="1"/>
              <a:t>The video game industry encompasses various platforms, including consoles, PC gaming, mobile gaming, and online platforms. Revenue from video game sales can come from multiple sources such as game sales, in-game purchases, subscriptions, downloadable content, and more. The correlation between digital video games sales revenue and consumer spending on digital console and online games does not imply that consoles are the sole contributor to the revenue of video games. </a:t>
            </a:r>
            <a:endParaRPr lang="en-US" b="1">
              <a:cs typeface="Calibri"/>
            </a:endParaRPr>
          </a:p>
          <a:p>
            <a:pPr marL="171450" indent="-171450">
              <a:buFont typeface="Arial,Sans-Serif"/>
              <a:buChar char="•"/>
            </a:pPr>
            <a:r>
              <a:rPr lang="en-US" b="1"/>
              <a:t>This correlation suggests that there is a connection between the revenue generated from digital video game sales and consumer spending on digital console and online games in the United Kingdom. It implies that changes in digital video games sales revenue can be used as an indicator or predictor of changes in consumer spending on digital console and online games. </a:t>
            </a:r>
            <a:endParaRPr lang="en-US" b="1">
              <a:cs typeface="Calibri"/>
            </a:endParaRPr>
          </a:p>
          <a:p>
            <a:endParaRPr lang="en-US" b="1">
              <a:cs typeface="Calibri"/>
            </a:endParaRPr>
          </a:p>
          <a:p>
            <a:r>
              <a:rPr lang="en-US"/>
              <a:t> Spending in 2020 reached £2,399 million, showcasing the impact of lockdowns and restrictions on the industry.</a:t>
            </a:r>
            <a:endParaRPr lang="en-US">
              <a:cs typeface="Calibri"/>
            </a:endParaRPr>
          </a:p>
          <a:p>
            <a:r>
              <a:rPr lang="en-US"/>
              <a:t>Recovery and Growth: After a slight dip in spending in 2021, the industry rebounded in 2022, reaching a new peak of £2,640 million. This demonstrates the industry's resilience and the sustained growth of consumer interest in digital console and online games.</a:t>
            </a:r>
            <a:endParaRPr lang="en-US">
              <a:cs typeface="Calibri"/>
            </a:endParaRPr>
          </a:p>
          <a:p>
            <a:endParaRPr lang="en-US" b="1">
              <a:cs typeface="Calibri"/>
            </a:endParaRPr>
          </a:p>
          <a:p>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B1750BEF-81E7-4FE7-A3E5-0CF4CBC55386}" type="slidenum">
              <a:rPr lang="en-US"/>
              <a:t>43</a:t>
            </a:fld>
            <a:endParaRPr lang="en-US"/>
          </a:p>
        </p:txBody>
      </p:sp>
    </p:spTree>
    <p:extLst>
      <p:ext uri="{BB962C8B-B14F-4D97-AF65-F5344CB8AC3E}">
        <p14:creationId xmlns:p14="http://schemas.microsoft.com/office/powerpoint/2010/main" val="12800110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b="1"/>
              <a:t>Steady Growth: Over the nine-year period, consumer spending on digital console and online games in the UK has shown consistent growth. The spending has increased from £891 million in 2013 to £2,640 million in 2022. </a:t>
            </a:r>
          </a:p>
          <a:p>
            <a:pPr marL="285750" indent="-285750">
              <a:buFont typeface="Arial"/>
              <a:buChar char="•"/>
            </a:pPr>
            <a:r>
              <a:rPr lang="en-US"/>
              <a:t>Fluctuations: While there is an overall upward trend, there are certain years where spending has fluctuated. For example, in 2015, there was a significant increase in spending from the previous year, followed by relatively stable spending in the subsequent years. </a:t>
            </a:r>
            <a:endParaRPr lang="en-US">
              <a:cs typeface="Calibri"/>
            </a:endParaRPr>
          </a:p>
          <a:p>
            <a:pPr marL="285750" indent="-285750">
              <a:buFont typeface="Arial"/>
              <a:buChar char="•"/>
            </a:pPr>
            <a:r>
              <a:rPr lang="en-US"/>
              <a:t>COVID-19 Impact: The year 2020 saw a notable spike in spending, reaching £2,399 million. This increase can be attributed to the COVID-19 pandemic, which led to lockdowns and increased demand for gaming as people sought entertainment options at home. </a:t>
            </a:r>
            <a:endParaRPr lang="en-US">
              <a:cs typeface="Calibri"/>
            </a:endParaRPr>
          </a:p>
          <a:p>
            <a:pPr marL="285750" indent="-285750">
              <a:buFont typeface="Arial"/>
              <a:buChar char="•"/>
            </a:pPr>
            <a:r>
              <a:rPr lang="en-US"/>
              <a:t>Recovery and Growth: Although there was a slight dip in spending in 2021 compared to the previous year, the spending rebounded in 2022, reaching a new peak of £2,640 million. This indicates a recovery from the pandemic's impact and continued growth in the industry. </a:t>
            </a:r>
            <a:endParaRPr lang="en-US">
              <a:cs typeface="Calibri"/>
            </a:endParaRPr>
          </a:p>
          <a:p>
            <a:pPr marL="285750" indent="-285750">
              <a:buFont typeface="Arial"/>
              <a:buChar char="•"/>
            </a:pPr>
            <a:r>
              <a:rPr lang="en-US"/>
              <a:t>Increased Consumer Demand: The consistent growth in spending suggests a growing consumer interest in digital console and online games in the UK. This can be attributed to factors such as advancements in technology, increasing availability of online gaming platforms, and the popularity of multiplayer and competitive gaming. </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B1750BEF-81E7-4FE7-A3E5-0CF4CBC55386}" type="slidenum">
              <a:rPr lang="en-US"/>
              <a:t>44</a:t>
            </a:fld>
            <a:endParaRPr lang="en-US"/>
          </a:p>
        </p:txBody>
      </p:sp>
    </p:spTree>
    <p:extLst>
      <p:ext uri="{BB962C8B-B14F-4D97-AF65-F5344CB8AC3E}">
        <p14:creationId xmlns:p14="http://schemas.microsoft.com/office/powerpoint/2010/main" val="32414396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b="1"/>
              <a:t>Consistent Revenue Growth: The revenue from digital video game retail sales in the UK has shown consistent growth over the years, indicating a thriving market for digital games. The revenue increased from £1,012 million in 2012 to £4,175.80 million in 2022. </a:t>
            </a:r>
          </a:p>
          <a:p>
            <a:pPr marL="285750" indent="-285750">
              <a:buFont typeface="Arial"/>
              <a:buChar char="•"/>
            </a:pPr>
            <a:r>
              <a:rPr lang="en-US"/>
              <a:t>Steady Growth Rate: The growth rate of revenue fluctuates from year to year, but overall, it has been positive throughout the period. The growth rate ranges from 0.81% in 2019 to 34.95% in 2012, with an average growth rate of approximately 16%. </a:t>
            </a:r>
            <a:endParaRPr lang="en-US">
              <a:cs typeface="Calibri"/>
            </a:endParaRPr>
          </a:p>
          <a:p>
            <a:pPr marL="285750" indent="-285750">
              <a:buFont typeface="Arial"/>
              <a:buChar char="•"/>
            </a:pPr>
            <a:r>
              <a:rPr lang="en-US"/>
              <a:t>Impact of Digital Transformation: The data highlights the increasing popularity and adoption of digital game purchases in the UK. This trend can be attributed to the growth of online gaming platforms, digital distribution platforms, and the convenience of purchasing and accessing games digitally. </a:t>
            </a:r>
            <a:endParaRPr lang="en-US">
              <a:cs typeface="Calibri"/>
            </a:endParaRPr>
          </a:p>
          <a:p>
            <a:pPr marL="285750" indent="-285750">
              <a:buFont typeface="Arial"/>
              <a:buChar char="•"/>
            </a:pPr>
            <a:r>
              <a:rPr lang="en-US"/>
              <a:t>Moderate Growth in Recent Years: In recent years, the revenue growth rate has stabilized at a moderate level. This suggests a matured market and a slower growth pace compared to earlier years when the digital game market was rapidly expanding. </a:t>
            </a:r>
            <a:endParaRPr lang="en-US">
              <a:cs typeface="Calibri"/>
            </a:endParaRPr>
          </a:p>
          <a:p>
            <a:pPr marL="285750" indent="-285750">
              <a:buFont typeface="Arial"/>
              <a:buChar char="•"/>
            </a:pPr>
            <a:r>
              <a:rPr lang="en-US"/>
              <a:t>Resilience During COVID-19: Despite the challenges posed by the COVID-19 pandemic, the digital video game retail sales revenue in the UK continued to grow. The revenue increased by 6.84% in 2021, indicating the resilience of the gaming industry and the increased demand for digital entertainment during periods of lockdowns and social distancing measures. </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B1750BEF-81E7-4FE7-A3E5-0CF4CBC55386}" type="slidenum">
              <a:rPr lang="en-US"/>
              <a:t>45</a:t>
            </a:fld>
            <a:endParaRPr lang="en-US"/>
          </a:p>
        </p:txBody>
      </p:sp>
    </p:spTree>
    <p:extLst>
      <p:ext uri="{BB962C8B-B14F-4D97-AF65-F5344CB8AC3E}">
        <p14:creationId xmlns:p14="http://schemas.microsoft.com/office/powerpoint/2010/main" val="33166027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Throughout my exploration, I sought to define the creative industries and gain a comprehensive understanding of each sector. It involved meticulous research, searching for suitable core and supportive data to analyze the trendlines and other influential factors. However, due to the limitations of accessing only publicly available datasets, obtaining relevant and detailed data proved to be challenging. For instance, the dataset concerning construction market revenue appeared limited, with a lack of information on the metrics adopted for calculation. A more comprehensive and accurate dataset would have facilitated a more profound analysis of the creative industries in the UK.</a:t>
            </a:r>
          </a:p>
          <a:p>
            <a:endParaRPr lang="en-US">
              <a:cs typeface="Calibri"/>
            </a:endParaRPr>
          </a:p>
        </p:txBody>
      </p:sp>
      <p:sp>
        <p:nvSpPr>
          <p:cNvPr id="4" name="Slide Number Placeholder 3"/>
          <p:cNvSpPr>
            <a:spLocks noGrp="1"/>
          </p:cNvSpPr>
          <p:nvPr>
            <p:ph type="sldNum" sz="quarter" idx="5"/>
          </p:nvPr>
        </p:nvSpPr>
        <p:spPr/>
        <p:txBody>
          <a:bodyPr/>
          <a:lstStyle/>
          <a:p>
            <a:fld id="{B1750BEF-81E7-4FE7-A3E5-0CF4CBC55386}" type="slidenum">
              <a:rPr lang="en-US"/>
              <a:t>47</a:t>
            </a:fld>
            <a:endParaRPr lang="en-US"/>
          </a:p>
        </p:txBody>
      </p:sp>
    </p:spTree>
    <p:extLst>
      <p:ext uri="{BB962C8B-B14F-4D97-AF65-F5344CB8AC3E}">
        <p14:creationId xmlns:p14="http://schemas.microsoft.com/office/powerpoint/2010/main" val="448768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EAEF6-21B0-B9E8-2A6E-35F9E80ACB2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DB1079F-1A51-7E4A-11B4-039103C5AF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BAB9BFE-F715-AC5F-3F6A-75D1EEE477AF}"/>
              </a:ext>
            </a:extLst>
          </p:cNvPr>
          <p:cNvSpPr>
            <a:spLocks noGrp="1"/>
          </p:cNvSpPr>
          <p:nvPr>
            <p:ph type="dt" sz="half" idx="10"/>
          </p:nvPr>
        </p:nvSpPr>
        <p:spPr/>
        <p:txBody>
          <a:bodyPr/>
          <a:lstStyle/>
          <a:p>
            <a:fld id="{4EB9EF95-18FB-F44C-8BAB-C7A211709C91}" type="datetimeFigureOut">
              <a:rPr lang="en-US" smtClean="0"/>
              <a:t>7/7/2023</a:t>
            </a:fld>
            <a:endParaRPr lang="en-US"/>
          </a:p>
        </p:txBody>
      </p:sp>
      <p:sp>
        <p:nvSpPr>
          <p:cNvPr id="5" name="Footer Placeholder 4">
            <a:extLst>
              <a:ext uri="{FF2B5EF4-FFF2-40B4-BE49-F238E27FC236}">
                <a16:creationId xmlns:a16="http://schemas.microsoft.com/office/drawing/2014/main" id="{BF582D14-B824-3DDD-93C1-4AE7C0B3CF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B31CDB-602E-552F-223A-F8FB8EEDCCF8}"/>
              </a:ext>
            </a:extLst>
          </p:cNvPr>
          <p:cNvSpPr>
            <a:spLocks noGrp="1"/>
          </p:cNvSpPr>
          <p:nvPr>
            <p:ph type="sldNum" sz="quarter" idx="12"/>
          </p:nvPr>
        </p:nvSpPr>
        <p:spPr/>
        <p:txBody>
          <a:bodyPr/>
          <a:lstStyle/>
          <a:p>
            <a:fld id="{E714E48F-B912-0B41-9FEE-5068A89D2AB8}" type="slidenum">
              <a:rPr lang="en-US" smtClean="0"/>
              <a:t>‹#›</a:t>
            </a:fld>
            <a:endParaRPr lang="en-US"/>
          </a:p>
        </p:txBody>
      </p:sp>
    </p:spTree>
    <p:extLst>
      <p:ext uri="{BB962C8B-B14F-4D97-AF65-F5344CB8AC3E}">
        <p14:creationId xmlns:p14="http://schemas.microsoft.com/office/powerpoint/2010/main" val="3088361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690F5-7D8C-4440-0506-E3037284386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281BD3B-61DE-C692-8B72-E754EC07FB1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78FA0C1-EBB5-CAF1-55BD-6F7E402FC820}"/>
              </a:ext>
            </a:extLst>
          </p:cNvPr>
          <p:cNvSpPr>
            <a:spLocks noGrp="1"/>
          </p:cNvSpPr>
          <p:nvPr>
            <p:ph type="dt" sz="half" idx="10"/>
          </p:nvPr>
        </p:nvSpPr>
        <p:spPr/>
        <p:txBody>
          <a:bodyPr/>
          <a:lstStyle/>
          <a:p>
            <a:fld id="{4EB9EF95-18FB-F44C-8BAB-C7A211709C91}" type="datetimeFigureOut">
              <a:rPr lang="en-US" smtClean="0"/>
              <a:t>7/7/2023</a:t>
            </a:fld>
            <a:endParaRPr lang="en-US"/>
          </a:p>
        </p:txBody>
      </p:sp>
      <p:sp>
        <p:nvSpPr>
          <p:cNvPr id="5" name="Footer Placeholder 4">
            <a:extLst>
              <a:ext uri="{FF2B5EF4-FFF2-40B4-BE49-F238E27FC236}">
                <a16:creationId xmlns:a16="http://schemas.microsoft.com/office/drawing/2014/main" id="{5C39D4A5-1A64-CE2F-7764-580E7FF127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CBF577-F332-46A6-D14E-F894A68449D3}"/>
              </a:ext>
            </a:extLst>
          </p:cNvPr>
          <p:cNvSpPr>
            <a:spLocks noGrp="1"/>
          </p:cNvSpPr>
          <p:nvPr>
            <p:ph type="sldNum" sz="quarter" idx="12"/>
          </p:nvPr>
        </p:nvSpPr>
        <p:spPr/>
        <p:txBody>
          <a:bodyPr/>
          <a:lstStyle/>
          <a:p>
            <a:fld id="{E714E48F-B912-0B41-9FEE-5068A89D2AB8}" type="slidenum">
              <a:rPr lang="en-US" smtClean="0"/>
              <a:t>‹#›</a:t>
            </a:fld>
            <a:endParaRPr lang="en-US"/>
          </a:p>
        </p:txBody>
      </p:sp>
    </p:spTree>
    <p:extLst>
      <p:ext uri="{BB962C8B-B14F-4D97-AF65-F5344CB8AC3E}">
        <p14:creationId xmlns:p14="http://schemas.microsoft.com/office/powerpoint/2010/main" val="1850563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A96CB-871B-3578-C84A-67B09C81EE3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E1D3F34-2A30-E542-1E70-F21D57B6AA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636C202-B599-1AA6-9C12-B33B30CAE157}"/>
              </a:ext>
            </a:extLst>
          </p:cNvPr>
          <p:cNvSpPr>
            <a:spLocks noGrp="1"/>
          </p:cNvSpPr>
          <p:nvPr>
            <p:ph type="dt" sz="half" idx="10"/>
          </p:nvPr>
        </p:nvSpPr>
        <p:spPr/>
        <p:txBody>
          <a:bodyPr/>
          <a:lstStyle/>
          <a:p>
            <a:fld id="{4EB9EF95-18FB-F44C-8BAB-C7A211709C91}" type="datetimeFigureOut">
              <a:rPr lang="en-US" smtClean="0"/>
              <a:t>7/7/2023</a:t>
            </a:fld>
            <a:endParaRPr lang="en-US"/>
          </a:p>
        </p:txBody>
      </p:sp>
      <p:sp>
        <p:nvSpPr>
          <p:cNvPr id="5" name="Footer Placeholder 4">
            <a:extLst>
              <a:ext uri="{FF2B5EF4-FFF2-40B4-BE49-F238E27FC236}">
                <a16:creationId xmlns:a16="http://schemas.microsoft.com/office/drawing/2014/main" id="{3D38C6CC-FADB-AC8B-8961-9F5AC879A4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31C5E7-94E6-73FC-55AB-656FB69DF7AE}"/>
              </a:ext>
            </a:extLst>
          </p:cNvPr>
          <p:cNvSpPr>
            <a:spLocks noGrp="1"/>
          </p:cNvSpPr>
          <p:nvPr>
            <p:ph type="sldNum" sz="quarter" idx="12"/>
          </p:nvPr>
        </p:nvSpPr>
        <p:spPr/>
        <p:txBody>
          <a:bodyPr/>
          <a:lstStyle/>
          <a:p>
            <a:fld id="{E714E48F-B912-0B41-9FEE-5068A89D2AB8}" type="slidenum">
              <a:rPr lang="en-US" smtClean="0"/>
              <a:t>‹#›</a:t>
            </a:fld>
            <a:endParaRPr lang="en-US"/>
          </a:p>
        </p:txBody>
      </p:sp>
    </p:spTree>
    <p:extLst>
      <p:ext uri="{BB962C8B-B14F-4D97-AF65-F5344CB8AC3E}">
        <p14:creationId xmlns:p14="http://schemas.microsoft.com/office/powerpoint/2010/main" val="325592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8C1A9-A0A7-9F98-95F1-07E79E6E824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AFC7DA8-F8D1-3604-82D6-28400FE7891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53CB44F-7970-5F20-1A6F-3A77C161A02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74399B6-0E80-99A0-6CF1-0F3472B9BEAA}"/>
              </a:ext>
            </a:extLst>
          </p:cNvPr>
          <p:cNvSpPr>
            <a:spLocks noGrp="1"/>
          </p:cNvSpPr>
          <p:nvPr>
            <p:ph type="dt" sz="half" idx="10"/>
          </p:nvPr>
        </p:nvSpPr>
        <p:spPr/>
        <p:txBody>
          <a:bodyPr/>
          <a:lstStyle/>
          <a:p>
            <a:fld id="{4EB9EF95-18FB-F44C-8BAB-C7A211709C91}" type="datetimeFigureOut">
              <a:rPr lang="en-US" smtClean="0"/>
              <a:t>7/7/2023</a:t>
            </a:fld>
            <a:endParaRPr lang="en-US"/>
          </a:p>
        </p:txBody>
      </p:sp>
      <p:sp>
        <p:nvSpPr>
          <p:cNvPr id="6" name="Footer Placeholder 5">
            <a:extLst>
              <a:ext uri="{FF2B5EF4-FFF2-40B4-BE49-F238E27FC236}">
                <a16:creationId xmlns:a16="http://schemas.microsoft.com/office/drawing/2014/main" id="{31686F0E-DD6F-2B9B-2E6A-FAAD4814B8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D73455-436C-3D49-ABAA-363F52E64E66}"/>
              </a:ext>
            </a:extLst>
          </p:cNvPr>
          <p:cNvSpPr>
            <a:spLocks noGrp="1"/>
          </p:cNvSpPr>
          <p:nvPr>
            <p:ph type="sldNum" sz="quarter" idx="12"/>
          </p:nvPr>
        </p:nvSpPr>
        <p:spPr/>
        <p:txBody>
          <a:bodyPr/>
          <a:lstStyle/>
          <a:p>
            <a:fld id="{E714E48F-B912-0B41-9FEE-5068A89D2AB8}" type="slidenum">
              <a:rPr lang="en-US" smtClean="0"/>
              <a:t>‹#›</a:t>
            </a:fld>
            <a:endParaRPr lang="en-US"/>
          </a:p>
        </p:txBody>
      </p:sp>
    </p:spTree>
    <p:extLst>
      <p:ext uri="{BB962C8B-B14F-4D97-AF65-F5344CB8AC3E}">
        <p14:creationId xmlns:p14="http://schemas.microsoft.com/office/powerpoint/2010/main" val="1712493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CEB9E-517B-F859-86D8-E9222F8BE5A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6FDB4DA-9B0F-B0CB-0515-D42FB37DF7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F646C9A-2A22-CF30-1052-6885A130001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3311E31C-34CA-8300-2CA9-F37F1127C2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10F46E5-AD8E-83ED-BE78-9A7D85071E9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B671ACA-33CB-FD2B-BBA9-6142EE7C9BF9}"/>
              </a:ext>
            </a:extLst>
          </p:cNvPr>
          <p:cNvSpPr>
            <a:spLocks noGrp="1"/>
          </p:cNvSpPr>
          <p:nvPr>
            <p:ph type="dt" sz="half" idx="10"/>
          </p:nvPr>
        </p:nvSpPr>
        <p:spPr/>
        <p:txBody>
          <a:bodyPr/>
          <a:lstStyle/>
          <a:p>
            <a:fld id="{4EB9EF95-18FB-F44C-8BAB-C7A211709C91}" type="datetimeFigureOut">
              <a:rPr lang="en-US" smtClean="0"/>
              <a:t>7/7/2023</a:t>
            </a:fld>
            <a:endParaRPr lang="en-US"/>
          </a:p>
        </p:txBody>
      </p:sp>
      <p:sp>
        <p:nvSpPr>
          <p:cNvPr id="8" name="Footer Placeholder 7">
            <a:extLst>
              <a:ext uri="{FF2B5EF4-FFF2-40B4-BE49-F238E27FC236}">
                <a16:creationId xmlns:a16="http://schemas.microsoft.com/office/drawing/2014/main" id="{EDE4B654-DAC7-3EC6-893C-B410D0FC6E2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8B5F80-1DB3-924F-E5B2-8F3937ECF068}"/>
              </a:ext>
            </a:extLst>
          </p:cNvPr>
          <p:cNvSpPr>
            <a:spLocks noGrp="1"/>
          </p:cNvSpPr>
          <p:nvPr>
            <p:ph type="sldNum" sz="quarter" idx="12"/>
          </p:nvPr>
        </p:nvSpPr>
        <p:spPr/>
        <p:txBody>
          <a:bodyPr/>
          <a:lstStyle/>
          <a:p>
            <a:fld id="{E714E48F-B912-0B41-9FEE-5068A89D2AB8}" type="slidenum">
              <a:rPr lang="en-US" smtClean="0"/>
              <a:t>‹#›</a:t>
            </a:fld>
            <a:endParaRPr lang="en-US"/>
          </a:p>
        </p:txBody>
      </p:sp>
    </p:spTree>
    <p:extLst>
      <p:ext uri="{BB962C8B-B14F-4D97-AF65-F5344CB8AC3E}">
        <p14:creationId xmlns:p14="http://schemas.microsoft.com/office/powerpoint/2010/main" val="3006118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8A518-DF6D-47AF-4CCD-9964FDE9F26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926D46B-3938-49FB-AB44-C318752FB0C0}"/>
              </a:ext>
            </a:extLst>
          </p:cNvPr>
          <p:cNvSpPr>
            <a:spLocks noGrp="1"/>
          </p:cNvSpPr>
          <p:nvPr>
            <p:ph type="dt" sz="half" idx="10"/>
          </p:nvPr>
        </p:nvSpPr>
        <p:spPr/>
        <p:txBody>
          <a:bodyPr/>
          <a:lstStyle/>
          <a:p>
            <a:fld id="{4EB9EF95-18FB-F44C-8BAB-C7A211709C91}" type="datetimeFigureOut">
              <a:rPr lang="en-US" smtClean="0"/>
              <a:t>7/7/2023</a:t>
            </a:fld>
            <a:endParaRPr lang="en-US"/>
          </a:p>
        </p:txBody>
      </p:sp>
      <p:sp>
        <p:nvSpPr>
          <p:cNvPr id="4" name="Footer Placeholder 3">
            <a:extLst>
              <a:ext uri="{FF2B5EF4-FFF2-40B4-BE49-F238E27FC236}">
                <a16:creationId xmlns:a16="http://schemas.microsoft.com/office/drawing/2014/main" id="{CE22DD3D-343D-7D39-9DE9-38F02D8A96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6B7279-2404-91ED-6075-753652350801}"/>
              </a:ext>
            </a:extLst>
          </p:cNvPr>
          <p:cNvSpPr>
            <a:spLocks noGrp="1"/>
          </p:cNvSpPr>
          <p:nvPr>
            <p:ph type="sldNum" sz="quarter" idx="12"/>
          </p:nvPr>
        </p:nvSpPr>
        <p:spPr/>
        <p:txBody>
          <a:bodyPr/>
          <a:lstStyle/>
          <a:p>
            <a:fld id="{E714E48F-B912-0B41-9FEE-5068A89D2AB8}" type="slidenum">
              <a:rPr lang="en-US" smtClean="0"/>
              <a:t>‹#›</a:t>
            </a:fld>
            <a:endParaRPr lang="en-US"/>
          </a:p>
        </p:txBody>
      </p:sp>
    </p:spTree>
    <p:extLst>
      <p:ext uri="{BB962C8B-B14F-4D97-AF65-F5344CB8AC3E}">
        <p14:creationId xmlns:p14="http://schemas.microsoft.com/office/powerpoint/2010/main" val="3624469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B30309-683A-7F86-5A8E-99E4EF9846F8}"/>
              </a:ext>
            </a:extLst>
          </p:cNvPr>
          <p:cNvSpPr>
            <a:spLocks noGrp="1"/>
          </p:cNvSpPr>
          <p:nvPr>
            <p:ph type="dt" sz="half" idx="10"/>
          </p:nvPr>
        </p:nvSpPr>
        <p:spPr/>
        <p:txBody>
          <a:bodyPr/>
          <a:lstStyle/>
          <a:p>
            <a:fld id="{4EB9EF95-18FB-F44C-8BAB-C7A211709C91}" type="datetimeFigureOut">
              <a:rPr lang="en-US" smtClean="0"/>
              <a:t>7/7/2023</a:t>
            </a:fld>
            <a:endParaRPr lang="en-US"/>
          </a:p>
        </p:txBody>
      </p:sp>
      <p:sp>
        <p:nvSpPr>
          <p:cNvPr id="3" name="Footer Placeholder 2">
            <a:extLst>
              <a:ext uri="{FF2B5EF4-FFF2-40B4-BE49-F238E27FC236}">
                <a16:creationId xmlns:a16="http://schemas.microsoft.com/office/drawing/2014/main" id="{DBFFC0A0-BC73-797B-26B4-55B08AF68A7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992C441-DDED-1884-05F9-852A56BCB665}"/>
              </a:ext>
            </a:extLst>
          </p:cNvPr>
          <p:cNvSpPr>
            <a:spLocks noGrp="1"/>
          </p:cNvSpPr>
          <p:nvPr>
            <p:ph type="sldNum" sz="quarter" idx="12"/>
          </p:nvPr>
        </p:nvSpPr>
        <p:spPr/>
        <p:txBody>
          <a:bodyPr/>
          <a:lstStyle/>
          <a:p>
            <a:fld id="{E714E48F-B912-0B41-9FEE-5068A89D2AB8}" type="slidenum">
              <a:rPr lang="en-US" smtClean="0"/>
              <a:t>‹#›</a:t>
            </a:fld>
            <a:endParaRPr lang="en-US"/>
          </a:p>
        </p:txBody>
      </p:sp>
    </p:spTree>
    <p:extLst>
      <p:ext uri="{BB962C8B-B14F-4D97-AF65-F5344CB8AC3E}">
        <p14:creationId xmlns:p14="http://schemas.microsoft.com/office/powerpoint/2010/main" val="338315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D3211-AF7F-B614-C3B5-B51176FD433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DA9EF82-1FA5-D162-E464-38F739CC33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51F4525-7B5B-4882-4D40-5B26FABF0C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56EBFA2-6656-1A0C-D247-0EC4E128039A}"/>
              </a:ext>
            </a:extLst>
          </p:cNvPr>
          <p:cNvSpPr>
            <a:spLocks noGrp="1"/>
          </p:cNvSpPr>
          <p:nvPr>
            <p:ph type="dt" sz="half" idx="10"/>
          </p:nvPr>
        </p:nvSpPr>
        <p:spPr/>
        <p:txBody>
          <a:bodyPr/>
          <a:lstStyle/>
          <a:p>
            <a:fld id="{4EB9EF95-18FB-F44C-8BAB-C7A211709C91}" type="datetimeFigureOut">
              <a:rPr lang="en-US" smtClean="0"/>
              <a:t>7/7/2023</a:t>
            </a:fld>
            <a:endParaRPr lang="en-US"/>
          </a:p>
        </p:txBody>
      </p:sp>
      <p:sp>
        <p:nvSpPr>
          <p:cNvPr id="6" name="Footer Placeholder 5">
            <a:extLst>
              <a:ext uri="{FF2B5EF4-FFF2-40B4-BE49-F238E27FC236}">
                <a16:creationId xmlns:a16="http://schemas.microsoft.com/office/drawing/2014/main" id="{C65430E3-AAAF-D06B-389B-29BADDF169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E193F4-D0D5-F3BB-4379-5FC22A114247}"/>
              </a:ext>
            </a:extLst>
          </p:cNvPr>
          <p:cNvSpPr>
            <a:spLocks noGrp="1"/>
          </p:cNvSpPr>
          <p:nvPr>
            <p:ph type="sldNum" sz="quarter" idx="12"/>
          </p:nvPr>
        </p:nvSpPr>
        <p:spPr/>
        <p:txBody>
          <a:bodyPr/>
          <a:lstStyle/>
          <a:p>
            <a:fld id="{E714E48F-B912-0B41-9FEE-5068A89D2AB8}" type="slidenum">
              <a:rPr lang="en-US" smtClean="0"/>
              <a:t>‹#›</a:t>
            </a:fld>
            <a:endParaRPr lang="en-US"/>
          </a:p>
        </p:txBody>
      </p:sp>
    </p:spTree>
    <p:extLst>
      <p:ext uri="{BB962C8B-B14F-4D97-AF65-F5344CB8AC3E}">
        <p14:creationId xmlns:p14="http://schemas.microsoft.com/office/powerpoint/2010/main" val="2389160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7BF61-585A-68C8-1E4A-1AC35F80224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E8F648A-AC24-E095-F9E7-477C49C71D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19A32C-95AD-5E6E-7DD4-2AE1A4E37C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2122938-6D6D-5F8D-23E1-01EBBFB7822A}"/>
              </a:ext>
            </a:extLst>
          </p:cNvPr>
          <p:cNvSpPr>
            <a:spLocks noGrp="1"/>
          </p:cNvSpPr>
          <p:nvPr>
            <p:ph type="dt" sz="half" idx="10"/>
          </p:nvPr>
        </p:nvSpPr>
        <p:spPr/>
        <p:txBody>
          <a:bodyPr/>
          <a:lstStyle/>
          <a:p>
            <a:fld id="{4EB9EF95-18FB-F44C-8BAB-C7A211709C91}" type="datetimeFigureOut">
              <a:rPr lang="en-US" smtClean="0"/>
              <a:t>7/7/2023</a:t>
            </a:fld>
            <a:endParaRPr lang="en-US"/>
          </a:p>
        </p:txBody>
      </p:sp>
      <p:sp>
        <p:nvSpPr>
          <p:cNvPr id="6" name="Footer Placeholder 5">
            <a:extLst>
              <a:ext uri="{FF2B5EF4-FFF2-40B4-BE49-F238E27FC236}">
                <a16:creationId xmlns:a16="http://schemas.microsoft.com/office/drawing/2014/main" id="{E0F7C35A-8D3B-A8F1-2CCA-F2F99383DE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AFF9E5-0BAC-DF41-C582-625E54C9B9B5}"/>
              </a:ext>
            </a:extLst>
          </p:cNvPr>
          <p:cNvSpPr>
            <a:spLocks noGrp="1"/>
          </p:cNvSpPr>
          <p:nvPr>
            <p:ph type="sldNum" sz="quarter" idx="12"/>
          </p:nvPr>
        </p:nvSpPr>
        <p:spPr/>
        <p:txBody>
          <a:bodyPr/>
          <a:lstStyle/>
          <a:p>
            <a:fld id="{E714E48F-B912-0B41-9FEE-5068A89D2AB8}" type="slidenum">
              <a:rPr lang="en-US" smtClean="0"/>
              <a:t>‹#›</a:t>
            </a:fld>
            <a:endParaRPr lang="en-US"/>
          </a:p>
        </p:txBody>
      </p:sp>
    </p:spTree>
    <p:extLst>
      <p:ext uri="{BB962C8B-B14F-4D97-AF65-F5344CB8AC3E}">
        <p14:creationId xmlns:p14="http://schemas.microsoft.com/office/powerpoint/2010/main" val="2690095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A2950-FB20-34DB-2087-6F1BCB9ECDA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6B819DE-03FA-B11D-8709-2A5A023DE0E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C1182F7-B8AB-E7FD-F91E-03CF3F3680B1}"/>
              </a:ext>
            </a:extLst>
          </p:cNvPr>
          <p:cNvSpPr>
            <a:spLocks noGrp="1"/>
          </p:cNvSpPr>
          <p:nvPr>
            <p:ph type="dt" sz="half" idx="10"/>
          </p:nvPr>
        </p:nvSpPr>
        <p:spPr/>
        <p:txBody>
          <a:bodyPr/>
          <a:lstStyle/>
          <a:p>
            <a:fld id="{4EB9EF95-18FB-F44C-8BAB-C7A211709C91}" type="datetimeFigureOut">
              <a:rPr lang="en-US" smtClean="0"/>
              <a:t>7/7/2023</a:t>
            </a:fld>
            <a:endParaRPr lang="en-US"/>
          </a:p>
        </p:txBody>
      </p:sp>
      <p:sp>
        <p:nvSpPr>
          <p:cNvPr id="5" name="Footer Placeholder 4">
            <a:extLst>
              <a:ext uri="{FF2B5EF4-FFF2-40B4-BE49-F238E27FC236}">
                <a16:creationId xmlns:a16="http://schemas.microsoft.com/office/drawing/2014/main" id="{AE163FED-2289-7122-183E-FC76DD1232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DC028D-B3DE-ACFB-1729-60E1C07FB55E}"/>
              </a:ext>
            </a:extLst>
          </p:cNvPr>
          <p:cNvSpPr>
            <a:spLocks noGrp="1"/>
          </p:cNvSpPr>
          <p:nvPr>
            <p:ph type="sldNum" sz="quarter" idx="12"/>
          </p:nvPr>
        </p:nvSpPr>
        <p:spPr/>
        <p:txBody>
          <a:bodyPr/>
          <a:lstStyle/>
          <a:p>
            <a:fld id="{E714E48F-B912-0B41-9FEE-5068A89D2AB8}" type="slidenum">
              <a:rPr lang="en-US" smtClean="0"/>
              <a:t>‹#›</a:t>
            </a:fld>
            <a:endParaRPr lang="en-US"/>
          </a:p>
        </p:txBody>
      </p:sp>
    </p:spTree>
    <p:extLst>
      <p:ext uri="{BB962C8B-B14F-4D97-AF65-F5344CB8AC3E}">
        <p14:creationId xmlns:p14="http://schemas.microsoft.com/office/powerpoint/2010/main" val="2754663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E27FB0-7D06-F66B-A6EA-1B0FAC296C3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F6ED0CB-3125-9407-9852-A3189733CD5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6F38C9A-4A85-ED54-8502-E584AA45F3F7}"/>
              </a:ext>
            </a:extLst>
          </p:cNvPr>
          <p:cNvSpPr>
            <a:spLocks noGrp="1"/>
          </p:cNvSpPr>
          <p:nvPr>
            <p:ph type="dt" sz="half" idx="10"/>
          </p:nvPr>
        </p:nvSpPr>
        <p:spPr/>
        <p:txBody>
          <a:bodyPr/>
          <a:lstStyle/>
          <a:p>
            <a:fld id="{4EB9EF95-18FB-F44C-8BAB-C7A211709C91}" type="datetimeFigureOut">
              <a:rPr lang="en-US" smtClean="0"/>
              <a:t>7/7/2023</a:t>
            </a:fld>
            <a:endParaRPr lang="en-US"/>
          </a:p>
        </p:txBody>
      </p:sp>
      <p:sp>
        <p:nvSpPr>
          <p:cNvPr id="5" name="Footer Placeholder 4">
            <a:extLst>
              <a:ext uri="{FF2B5EF4-FFF2-40B4-BE49-F238E27FC236}">
                <a16:creationId xmlns:a16="http://schemas.microsoft.com/office/drawing/2014/main" id="{5DBC403D-DA45-2CB8-E230-D0D1ED9CDA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D801E1-A154-E278-6969-C164F67A7D62}"/>
              </a:ext>
            </a:extLst>
          </p:cNvPr>
          <p:cNvSpPr>
            <a:spLocks noGrp="1"/>
          </p:cNvSpPr>
          <p:nvPr>
            <p:ph type="sldNum" sz="quarter" idx="12"/>
          </p:nvPr>
        </p:nvSpPr>
        <p:spPr/>
        <p:txBody>
          <a:bodyPr/>
          <a:lstStyle/>
          <a:p>
            <a:fld id="{E714E48F-B912-0B41-9FEE-5068A89D2AB8}" type="slidenum">
              <a:rPr lang="en-US" smtClean="0"/>
              <a:t>‹#›</a:t>
            </a:fld>
            <a:endParaRPr lang="en-US"/>
          </a:p>
        </p:txBody>
      </p:sp>
    </p:spTree>
    <p:extLst>
      <p:ext uri="{BB962C8B-B14F-4D97-AF65-F5344CB8AC3E}">
        <p14:creationId xmlns:p14="http://schemas.microsoft.com/office/powerpoint/2010/main" val="1175331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9EFBD2-F7BD-2EB1-762E-E3509AE76D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A8BC96A-C5BA-D4F4-585E-B4D808B2A9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2D33700-2106-B869-4BFE-3EEC0198D6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B9EF95-18FB-F44C-8BAB-C7A211709C91}" type="datetimeFigureOut">
              <a:rPr lang="en-US" smtClean="0"/>
              <a:t>7/7/2023</a:t>
            </a:fld>
            <a:endParaRPr lang="en-US"/>
          </a:p>
        </p:txBody>
      </p:sp>
      <p:sp>
        <p:nvSpPr>
          <p:cNvPr id="5" name="Footer Placeholder 4">
            <a:extLst>
              <a:ext uri="{FF2B5EF4-FFF2-40B4-BE49-F238E27FC236}">
                <a16:creationId xmlns:a16="http://schemas.microsoft.com/office/drawing/2014/main" id="{5669A13B-796A-218C-8F43-0B4CFE80B6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F335A29-F1CE-F7B4-4C6B-26F9E4AF58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14E48F-B912-0B41-9FEE-5068A89D2AB8}" type="slidenum">
              <a:rPr lang="en-US" smtClean="0"/>
              <a:t>‹#›</a:t>
            </a:fld>
            <a:endParaRPr lang="en-US"/>
          </a:p>
        </p:txBody>
      </p:sp>
    </p:spTree>
    <p:extLst>
      <p:ext uri="{BB962C8B-B14F-4D97-AF65-F5344CB8AC3E}">
        <p14:creationId xmlns:p14="http://schemas.microsoft.com/office/powerpoint/2010/main" val="2116517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chart" Target="../charts/chart12.xml"/></Relationships>
</file>

<file path=ppt/slides/_rels/slide14.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chart" Target="../charts/chart14.xml"/></Relationships>
</file>

<file path=ppt/slides/_rels/slide15.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chart" Target="../charts/chart15.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chart" Target="../charts/chart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chart" Target="../charts/chart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chart" Target="../charts/chart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3" Type="http://schemas.microsoft.com/office/2018/10/relationships/comments" Target="../comments/modernComment_110_E16032B9.xml"/><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8.xml.rels><?xml version="1.0" encoding="UTF-8" standalone="yes"?>
<Relationships xmlns="http://schemas.openxmlformats.org/package/2006/relationships"><Relationship Id="rId3" Type="http://schemas.microsoft.com/office/2018/10/relationships/comments" Target="../comments/modernComment_111_58E908AE.xml"/><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34.png"/><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microsoft.com/office/2018/10/relationships/comments" Target="../comments/modernComment_114_2A8309AB.xml"/><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D541C12-E201-641A-4D9F-C193401C5A44}"/>
              </a:ext>
            </a:extLst>
          </p:cNvPr>
          <p:cNvSpPr/>
          <p:nvPr/>
        </p:nvSpPr>
        <p:spPr>
          <a:xfrm>
            <a:off x="-2871" y="-60140"/>
            <a:ext cx="12197742" cy="165159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506CCB-A642-63D4-D0C2-9824048570DF}"/>
              </a:ext>
            </a:extLst>
          </p:cNvPr>
          <p:cNvSpPr>
            <a:spLocks noGrp="1"/>
          </p:cNvSpPr>
          <p:nvPr>
            <p:ph type="title"/>
          </p:nvPr>
        </p:nvSpPr>
        <p:spPr/>
        <p:txBody>
          <a:bodyPr/>
          <a:lstStyle/>
          <a:p>
            <a:r>
              <a:rPr lang="en-US" b="1">
                <a:solidFill>
                  <a:schemeClr val="bg1"/>
                </a:solidFill>
                <a:latin typeface="Avenir Next Demi Bold" panose="020B0503020202020204" pitchFamily="34" charset="0"/>
              </a:rPr>
              <a:t>Creative Industry</a:t>
            </a:r>
          </a:p>
        </p:txBody>
      </p:sp>
      <p:sp>
        <p:nvSpPr>
          <p:cNvPr id="20" name="TextBox 19">
            <a:extLst>
              <a:ext uri="{FF2B5EF4-FFF2-40B4-BE49-F238E27FC236}">
                <a16:creationId xmlns:a16="http://schemas.microsoft.com/office/drawing/2014/main" id="{09B6CC58-BE67-F890-2FE3-F9599899996D}"/>
              </a:ext>
            </a:extLst>
          </p:cNvPr>
          <p:cNvSpPr txBox="1"/>
          <p:nvPr/>
        </p:nvSpPr>
        <p:spPr>
          <a:xfrm>
            <a:off x="601362" y="2452524"/>
            <a:ext cx="2421924" cy="523220"/>
          </a:xfrm>
          <a:prstGeom prst="rect">
            <a:avLst/>
          </a:prstGeom>
          <a:noFill/>
        </p:spPr>
        <p:txBody>
          <a:bodyPr wrap="square" rtlCol="0">
            <a:spAutoFit/>
          </a:bodyPr>
          <a:lstStyle/>
          <a:p>
            <a:r>
              <a:rPr lang="en-US" sz="2800" b="1">
                <a:latin typeface="Avenir Next Demi Bold" panose="020B0503020202020204" pitchFamily="34" charset="0"/>
              </a:rPr>
              <a:t>Content</a:t>
            </a:r>
          </a:p>
        </p:txBody>
      </p:sp>
      <p:sp>
        <p:nvSpPr>
          <p:cNvPr id="21" name="TextBox 20">
            <a:extLst>
              <a:ext uri="{FF2B5EF4-FFF2-40B4-BE49-F238E27FC236}">
                <a16:creationId xmlns:a16="http://schemas.microsoft.com/office/drawing/2014/main" id="{45E1EF94-2B83-2953-2952-AD6A6349201D}"/>
              </a:ext>
            </a:extLst>
          </p:cNvPr>
          <p:cNvSpPr txBox="1"/>
          <p:nvPr/>
        </p:nvSpPr>
        <p:spPr>
          <a:xfrm>
            <a:off x="3414583" y="2447468"/>
            <a:ext cx="2421924" cy="523220"/>
          </a:xfrm>
          <a:prstGeom prst="rect">
            <a:avLst/>
          </a:prstGeom>
          <a:noFill/>
        </p:spPr>
        <p:txBody>
          <a:bodyPr wrap="square" rtlCol="0">
            <a:spAutoFit/>
          </a:bodyPr>
          <a:lstStyle/>
          <a:p>
            <a:r>
              <a:rPr lang="en-US" sz="2800" b="1">
                <a:latin typeface="Avenir Next Demi Bold" panose="020B0503020202020204" pitchFamily="34" charset="0"/>
              </a:rPr>
              <a:t>Experience</a:t>
            </a:r>
          </a:p>
        </p:txBody>
      </p:sp>
      <p:sp>
        <p:nvSpPr>
          <p:cNvPr id="22" name="TextBox 21">
            <a:extLst>
              <a:ext uri="{FF2B5EF4-FFF2-40B4-BE49-F238E27FC236}">
                <a16:creationId xmlns:a16="http://schemas.microsoft.com/office/drawing/2014/main" id="{C4BB1893-086B-BD85-22BA-1935CFA6ECBD}"/>
              </a:ext>
            </a:extLst>
          </p:cNvPr>
          <p:cNvSpPr txBox="1"/>
          <p:nvPr/>
        </p:nvSpPr>
        <p:spPr>
          <a:xfrm>
            <a:off x="8645609" y="2447468"/>
            <a:ext cx="2421924" cy="523220"/>
          </a:xfrm>
          <a:prstGeom prst="rect">
            <a:avLst/>
          </a:prstGeom>
          <a:noFill/>
        </p:spPr>
        <p:txBody>
          <a:bodyPr wrap="square" rtlCol="0">
            <a:spAutoFit/>
          </a:bodyPr>
          <a:lstStyle/>
          <a:p>
            <a:r>
              <a:rPr lang="en-US" sz="2800" b="1">
                <a:latin typeface="Avenir Next Demi Bold" panose="020B0503020202020204" pitchFamily="34" charset="0"/>
              </a:rPr>
              <a:t>Technology</a:t>
            </a:r>
          </a:p>
        </p:txBody>
      </p:sp>
      <p:sp>
        <p:nvSpPr>
          <p:cNvPr id="23" name="TextBox 22">
            <a:extLst>
              <a:ext uri="{FF2B5EF4-FFF2-40B4-BE49-F238E27FC236}">
                <a16:creationId xmlns:a16="http://schemas.microsoft.com/office/drawing/2014/main" id="{F641FD05-1818-E85F-D1F4-5BE7B19AAF22}"/>
              </a:ext>
            </a:extLst>
          </p:cNvPr>
          <p:cNvSpPr txBox="1"/>
          <p:nvPr/>
        </p:nvSpPr>
        <p:spPr>
          <a:xfrm>
            <a:off x="5836507" y="2447468"/>
            <a:ext cx="2421924" cy="523220"/>
          </a:xfrm>
          <a:prstGeom prst="rect">
            <a:avLst/>
          </a:prstGeom>
          <a:noFill/>
        </p:spPr>
        <p:txBody>
          <a:bodyPr wrap="square" rtlCol="0">
            <a:spAutoFit/>
          </a:bodyPr>
          <a:lstStyle/>
          <a:p>
            <a:r>
              <a:rPr lang="en-US" sz="2800" b="1">
                <a:latin typeface="Avenir Next Demi Bold" panose="020B0503020202020204" pitchFamily="34" charset="0"/>
              </a:rPr>
              <a:t>Design</a:t>
            </a:r>
          </a:p>
        </p:txBody>
      </p:sp>
      <p:sp>
        <p:nvSpPr>
          <p:cNvPr id="24" name="TextBox 23">
            <a:extLst>
              <a:ext uri="{FF2B5EF4-FFF2-40B4-BE49-F238E27FC236}">
                <a16:creationId xmlns:a16="http://schemas.microsoft.com/office/drawing/2014/main" id="{EB298514-21EA-0EDC-4B9A-18E7175E1033}"/>
              </a:ext>
            </a:extLst>
          </p:cNvPr>
          <p:cNvSpPr txBox="1"/>
          <p:nvPr/>
        </p:nvSpPr>
        <p:spPr>
          <a:xfrm>
            <a:off x="601362" y="2959269"/>
            <a:ext cx="2421924" cy="2308324"/>
          </a:xfrm>
          <a:prstGeom prst="rect">
            <a:avLst/>
          </a:prstGeom>
          <a:noFill/>
        </p:spPr>
        <p:txBody>
          <a:bodyPr wrap="square" rtlCol="0">
            <a:spAutoFit/>
          </a:bodyPr>
          <a:lstStyle/>
          <a:p>
            <a:pPr marL="285750" indent="-285750">
              <a:buFont typeface="Arial" panose="020B0604020202020204" pitchFamily="34" charset="0"/>
              <a:buChar char="•"/>
            </a:pPr>
            <a:r>
              <a:rPr lang="en-US">
                <a:latin typeface="Avenir Next" panose="020B0503020202020204" pitchFamily="34" charset="0"/>
              </a:rPr>
              <a:t>Advertising &amp; Marketing</a:t>
            </a:r>
          </a:p>
          <a:p>
            <a:pPr marL="285750" indent="-285750">
              <a:buFont typeface="Arial" panose="020B0604020202020204" pitchFamily="34" charset="0"/>
              <a:buChar char="•"/>
            </a:pPr>
            <a:r>
              <a:rPr lang="en-US">
                <a:latin typeface="Avenir Next" panose="020B0503020202020204" pitchFamily="34" charset="0"/>
              </a:rPr>
              <a:t>Film &amp; Video</a:t>
            </a:r>
          </a:p>
          <a:p>
            <a:pPr marL="285750" indent="-285750">
              <a:buFont typeface="Arial" panose="020B0604020202020204" pitchFamily="34" charset="0"/>
              <a:buChar char="•"/>
            </a:pPr>
            <a:r>
              <a:rPr lang="en-US">
                <a:latin typeface="Avenir Next" panose="020B0503020202020204" pitchFamily="34" charset="0"/>
              </a:rPr>
              <a:t>Music</a:t>
            </a:r>
          </a:p>
          <a:p>
            <a:pPr marL="285750" indent="-285750">
              <a:buFont typeface="Arial" panose="020B0604020202020204" pitchFamily="34" charset="0"/>
              <a:buChar char="•"/>
            </a:pPr>
            <a:r>
              <a:rPr lang="en-US">
                <a:latin typeface="Avenir Next" panose="020B0503020202020204" pitchFamily="34" charset="0"/>
              </a:rPr>
              <a:t>Publishing</a:t>
            </a:r>
          </a:p>
          <a:p>
            <a:pPr marL="285750" indent="-285750">
              <a:buFont typeface="Arial" panose="020B0604020202020204" pitchFamily="34" charset="0"/>
              <a:buChar char="•"/>
            </a:pPr>
            <a:r>
              <a:rPr lang="en-US">
                <a:latin typeface="Avenir Next" panose="020B0503020202020204" pitchFamily="34" charset="0"/>
              </a:rPr>
              <a:t>Radio &amp; Podcasts</a:t>
            </a:r>
          </a:p>
          <a:p>
            <a:pPr marL="285750" indent="-285750">
              <a:buFont typeface="Arial" panose="020B0604020202020204" pitchFamily="34" charset="0"/>
              <a:buChar char="•"/>
            </a:pPr>
            <a:r>
              <a:rPr lang="en-US">
                <a:latin typeface="Avenir Next" panose="020B0503020202020204" pitchFamily="34" charset="0"/>
              </a:rPr>
              <a:t>Photography</a:t>
            </a:r>
          </a:p>
          <a:p>
            <a:pPr marL="285750" indent="-285750">
              <a:buFont typeface="Arial" panose="020B0604020202020204" pitchFamily="34" charset="0"/>
              <a:buChar char="•"/>
            </a:pPr>
            <a:r>
              <a:rPr lang="en-US">
                <a:latin typeface="Avenir Next" panose="020B0503020202020204" pitchFamily="34" charset="0"/>
              </a:rPr>
              <a:t>Social Media</a:t>
            </a:r>
          </a:p>
        </p:txBody>
      </p:sp>
      <p:sp>
        <p:nvSpPr>
          <p:cNvPr id="25" name="TextBox 24">
            <a:extLst>
              <a:ext uri="{FF2B5EF4-FFF2-40B4-BE49-F238E27FC236}">
                <a16:creationId xmlns:a16="http://schemas.microsoft.com/office/drawing/2014/main" id="{0B25D4D1-36B5-D164-E8A3-97B2676DE3EC}"/>
              </a:ext>
            </a:extLst>
          </p:cNvPr>
          <p:cNvSpPr txBox="1"/>
          <p:nvPr/>
        </p:nvSpPr>
        <p:spPr>
          <a:xfrm>
            <a:off x="3414583" y="2959269"/>
            <a:ext cx="2421924" cy="2585323"/>
          </a:xfrm>
          <a:prstGeom prst="rect">
            <a:avLst/>
          </a:prstGeom>
          <a:noFill/>
        </p:spPr>
        <p:txBody>
          <a:bodyPr wrap="square" rtlCol="0">
            <a:spAutoFit/>
          </a:bodyPr>
          <a:lstStyle/>
          <a:p>
            <a:pPr marL="285750" indent="-285750">
              <a:buFont typeface="Arial" panose="020B0604020202020204" pitchFamily="34" charset="0"/>
              <a:buChar char="•"/>
            </a:pPr>
            <a:r>
              <a:rPr lang="en-US">
                <a:latin typeface="Avenir Next" panose="020B0503020202020204" pitchFamily="34" charset="0"/>
              </a:rPr>
              <a:t>Performing Art</a:t>
            </a:r>
          </a:p>
          <a:p>
            <a:pPr marL="285750" indent="-285750">
              <a:buFont typeface="Arial" panose="020B0604020202020204" pitchFamily="34" charset="0"/>
              <a:buChar char="•"/>
            </a:pPr>
            <a:r>
              <a:rPr lang="en-US">
                <a:latin typeface="Avenir Next" panose="020B0503020202020204" pitchFamily="34" charset="0"/>
              </a:rPr>
              <a:t>Museums</a:t>
            </a:r>
          </a:p>
          <a:p>
            <a:pPr marL="285750" indent="-285750">
              <a:buFont typeface="Arial" panose="020B0604020202020204" pitchFamily="34" charset="0"/>
              <a:buChar char="•"/>
            </a:pPr>
            <a:r>
              <a:rPr lang="en-US">
                <a:latin typeface="Avenir Next" panose="020B0503020202020204" pitchFamily="34" charset="0"/>
              </a:rPr>
              <a:t>Galleries</a:t>
            </a:r>
          </a:p>
          <a:p>
            <a:pPr marL="285750" indent="-285750">
              <a:buFont typeface="Arial" panose="020B0604020202020204" pitchFamily="34" charset="0"/>
              <a:buChar char="•"/>
            </a:pPr>
            <a:r>
              <a:rPr lang="en-US">
                <a:latin typeface="Avenir Next" panose="020B0503020202020204" pitchFamily="34" charset="0"/>
              </a:rPr>
              <a:t>Festivals</a:t>
            </a:r>
          </a:p>
          <a:p>
            <a:pPr marL="285750" indent="-285750">
              <a:buFont typeface="Arial" panose="020B0604020202020204" pitchFamily="34" charset="0"/>
              <a:buChar char="•"/>
            </a:pPr>
            <a:r>
              <a:rPr lang="en-US">
                <a:latin typeface="Avenir Next" panose="020B0503020202020204" pitchFamily="34" charset="0"/>
              </a:rPr>
              <a:t>Visual &amp; Graphic Art</a:t>
            </a:r>
          </a:p>
          <a:p>
            <a:pPr marL="285750" indent="-285750">
              <a:buFont typeface="Arial" panose="020B0604020202020204" pitchFamily="34" charset="0"/>
              <a:buChar char="•"/>
            </a:pPr>
            <a:r>
              <a:rPr lang="en-US">
                <a:latin typeface="Avenir Next" panose="020B0503020202020204" pitchFamily="34" charset="0"/>
              </a:rPr>
              <a:t>Theatre</a:t>
            </a:r>
          </a:p>
          <a:p>
            <a:pPr marL="285750" indent="-285750">
              <a:buFont typeface="Arial" panose="020B0604020202020204" pitchFamily="34" charset="0"/>
              <a:buChar char="•"/>
            </a:pPr>
            <a:r>
              <a:rPr lang="en-US">
                <a:latin typeface="Avenir Next" panose="020B0503020202020204" pitchFamily="34" charset="0"/>
              </a:rPr>
              <a:t>Concerts</a:t>
            </a:r>
          </a:p>
          <a:p>
            <a:pPr marL="285750" indent="-285750">
              <a:buFont typeface="Arial" panose="020B0604020202020204" pitchFamily="34" charset="0"/>
              <a:buChar char="•"/>
            </a:pPr>
            <a:r>
              <a:rPr lang="en-US">
                <a:latin typeface="Avenir Next" panose="020B0503020202020204" pitchFamily="34" charset="0"/>
              </a:rPr>
              <a:t>Heritage</a:t>
            </a:r>
          </a:p>
        </p:txBody>
      </p:sp>
      <p:sp>
        <p:nvSpPr>
          <p:cNvPr id="26" name="TextBox 25">
            <a:extLst>
              <a:ext uri="{FF2B5EF4-FFF2-40B4-BE49-F238E27FC236}">
                <a16:creationId xmlns:a16="http://schemas.microsoft.com/office/drawing/2014/main" id="{2DB56A5C-B103-1A68-9ED0-88BD6B6D149F}"/>
              </a:ext>
            </a:extLst>
          </p:cNvPr>
          <p:cNvSpPr txBox="1"/>
          <p:nvPr/>
        </p:nvSpPr>
        <p:spPr>
          <a:xfrm>
            <a:off x="5836507" y="2959269"/>
            <a:ext cx="2421924" cy="2031325"/>
          </a:xfrm>
          <a:prstGeom prst="rect">
            <a:avLst/>
          </a:prstGeom>
          <a:noFill/>
        </p:spPr>
        <p:txBody>
          <a:bodyPr wrap="square" rtlCol="0">
            <a:spAutoFit/>
          </a:bodyPr>
          <a:lstStyle/>
          <a:p>
            <a:pPr marL="285750" indent="-285750">
              <a:buFont typeface="Arial" panose="020B0604020202020204" pitchFamily="34" charset="0"/>
              <a:buChar char="•"/>
            </a:pPr>
            <a:r>
              <a:rPr lang="en-US">
                <a:latin typeface="Avenir Next" panose="020B0503020202020204" pitchFamily="34" charset="0"/>
              </a:rPr>
              <a:t>Architecture</a:t>
            </a:r>
          </a:p>
          <a:p>
            <a:pPr marL="285750" indent="-285750">
              <a:buFont typeface="Arial" panose="020B0604020202020204" pitchFamily="34" charset="0"/>
              <a:buChar char="•"/>
            </a:pPr>
            <a:r>
              <a:rPr lang="en-US">
                <a:latin typeface="Avenir Next" panose="020B0503020202020204" pitchFamily="34" charset="0"/>
              </a:rPr>
              <a:t>Fashion</a:t>
            </a:r>
          </a:p>
          <a:p>
            <a:pPr marL="285750" indent="-285750">
              <a:buFont typeface="Arial" panose="020B0604020202020204" pitchFamily="34" charset="0"/>
              <a:buChar char="•"/>
            </a:pPr>
            <a:r>
              <a:rPr lang="en-US">
                <a:latin typeface="Avenir Next" panose="020B0503020202020204" pitchFamily="34" charset="0"/>
              </a:rPr>
              <a:t>Graphic design</a:t>
            </a:r>
          </a:p>
          <a:p>
            <a:pPr marL="285750" indent="-285750">
              <a:buFont typeface="Arial" panose="020B0604020202020204" pitchFamily="34" charset="0"/>
              <a:buChar char="•"/>
            </a:pPr>
            <a:r>
              <a:rPr lang="en-US">
                <a:latin typeface="Avenir Next" panose="020B0503020202020204" pitchFamily="34" charset="0"/>
              </a:rPr>
              <a:t>Industrial design</a:t>
            </a:r>
          </a:p>
          <a:p>
            <a:pPr marL="285750" indent="-285750">
              <a:buFont typeface="Arial" panose="020B0604020202020204" pitchFamily="34" charset="0"/>
              <a:buChar char="•"/>
            </a:pPr>
            <a:r>
              <a:rPr lang="en-US">
                <a:latin typeface="Avenir Next" panose="020B0503020202020204" pitchFamily="34" charset="0"/>
              </a:rPr>
              <a:t>Digital Design</a:t>
            </a:r>
          </a:p>
          <a:p>
            <a:pPr marL="285750" indent="-285750">
              <a:buFont typeface="Arial" panose="020B0604020202020204" pitchFamily="34" charset="0"/>
              <a:buChar char="•"/>
            </a:pPr>
            <a:r>
              <a:rPr lang="en-US">
                <a:latin typeface="Avenir Next" panose="020B0503020202020204" pitchFamily="34" charset="0"/>
              </a:rPr>
              <a:t>Crafts</a:t>
            </a:r>
          </a:p>
          <a:p>
            <a:pPr marL="285750" indent="-285750">
              <a:buFont typeface="Arial" panose="020B0604020202020204" pitchFamily="34" charset="0"/>
              <a:buChar char="•"/>
            </a:pPr>
            <a:r>
              <a:rPr lang="en-US">
                <a:latin typeface="Avenir Next" panose="020B0503020202020204" pitchFamily="34" charset="0"/>
              </a:rPr>
              <a:t>UI design</a:t>
            </a:r>
          </a:p>
        </p:txBody>
      </p:sp>
      <p:sp>
        <p:nvSpPr>
          <p:cNvPr id="27" name="TextBox 26">
            <a:extLst>
              <a:ext uri="{FF2B5EF4-FFF2-40B4-BE49-F238E27FC236}">
                <a16:creationId xmlns:a16="http://schemas.microsoft.com/office/drawing/2014/main" id="{FE7F231F-EBBE-C46F-139A-E41C713FF52A}"/>
              </a:ext>
            </a:extLst>
          </p:cNvPr>
          <p:cNvSpPr txBox="1"/>
          <p:nvPr/>
        </p:nvSpPr>
        <p:spPr>
          <a:xfrm>
            <a:off x="8645609" y="2959269"/>
            <a:ext cx="2421924" cy="2031325"/>
          </a:xfrm>
          <a:prstGeom prst="rect">
            <a:avLst/>
          </a:prstGeom>
          <a:noFill/>
        </p:spPr>
        <p:txBody>
          <a:bodyPr wrap="square" rtlCol="0">
            <a:spAutoFit/>
          </a:bodyPr>
          <a:lstStyle/>
          <a:p>
            <a:pPr marL="285750" indent="-285750">
              <a:buFont typeface="Arial" panose="020B0604020202020204" pitchFamily="34" charset="0"/>
              <a:buChar char="•"/>
            </a:pPr>
            <a:r>
              <a:rPr lang="en-US">
                <a:latin typeface="Avenir Next" panose="020B0503020202020204" pitchFamily="34" charset="0"/>
              </a:rPr>
              <a:t>IT software computer services</a:t>
            </a:r>
          </a:p>
          <a:p>
            <a:pPr marL="285750" indent="-285750">
              <a:buFont typeface="Arial" panose="020B0604020202020204" pitchFamily="34" charset="0"/>
              <a:buChar char="•"/>
            </a:pPr>
            <a:r>
              <a:rPr lang="en-US">
                <a:latin typeface="Avenir Next" panose="020B0503020202020204" pitchFamily="34" charset="0"/>
              </a:rPr>
              <a:t>Video Games</a:t>
            </a:r>
          </a:p>
          <a:p>
            <a:pPr marL="285750" indent="-285750">
              <a:buFont typeface="Arial" panose="020B0604020202020204" pitchFamily="34" charset="0"/>
              <a:buChar char="•"/>
            </a:pPr>
            <a:r>
              <a:rPr lang="en-US">
                <a:latin typeface="Avenir Next" panose="020B0503020202020204" pitchFamily="34" charset="0"/>
              </a:rPr>
              <a:t>VR  &amp; AR</a:t>
            </a:r>
          </a:p>
          <a:p>
            <a:pPr marL="285750" indent="-285750">
              <a:buFont typeface="Arial" panose="020B0604020202020204" pitchFamily="34" charset="0"/>
              <a:buChar char="•"/>
            </a:pPr>
            <a:r>
              <a:rPr lang="en-US">
                <a:latin typeface="Avenir Next" panose="020B0503020202020204" pitchFamily="34" charset="0"/>
              </a:rPr>
              <a:t>VFX</a:t>
            </a:r>
          </a:p>
          <a:p>
            <a:pPr marL="285750" indent="-285750">
              <a:buFont typeface="Arial" panose="020B0604020202020204" pitchFamily="34" charset="0"/>
              <a:buChar char="•"/>
            </a:pPr>
            <a:r>
              <a:rPr lang="en-US">
                <a:latin typeface="Avenir Next" panose="020B0503020202020204" pitchFamily="34" charset="0"/>
              </a:rPr>
              <a:t>NFT</a:t>
            </a:r>
          </a:p>
          <a:p>
            <a:pPr marL="285750" indent="-285750">
              <a:buFont typeface="Arial" panose="020B0604020202020204" pitchFamily="34" charset="0"/>
              <a:buChar char="•"/>
            </a:pPr>
            <a:r>
              <a:rPr lang="en-US">
                <a:latin typeface="Avenir Next" panose="020B0503020202020204" pitchFamily="34" charset="0"/>
              </a:rPr>
              <a:t>UX design</a:t>
            </a:r>
          </a:p>
        </p:txBody>
      </p:sp>
    </p:spTree>
    <p:extLst>
      <p:ext uri="{BB962C8B-B14F-4D97-AF65-F5344CB8AC3E}">
        <p14:creationId xmlns:p14="http://schemas.microsoft.com/office/powerpoint/2010/main" val="3699878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P spid="25" grpId="0"/>
      <p:bldP spid="26" grpId="0"/>
      <p:bldP spid="2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AAD96A-DA8D-DF2C-D84C-993DC00FEA39}"/>
              </a:ext>
            </a:extLst>
          </p:cNvPr>
          <p:cNvSpPr>
            <a:spLocks noGrp="1"/>
          </p:cNvSpPr>
          <p:nvPr>
            <p:ph type="ctrTitle"/>
          </p:nvPr>
        </p:nvSpPr>
        <p:spPr/>
        <p:txBody>
          <a:bodyPr/>
          <a:lstStyle/>
          <a:p>
            <a:r>
              <a:rPr lang="en-US" b="1">
                <a:latin typeface="Avenir Next Demi Bold" panose="020B0503020202020204" pitchFamily="34" charset="0"/>
              </a:rPr>
              <a:t>Advertisement sector</a:t>
            </a:r>
          </a:p>
        </p:txBody>
      </p:sp>
      <p:sp>
        <p:nvSpPr>
          <p:cNvPr id="5" name="Subtitle 4">
            <a:extLst>
              <a:ext uri="{FF2B5EF4-FFF2-40B4-BE49-F238E27FC236}">
                <a16:creationId xmlns:a16="http://schemas.microsoft.com/office/drawing/2014/main" id="{39A9C80F-3C7F-2507-69B5-EAAED728880F}"/>
              </a:ext>
            </a:extLst>
          </p:cNvPr>
          <p:cNvSpPr>
            <a:spLocks noGrp="1"/>
          </p:cNvSpPr>
          <p:nvPr>
            <p:ph type="subTitle" idx="1"/>
          </p:nvPr>
        </p:nvSpPr>
        <p:spPr>
          <a:solidFill>
            <a:schemeClr val="accent2"/>
          </a:solidFill>
        </p:spPr>
        <p:txBody>
          <a:bodyPr/>
          <a:lstStyle/>
          <a:p>
            <a:endParaRPr lang="en-US"/>
          </a:p>
        </p:txBody>
      </p:sp>
    </p:spTree>
    <p:extLst>
      <p:ext uri="{BB962C8B-B14F-4D97-AF65-F5344CB8AC3E}">
        <p14:creationId xmlns:p14="http://schemas.microsoft.com/office/powerpoint/2010/main" val="297001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775590D4-54E2-7665-69CD-EF849221D24A}"/>
              </a:ext>
            </a:extLst>
          </p:cNvPr>
          <p:cNvSpPr>
            <a:spLocks noGrp="1"/>
          </p:cNvSpPr>
          <p:nvPr>
            <p:ph type="title"/>
          </p:nvPr>
        </p:nvSpPr>
        <p:spPr>
          <a:xfrm>
            <a:off x="841248" y="334644"/>
            <a:ext cx="10509504" cy="1076914"/>
          </a:xfrm>
        </p:spPr>
        <p:txBody>
          <a:bodyPr anchor="ctr">
            <a:normAutofit/>
          </a:bodyPr>
          <a:lstStyle/>
          <a:p>
            <a:pPr algn="ctr"/>
            <a:r>
              <a:rPr lang="en-US" sz="4000">
                <a:latin typeface="Avenir Next" panose="020B0503020202020204" pitchFamily="34" charset="0"/>
              </a:rPr>
              <a:t>General overview of the sector</a:t>
            </a:r>
          </a:p>
        </p:txBody>
      </p:sp>
      <p:sp>
        <p:nvSpPr>
          <p:cNvPr id="14" name="Rectangle 13">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7" name="Content Placeholder 6">
            <a:extLst>
              <a:ext uri="{FF2B5EF4-FFF2-40B4-BE49-F238E27FC236}">
                <a16:creationId xmlns:a16="http://schemas.microsoft.com/office/drawing/2014/main" id="{480BE878-E61F-E044-BB02-49CB877154B4}"/>
              </a:ext>
            </a:extLst>
          </p:cNvPr>
          <p:cNvGraphicFramePr>
            <a:graphicFrameLocks noGrp="1"/>
          </p:cNvGraphicFramePr>
          <p:nvPr>
            <p:ph idx="1"/>
            <p:extLst>
              <p:ext uri="{D42A27DB-BD31-4B8C-83A1-F6EECF244321}">
                <p14:modId xmlns:p14="http://schemas.microsoft.com/office/powerpoint/2010/main" val="2599863186"/>
              </p:ext>
            </p:extLst>
          </p:nvPr>
        </p:nvGraphicFramePr>
        <p:xfrm>
          <a:off x="589547" y="1632718"/>
          <a:ext cx="8734927" cy="4535424"/>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0DC21BC4-A3C2-6895-32B3-B1C1152BAD18}"/>
              </a:ext>
            </a:extLst>
          </p:cNvPr>
          <p:cNvSpPr txBox="1"/>
          <p:nvPr/>
        </p:nvSpPr>
        <p:spPr>
          <a:xfrm>
            <a:off x="1251283" y="4004346"/>
            <a:ext cx="709864" cy="276999"/>
          </a:xfrm>
          <a:prstGeom prst="rect">
            <a:avLst/>
          </a:prstGeom>
          <a:noFill/>
        </p:spPr>
        <p:txBody>
          <a:bodyPr wrap="square" rtlCol="0">
            <a:spAutoFit/>
          </a:bodyPr>
          <a:lstStyle/>
          <a:p>
            <a:r>
              <a:rPr lang="en-US" sz="1200">
                <a:latin typeface="Avenir Next" panose="020B0503020202020204" pitchFamily="34" charset="0"/>
              </a:rPr>
              <a:t>27.49</a:t>
            </a:r>
          </a:p>
        </p:txBody>
      </p:sp>
      <p:sp>
        <p:nvSpPr>
          <p:cNvPr id="6" name="TextBox 5">
            <a:extLst>
              <a:ext uri="{FF2B5EF4-FFF2-40B4-BE49-F238E27FC236}">
                <a16:creationId xmlns:a16="http://schemas.microsoft.com/office/drawing/2014/main" id="{2229335B-D302-EA5A-21E1-2ACF70BE28A3}"/>
              </a:ext>
            </a:extLst>
          </p:cNvPr>
          <p:cNvSpPr txBox="1"/>
          <p:nvPr/>
        </p:nvSpPr>
        <p:spPr>
          <a:xfrm>
            <a:off x="1983205" y="3815630"/>
            <a:ext cx="709864" cy="276999"/>
          </a:xfrm>
          <a:prstGeom prst="rect">
            <a:avLst/>
          </a:prstGeom>
          <a:noFill/>
        </p:spPr>
        <p:txBody>
          <a:bodyPr wrap="square" rtlCol="0">
            <a:spAutoFit/>
          </a:bodyPr>
          <a:lstStyle/>
          <a:p>
            <a:r>
              <a:rPr lang="en-US" sz="1200">
                <a:latin typeface="Avenir Next" panose="020B0503020202020204" pitchFamily="34" charset="0"/>
              </a:rPr>
              <a:t>30.43</a:t>
            </a:r>
          </a:p>
        </p:txBody>
      </p:sp>
      <p:sp>
        <p:nvSpPr>
          <p:cNvPr id="8" name="TextBox 7">
            <a:extLst>
              <a:ext uri="{FF2B5EF4-FFF2-40B4-BE49-F238E27FC236}">
                <a16:creationId xmlns:a16="http://schemas.microsoft.com/office/drawing/2014/main" id="{426543E5-C0EF-A5D4-530E-63015BBDEE74}"/>
              </a:ext>
            </a:extLst>
          </p:cNvPr>
          <p:cNvSpPr txBox="1"/>
          <p:nvPr/>
        </p:nvSpPr>
        <p:spPr>
          <a:xfrm>
            <a:off x="2715127" y="3676116"/>
            <a:ext cx="709864" cy="276999"/>
          </a:xfrm>
          <a:prstGeom prst="rect">
            <a:avLst/>
          </a:prstGeom>
          <a:noFill/>
        </p:spPr>
        <p:txBody>
          <a:bodyPr wrap="square" rtlCol="0">
            <a:spAutoFit/>
          </a:bodyPr>
          <a:lstStyle/>
          <a:p>
            <a:r>
              <a:rPr lang="en-US" sz="1200">
                <a:latin typeface="Avenir Next" panose="020B0503020202020204" pitchFamily="34" charset="0"/>
              </a:rPr>
              <a:t>33.15</a:t>
            </a:r>
          </a:p>
        </p:txBody>
      </p:sp>
      <p:sp>
        <p:nvSpPr>
          <p:cNvPr id="9" name="TextBox 8">
            <a:extLst>
              <a:ext uri="{FF2B5EF4-FFF2-40B4-BE49-F238E27FC236}">
                <a16:creationId xmlns:a16="http://schemas.microsoft.com/office/drawing/2014/main" id="{8FCDEF78-4A0E-307F-3E4D-CF57CC354077}"/>
              </a:ext>
            </a:extLst>
          </p:cNvPr>
          <p:cNvSpPr txBox="1"/>
          <p:nvPr/>
        </p:nvSpPr>
        <p:spPr>
          <a:xfrm>
            <a:off x="3447049" y="3623431"/>
            <a:ext cx="709864" cy="276999"/>
          </a:xfrm>
          <a:prstGeom prst="rect">
            <a:avLst/>
          </a:prstGeom>
          <a:noFill/>
        </p:spPr>
        <p:txBody>
          <a:bodyPr wrap="square" rtlCol="0">
            <a:spAutoFit/>
          </a:bodyPr>
          <a:lstStyle/>
          <a:p>
            <a:r>
              <a:rPr lang="en-US" sz="1200">
                <a:latin typeface="Avenir Next" panose="020B0503020202020204" pitchFamily="34" charset="0"/>
              </a:rPr>
              <a:t>34.36</a:t>
            </a:r>
          </a:p>
        </p:txBody>
      </p:sp>
      <p:sp>
        <p:nvSpPr>
          <p:cNvPr id="10" name="TextBox 9">
            <a:extLst>
              <a:ext uri="{FF2B5EF4-FFF2-40B4-BE49-F238E27FC236}">
                <a16:creationId xmlns:a16="http://schemas.microsoft.com/office/drawing/2014/main" id="{FF4382F0-4D56-7D10-3253-A1887A7B2D07}"/>
              </a:ext>
            </a:extLst>
          </p:cNvPr>
          <p:cNvSpPr txBox="1"/>
          <p:nvPr/>
        </p:nvSpPr>
        <p:spPr>
          <a:xfrm>
            <a:off x="4184125" y="3152001"/>
            <a:ext cx="709864" cy="276999"/>
          </a:xfrm>
          <a:prstGeom prst="rect">
            <a:avLst/>
          </a:prstGeom>
          <a:noFill/>
        </p:spPr>
        <p:txBody>
          <a:bodyPr wrap="square" rtlCol="0">
            <a:spAutoFit/>
          </a:bodyPr>
          <a:lstStyle/>
          <a:p>
            <a:r>
              <a:rPr lang="en-US" sz="1200">
                <a:latin typeface="Avenir Next" panose="020B0503020202020204" pitchFamily="34" charset="0"/>
              </a:rPr>
              <a:t>42.27</a:t>
            </a:r>
          </a:p>
        </p:txBody>
      </p:sp>
      <p:sp>
        <p:nvSpPr>
          <p:cNvPr id="11" name="TextBox 10">
            <a:extLst>
              <a:ext uri="{FF2B5EF4-FFF2-40B4-BE49-F238E27FC236}">
                <a16:creationId xmlns:a16="http://schemas.microsoft.com/office/drawing/2014/main" id="{C0A80FF5-4847-CF12-B1EE-806ECE878CC2}"/>
              </a:ext>
            </a:extLst>
          </p:cNvPr>
          <p:cNvSpPr txBox="1"/>
          <p:nvPr/>
        </p:nvSpPr>
        <p:spPr>
          <a:xfrm>
            <a:off x="4924353" y="2905776"/>
            <a:ext cx="709864" cy="276999"/>
          </a:xfrm>
          <a:prstGeom prst="rect">
            <a:avLst/>
          </a:prstGeom>
          <a:noFill/>
        </p:spPr>
        <p:txBody>
          <a:bodyPr wrap="square" rtlCol="0">
            <a:spAutoFit/>
          </a:bodyPr>
          <a:lstStyle/>
          <a:p>
            <a:r>
              <a:rPr lang="en-US" sz="1200">
                <a:latin typeface="Avenir Next" panose="020B0503020202020204" pitchFamily="34" charset="0"/>
              </a:rPr>
              <a:t>46.17</a:t>
            </a:r>
          </a:p>
        </p:txBody>
      </p:sp>
      <p:sp>
        <p:nvSpPr>
          <p:cNvPr id="13" name="TextBox 12">
            <a:extLst>
              <a:ext uri="{FF2B5EF4-FFF2-40B4-BE49-F238E27FC236}">
                <a16:creationId xmlns:a16="http://schemas.microsoft.com/office/drawing/2014/main" id="{68878261-63DA-7BC8-DF5B-40BC72C40CCC}"/>
              </a:ext>
            </a:extLst>
          </p:cNvPr>
          <p:cNvSpPr txBox="1"/>
          <p:nvPr/>
        </p:nvSpPr>
        <p:spPr>
          <a:xfrm>
            <a:off x="5634217" y="2716245"/>
            <a:ext cx="709864" cy="276999"/>
          </a:xfrm>
          <a:prstGeom prst="rect">
            <a:avLst/>
          </a:prstGeom>
          <a:noFill/>
        </p:spPr>
        <p:txBody>
          <a:bodyPr wrap="square" rtlCol="0">
            <a:spAutoFit/>
          </a:bodyPr>
          <a:lstStyle/>
          <a:p>
            <a:r>
              <a:rPr lang="en-US" sz="1200">
                <a:latin typeface="Avenir Next" panose="020B0503020202020204" pitchFamily="34" charset="0"/>
              </a:rPr>
              <a:t>49.60</a:t>
            </a:r>
          </a:p>
        </p:txBody>
      </p:sp>
      <p:sp>
        <p:nvSpPr>
          <p:cNvPr id="15" name="TextBox 14">
            <a:extLst>
              <a:ext uri="{FF2B5EF4-FFF2-40B4-BE49-F238E27FC236}">
                <a16:creationId xmlns:a16="http://schemas.microsoft.com/office/drawing/2014/main" id="{71F9B1B6-00AB-34D7-6BCA-642F4DE45B60}"/>
              </a:ext>
            </a:extLst>
          </p:cNvPr>
          <p:cNvSpPr txBox="1"/>
          <p:nvPr/>
        </p:nvSpPr>
        <p:spPr>
          <a:xfrm>
            <a:off x="6344081" y="2614809"/>
            <a:ext cx="709864" cy="276999"/>
          </a:xfrm>
          <a:prstGeom prst="rect">
            <a:avLst/>
          </a:prstGeom>
          <a:noFill/>
        </p:spPr>
        <p:txBody>
          <a:bodyPr wrap="square" rtlCol="0">
            <a:spAutoFit/>
          </a:bodyPr>
          <a:lstStyle/>
          <a:p>
            <a:r>
              <a:rPr lang="en-US" sz="1200">
                <a:latin typeface="Avenir Next" panose="020B0503020202020204" pitchFamily="34" charset="0"/>
              </a:rPr>
              <a:t>52.60</a:t>
            </a:r>
          </a:p>
        </p:txBody>
      </p:sp>
      <p:sp>
        <p:nvSpPr>
          <p:cNvPr id="17" name="TextBox 16">
            <a:extLst>
              <a:ext uri="{FF2B5EF4-FFF2-40B4-BE49-F238E27FC236}">
                <a16:creationId xmlns:a16="http://schemas.microsoft.com/office/drawing/2014/main" id="{B65FD47D-62AE-5D43-F538-1EDAF4069F5A}"/>
              </a:ext>
            </a:extLst>
          </p:cNvPr>
          <p:cNvSpPr txBox="1"/>
          <p:nvPr/>
        </p:nvSpPr>
        <p:spPr>
          <a:xfrm>
            <a:off x="7086602" y="2338137"/>
            <a:ext cx="709864" cy="276999"/>
          </a:xfrm>
          <a:prstGeom prst="rect">
            <a:avLst/>
          </a:prstGeom>
          <a:noFill/>
        </p:spPr>
        <p:txBody>
          <a:bodyPr wrap="square" rtlCol="0">
            <a:spAutoFit/>
          </a:bodyPr>
          <a:lstStyle/>
          <a:p>
            <a:r>
              <a:rPr lang="en-US" sz="1200">
                <a:latin typeface="Avenir Next" panose="020B0503020202020204" pitchFamily="34" charset="0"/>
              </a:rPr>
              <a:t>55.42</a:t>
            </a:r>
          </a:p>
        </p:txBody>
      </p:sp>
      <p:sp>
        <p:nvSpPr>
          <p:cNvPr id="18" name="TextBox 17">
            <a:extLst>
              <a:ext uri="{FF2B5EF4-FFF2-40B4-BE49-F238E27FC236}">
                <a16:creationId xmlns:a16="http://schemas.microsoft.com/office/drawing/2014/main" id="{21DC3F32-BCAF-ABF2-DF78-868782ABD7E7}"/>
              </a:ext>
            </a:extLst>
          </p:cNvPr>
          <p:cNvSpPr txBox="1"/>
          <p:nvPr/>
        </p:nvSpPr>
        <p:spPr>
          <a:xfrm>
            <a:off x="7832564" y="2197768"/>
            <a:ext cx="709864" cy="276999"/>
          </a:xfrm>
          <a:prstGeom prst="rect">
            <a:avLst/>
          </a:prstGeom>
          <a:noFill/>
        </p:spPr>
        <p:txBody>
          <a:bodyPr wrap="square" rtlCol="0">
            <a:spAutoFit/>
          </a:bodyPr>
          <a:lstStyle/>
          <a:p>
            <a:r>
              <a:rPr lang="en-US" sz="1200">
                <a:latin typeface="Avenir Next" panose="020B0503020202020204" pitchFamily="34" charset="0"/>
              </a:rPr>
              <a:t>58.09</a:t>
            </a:r>
          </a:p>
        </p:txBody>
      </p:sp>
      <p:sp>
        <p:nvSpPr>
          <p:cNvPr id="19" name="TextBox 18">
            <a:extLst>
              <a:ext uri="{FF2B5EF4-FFF2-40B4-BE49-F238E27FC236}">
                <a16:creationId xmlns:a16="http://schemas.microsoft.com/office/drawing/2014/main" id="{19D5BCD5-2974-23EE-165F-D8512CB019DE}"/>
              </a:ext>
            </a:extLst>
          </p:cNvPr>
          <p:cNvSpPr txBox="1"/>
          <p:nvPr/>
        </p:nvSpPr>
        <p:spPr>
          <a:xfrm>
            <a:off x="8578523" y="2059268"/>
            <a:ext cx="709864" cy="276999"/>
          </a:xfrm>
          <a:prstGeom prst="rect">
            <a:avLst/>
          </a:prstGeom>
          <a:noFill/>
        </p:spPr>
        <p:txBody>
          <a:bodyPr wrap="square" rtlCol="0">
            <a:spAutoFit/>
          </a:bodyPr>
          <a:lstStyle/>
          <a:p>
            <a:r>
              <a:rPr lang="en-US" sz="1200">
                <a:latin typeface="Avenir Next" panose="020B0503020202020204" pitchFamily="34" charset="0"/>
              </a:rPr>
              <a:t>60.07</a:t>
            </a:r>
          </a:p>
        </p:txBody>
      </p:sp>
      <p:sp>
        <p:nvSpPr>
          <p:cNvPr id="20" name="TextBox 19">
            <a:extLst>
              <a:ext uri="{FF2B5EF4-FFF2-40B4-BE49-F238E27FC236}">
                <a16:creationId xmlns:a16="http://schemas.microsoft.com/office/drawing/2014/main" id="{A720E279-3755-1E59-47F7-48980374CDAE}"/>
              </a:ext>
            </a:extLst>
          </p:cNvPr>
          <p:cNvSpPr txBox="1"/>
          <p:nvPr/>
        </p:nvSpPr>
        <p:spPr>
          <a:xfrm>
            <a:off x="9452758" y="1512994"/>
            <a:ext cx="2678514" cy="5262979"/>
          </a:xfrm>
          <a:prstGeom prst="rect">
            <a:avLst/>
          </a:prstGeom>
          <a:noFill/>
        </p:spPr>
        <p:txBody>
          <a:bodyPr wrap="square" rtlCol="0">
            <a:spAutoFit/>
          </a:bodyPr>
          <a:lstStyle/>
          <a:p>
            <a:pPr marL="285750" indent="-285750" algn="l" fontAlgn="base">
              <a:buFont typeface="Arial" panose="020B0604020202020204" pitchFamily="34" charset="0"/>
              <a:buChar char="•"/>
            </a:pPr>
            <a:r>
              <a:rPr lang="en-GB" sz="1400" b="0" i="0">
                <a:effectLst/>
                <a:latin typeface="Avenir Next" panose="020B0503020202020204" pitchFamily="34" charset="0"/>
              </a:rPr>
              <a:t>Ad spending in the Advertising market is projected to reach US$49.60bn in 2023.</a:t>
            </a:r>
          </a:p>
          <a:p>
            <a:pPr marL="285750" indent="-285750" algn="l" fontAlgn="base">
              <a:buFont typeface="Arial" panose="020B0604020202020204" pitchFamily="34" charset="0"/>
              <a:buChar char="•"/>
            </a:pPr>
            <a:endParaRPr lang="en-GB" sz="1400" b="0" i="0">
              <a:effectLst/>
              <a:latin typeface="Avenir Next" panose="020B0503020202020204" pitchFamily="34" charset="0"/>
            </a:endParaRPr>
          </a:p>
          <a:p>
            <a:pPr marL="285750" indent="-285750" algn="l" fontAlgn="base">
              <a:buFont typeface="Arial" panose="020B0604020202020204" pitchFamily="34" charset="0"/>
              <a:buChar char="•"/>
            </a:pPr>
            <a:r>
              <a:rPr lang="en-GB" sz="1400" b="0" i="0">
                <a:effectLst/>
                <a:latin typeface="Avenir Next" panose="020B0503020202020204" pitchFamily="34" charset="0"/>
              </a:rPr>
              <a:t>The largest market is </a:t>
            </a:r>
            <a:r>
              <a:rPr lang="en-GB" sz="1400" b="0" i="0">
                <a:solidFill>
                  <a:srgbClr val="8FA2D4"/>
                </a:solidFill>
                <a:effectLst/>
                <a:latin typeface="Avenir Next" panose="020B0503020202020204" pitchFamily="34" charset="0"/>
              </a:rPr>
              <a:t>Search Advertising </a:t>
            </a:r>
            <a:r>
              <a:rPr lang="en-GB" sz="1400" b="0" i="0">
                <a:effectLst/>
                <a:latin typeface="Avenir Next" panose="020B0503020202020204" pitchFamily="34" charset="0"/>
              </a:rPr>
              <a:t>with a market volume of US$21.45bn in 2023.</a:t>
            </a:r>
          </a:p>
          <a:p>
            <a:pPr marL="285750" indent="-285750" algn="l" fontAlgn="base">
              <a:buFont typeface="Arial" panose="020B0604020202020204" pitchFamily="34" charset="0"/>
              <a:buChar char="•"/>
            </a:pPr>
            <a:endParaRPr lang="en-GB" sz="1400" b="0" i="0">
              <a:effectLst/>
              <a:latin typeface="Avenir Next" panose="020B0503020202020204" pitchFamily="34" charset="0"/>
            </a:endParaRPr>
          </a:p>
          <a:p>
            <a:pPr marL="285750" indent="-285750">
              <a:buFont typeface="Arial" panose="020B0604020202020204" pitchFamily="34" charset="0"/>
              <a:buChar char="•"/>
            </a:pPr>
            <a:r>
              <a:rPr lang="en-GB" sz="1400" b="0" i="0">
                <a:effectLst/>
                <a:latin typeface="Avenir Next" panose="020B0503020202020204" pitchFamily="34" charset="0"/>
              </a:rPr>
              <a:t>In the Advertising market, 89.0% of total ad spending will be generated through digital in 2027.</a:t>
            </a:r>
          </a:p>
          <a:p>
            <a:pPr marL="285750" indent="-285750">
              <a:buFont typeface="Arial" panose="020B0604020202020204" pitchFamily="34" charset="0"/>
              <a:buChar char="•"/>
            </a:pPr>
            <a:endParaRPr lang="en-GB" sz="1400" b="0" i="0">
              <a:effectLst/>
              <a:latin typeface="Avenir Next" panose="020B0503020202020204" pitchFamily="34" charset="0"/>
            </a:endParaRPr>
          </a:p>
          <a:p>
            <a:pPr marL="285750" indent="-285750">
              <a:buFont typeface="Arial" panose="020B0604020202020204" pitchFamily="34" charset="0"/>
              <a:buChar char="•"/>
            </a:pPr>
            <a:r>
              <a:rPr lang="en-GB" sz="1400" b="0" i="0">
                <a:effectLst/>
                <a:latin typeface="Avenir Next" panose="020B0503020202020204" pitchFamily="34" charset="0"/>
              </a:rPr>
              <a:t>In the Advertising market, 84.7% of the Digital Advertising revenue will be generated through programmatic advertising in 2027</a:t>
            </a:r>
          </a:p>
          <a:p>
            <a:pPr marL="285750" indent="-285750">
              <a:buFont typeface="Arial" panose="020B0604020202020204" pitchFamily="34" charset="0"/>
              <a:buChar char="•"/>
            </a:pPr>
            <a:endParaRPr lang="en-GB" sz="1400" b="0" i="0">
              <a:effectLst/>
              <a:latin typeface="Avenir Next" panose="020B0503020202020204" pitchFamily="34" charset="0"/>
            </a:endParaRPr>
          </a:p>
          <a:p>
            <a:pPr marL="285750" indent="-285750">
              <a:buFont typeface="Arial" panose="020B0604020202020204" pitchFamily="34" charset="0"/>
              <a:buChar char="•"/>
            </a:pPr>
            <a:r>
              <a:rPr lang="en-US" sz="1400">
                <a:latin typeface="Avenir Next" panose="020B0503020202020204" pitchFamily="34" charset="0"/>
              </a:rPr>
              <a:t>Ad spending change by segment – 7.4%</a:t>
            </a:r>
          </a:p>
        </p:txBody>
      </p:sp>
    </p:spTree>
    <p:extLst>
      <p:ext uri="{BB962C8B-B14F-4D97-AF65-F5344CB8AC3E}">
        <p14:creationId xmlns:p14="http://schemas.microsoft.com/office/powerpoint/2010/main" val="3868730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descr="Chart type: Clustered Bar. 'Field5'&#10;&#10;Description automatically generated">
            <a:extLst>
              <a:ext uri="{FF2B5EF4-FFF2-40B4-BE49-F238E27FC236}">
                <a16:creationId xmlns:a16="http://schemas.microsoft.com/office/drawing/2014/main" id="{9ECB1DF6-3805-E0EA-5EB2-3F31391AF8B2}"/>
              </a:ext>
            </a:extLst>
          </p:cNvPr>
          <p:cNvGraphicFramePr>
            <a:graphicFrameLocks noGrp="1"/>
          </p:cNvGraphicFramePr>
          <p:nvPr>
            <p:ph idx="1"/>
            <p:extLst>
              <p:ext uri="{D42A27DB-BD31-4B8C-83A1-F6EECF244321}">
                <p14:modId xmlns:p14="http://schemas.microsoft.com/office/powerpoint/2010/main" val="1647196617"/>
              </p:ext>
            </p:extLst>
          </p:nvPr>
        </p:nvGraphicFramePr>
        <p:xfrm>
          <a:off x="377025" y="301752"/>
          <a:ext cx="7121055" cy="5837349"/>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386994C7-633A-8B7A-B189-85E815F2FACF}"/>
              </a:ext>
            </a:extLst>
          </p:cNvPr>
          <p:cNvSpPr txBox="1"/>
          <p:nvPr/>
        </p:nvSpPr>
        <p:spPr>
          <a:xfrm>
            <a:off x="7717536" y="484632"/>
            <a:ext cx="4032504" cy="6032421"/>
          </a:xfrm>
          <a:prstGeom prst="rect">
            <a:avLst/>
          </a:prstGeom>
          <a:noFill/>
        </p:spPr>
        <p:txBody>
          <a:bodyPr wrap="square" rtlCol="0">
            <a:spAutoFit/>
          </a:bodyPr>
          <a:lstStyle/>
          <a:p>
            <a:pPr algn="l"/>
            <a:r>
              <a:rPr lang="en-GB" sz="1600" b="0" i="0">
                <a:effectLst/>
                <a:latin typeface="Avenir Next" panose="020B0503020202020204" pitchFamily="34" charset="0"/>
              </a:rPr>
              <a:t>Traditional advertising in the UK has seen a decline due to the rise of digital media and online advertising.</a:t>
            </a:r>
          </a:p>
          <a:p>
            <a:pPr algn="l">
              <a:buFont typeface="Arial" panose="020B0604020202020204" pitchFamily="34" charset="0"/>
              <a:buChar char="•"/>
            </a:pPr>
            <a:endParaRPr lang="en-GB" sz="1600" b="0" i="0">
              <a:effectLst/>
              <a:latin typeface="Avenir Next" panose="020B0503020202020204" pitchFamily="34" charset="0"/>
            </a:endParaRPr>
          </a:p>
          <a:p>
            <a:pPr algn="l"/>
            <a:r>
              <a:rPr lang="en-GB" sz="1600" b="0" i="0">
                <a:effectLst/>
                <a:latin typeface="Avenir Next" panose="020B0503020202020204" pitchFamily="34" charset="0"/>
              </a:rPr>
              <a:t>Television is the most popular form of traditional advertising in the UK, followed by radio, out-of-home, newspapers, and magazines.</a:t>
            </a:r>
          </a:p>
          <a:p>
            <a:pPr algn="l">
              <a:buFont typeface="Arial" panose="020B0604020202020204" pitchFamily="34" charset="0"/>
              <a:buChar char="•"/>
            </a:pPr>
            <a:endParaRPr lang="en-GB" sz="1600" b="0" i="0">
              <a:effectLst/>
              <a:latin typeface="Avenir Next" panose="020B0503020202020204" pitchFamily="34" charset="0"/>
            </a:endParaRPr>
          </a:p>
          <a:p>
            <a:pPr algn="l"/>
            <a:r>
              <a:rPr lang="en-GB" sz="1600" b="0" i="0">
                <a:effectLst/>
                <a:latin typeface="Avenir Next" panose="020B0503020202020204" pitchFamily="34" charset="0"/>
              </a:rPr>
              <a:t>Recent studies show that traditional advertising, particularly TV ads, can be more effective in driving sales compared to online display ads.</a:t>
            </a:r>
          </a:p>
          <a:p>
            <a:pPr algn="l">
              <a:buFont typeface="Arial" panose="020B0604020202020204" pitchFamily="34" charset="0"/>
              <a:buChar char="•"/>
            </a:pPr>
            <a:endParaRPr lang="en-GB" sz="1600" b="0" i="0">
              <a:effectLst/>
              <a:latin typeface="Avenir Next" panose="020B0503020202020204" pitchFamily="34" charset="0"/>
            </a:endParaRPr>
          </a:p>
          <a:p>
            <a:pPr algn="l"/>
            <a:r>
              <a:rPr lang="en-GB" sz="1600" b="0" i="0">
                <a:effectLst/>
                <a:latin typeface="Avenir Next" panose="020B0503020202020204" pitchFamily="34" charset="0"/>
              </a:rPr>
              <a:t>The digital advertising market in the UK is rapidly growing, driven by the increasing popularity of digital media platforms and mobile in-app advertising.</a:t>
            </a:r>
          </a:p>
          <a:p>
            <a:pPr algn="l">
              <a:buFont typeface="Arial" panose="020B0604020202020204" pitchFamily="34" charset="0"/>
              <a:buChar char="•"/>
            </a:pPr>
            <a:endParaRPr lang="en-GB" sz="1600" b="0" i="0">
              <a:effectLst/>
              <a:latin typeface="Avenir Next" panose="020B0503020202020204" pitchFamily="34" charset="0"/>
            </a:endParaRPr>
          </a:p>
          <a:p>
            <a:pPr algn="l"/>
            <a:r>
              <a:rPr lang="en-GB" sz="1600" b="0" i="0">
                <a:effectLst/>
                <a:latin typeface="Avenir Next" panose="020B0503020202020204" pitchFamily="34" charset="0"/>
              </a:rPr>
              <a:t>Key trends in the UK digital advertising market include mobile advertising, video advertising, social media advertising, and programmatic advertising.</a:t>
            </a:r>
          </a:p>
          <a:p>
            <a:endParaRPr lang="en-US"/>
          </a:p>
        </p:txBody>
      </p:sp>
      <p:sp>
        <p:nvSpPr>
          <p:cNvPr id="8" name="Rectangle 7">
            <a:extLst>
              <a:ext uri="{FF2B5EF4-FFF2-40B4-BE49-F238E27FC236}">
                <a16:creationId xmlns:a16="http://schemas.microsoft.com/office/drawing/2014/main" id="{4EA9FD36-97CC-9B71-9AC8-D86DA97D5AC4}"/>
              </a:ext>
            </a:extLst>
          </p:cNvPr>
          <p:cNvSpPr/>
          <p:nvPr/>
        </p:nvSpPr>
        <p:spPr>
          <a:xfrm>
            <a:off x="7607808" y="484632"/>
            <a:ext cx="109728" cy="749808"/>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85CC572-43ED-A09F-E4E7-5EE8B6945665}"/>
              </a:ext>
            </a:extLst>
          </p:cNvPr>
          <p:cNvSpPr/>
          <p:nvPr/>
        </p:nvSpPr>
        <p:spPr>
          <a:xfrm>
            <a:off x="7607808" y="1469136"/>
            <a:ext cx="109728" cy="99060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FD017DE-A243-9E95-4A03-0F9F62814771}"/>
              </a:ext>
            </a:extLst>
          </p:cNvPr>
          <p:cNvSpPr/>
          <p:nvPr/>
        </p:nvSpPr>
        <p:spPr>
          <a:xfrm>
            <a:off x="7607808" y="2694432"/>
            <a:ext cx="109728" cy="99060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AEAEA22-EC9A-9CE3-8B96-23CB11F1F0BC}"/>
              </a:ext>
            </a:extLst>
          </p:cNvPr>
          <p:cNvSpPr/>
          <p:nvPr/>
        </p:nvSpPr>
        <p:spPr>
          <a:xfrm>
            <a:off x="7607808" y="3919728"/>
            <a:ext cx="109728" cy="99060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DFE22B7-A7DA-D209-F219-9C0B50427ED4}"/>
              </a:ext>
            </a:extLst>
          </p:cNvPr>
          <p:cNvSpPr/>
          <p:nvPr/>
        </p:nvSpPr>
        <p:spPr>
          <a:xfrm>
            <a:off x="7607808" y="5148501"/>
            <a:ext cx="109728" cy="99060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6664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6" name="Rectangle 2065">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7D761832-DAD3-0278-5F5A-2432E6C0A6E0}"/>
              </a:ext>
            </a:extLst>
          </p:cNvPr>
          <p:cNvSpPr>
            <a:spLocks noGrp="1"/>
          </p:cNvSpPr>
          <p:nvPr>
            <p:ph type="title"/>
          </p:nvPr>
        </p:nvSpPr>
        <p:spPr>
          <a:xfrm>
            <a:off x="630936" y="457200"/>
            <a:ext cx="4343400" cy="1929384"/>
          </a:xfrm>
        </p:spPr>
        <p:txBody>
          <a:bodyPr vert="horz" lIns="91440" tIns="45720" rIns="91440" bIns="45720" rtlCol="0" anchor="ctr">
            <a:normAutofit/>
          </a:bodyPr>
          <a:lstStyle/>
          <a:p>
            <a:r>
              <a:rPr lang="en-US"/>
              <a:t>Advertising</a:t>
            </a:r>
            <a:br>
              <a:rPr lang="en-US"/>
            </a:br>
            <a:r>
              <a:rPr lang="en-US"/>
              <a:t>expenditure</a:t>
            </a:r>
          </a:p>
        </p:txBody>
      </p:sp>
      <p:sp>
        <p:nvSpPr>
          <p:cNvPr id="2068"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F796779C-7226-5EB7-7EC4-242D192DAC43}"/>
              </a:ext>
            </a:extLst>
          </p:cNvPr>
          <p:cNvSpPr>
            <a:spLocks noGrp="1"/>
          </p:cNvSpPr>
          <p:nvPr>
            <p:ph sz="half" idx="2"/>
          </p:nvPr>
        </p:nvSpPr>
        <p:spPr>
          <a:xfrm>
            <a:off x="5541263" y="457200"/>
            <a:ext cx="6007608" cy="1929384"/>
          </a:xfrm>
        </p:spPr>
        <p:txBody>
          <a:bodyPr vert="horz" lIns="91440" tIns="45720" rIns="91440" bIns="45720" rtlCol="0" anchor="ctr">
            <a:normAutofit/>
          </a:bodyPr>
          <a:lstStyle/>
          <a:p>
            <a:pPr marL="0" indent="0">
              <a:buNone/>
            </a:pPr>
            <a:r>
              <a:rPr lang="en-US" sz="2000">
                <a:latin typeface="Avenir Next" panose="020B0503020202020204" pitchFamily="34" charset="0"/>
              </a:rPr>
              <a:t>Advertising spending in the United Kingdom in 2022 was 34.77 billion British pounds, up roughly 9% from the previous year. Ad spend in the country is expected to remain stable in 2023, increasing by 4% a year later to approximately 36.4 billion pounds.</a:t>
            </a:r>
          </a:p>
        </p:txBody>
      </p:sp>
      <p:sp>
        <p:nvSpPr>
          <p:cNvPr id="10" name="Rectangle 9">
            <a:extLst>
              <a:ext uri="{FF2B5EF4-FFF2-40B4-BE49-F238E27FC236}">
                <a16:creationId xmlns:a16="http://schemas.microsoft.com/office/drawing/2014/main" id="{A4316AF9-95F5-D846-3F6E-58781A255B5D}"/>
              </a:ext>
            </a:extLst>
          </p:cNvPr>
          <p:cNvSpPr/>
          <p:nvPr/>
        </p:nvSpPr>
        <p:spPr>
          <a:xfrm>
            <a:off x="5118130" y="457199"/>
            <a:ext cx="251312" cy="19293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6" descr="Chart type: Clustered Column. 'Field3'&#10;&#10;Description automatically generated">
            <a:extLst>
              <a:ext uri="{FF2B5EF4-FFF2-40B4-BE49-F238E27FC236}">
                <a16:creationId xmlns:a16="http://schemas.microsoft.com/office/drawing/2014/main" id="{891E731E-1C66-359F-136D-5EE283EBADE4}"/>
              </a:ext>
            </a:extLst>
          </p:cNvPr>
          <p:cNvGraphicFramePr>
            <a:graphicFrameLocks noGrp="1"/>
          </p:cNvGraphicFramePr>
          <p:nvPr>
            <p:ph sz="half" idx="1"/>
            <p:extLst>
              <p:ext uri="{D42A27DB-BD31-4B8C-83A1-F6EECF244321}">
                <p14:modId xmlns:p14="http://schemas.microsoft.com/office/powerpoint/2010/main" val="1020667144"/>
              </p:ext>
            </p:extLst>
          </p:nvPr>
        </p:nvGraphicFramePr>
        <p:xfrm>
          <a:off x="359663" y="2569464"/>
          <a:ext cx="5181600" cy="407762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descr="Chart type: Clustered Column. 'Field2'&#10;&#10;Description automatically generated">
            <a:extLst>
              <a:ext uri="{FF2B5EF4-FFF2-40B4-BE49-F238E27FC236}">
                <a16:creationId xmlns:a16="http://schemas.microsoft.com/office/drawing/2014/main" id="{43D750F8-DBCF-FDC9-6C2A-536CEFBB2159}"/>
              </a:ext>
            </a:extLst>
          </p:cNvPr>
          <p:cNvGraphicFramePr>
            <a:graphicFrameLocks/>
          </p:cNvGraphicFramePr>
          <p:nvPr>
            <p:extLst>
              <p:ext uri="{D42A27DB-BD31-4B8C-83A1-F6EECF244321}">
                <p14:modId xmlns:p14="http://schemas.microsoft.com/office/powerpoint/2010/main" val="1269564432"/>
              </p:ext>
            </p:extLst>
          </p:nvPr>
        </p:nvGraphicFramePr>
        <p:xfrm>
          <a:off x="5900926" y="2569464"/>
          <a:ext cx="5452703" cy="407762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86440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6" name="Rectangle 2065">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7D761832-DAD3-0278-5F5A-2432E6C0A6E0}"/>
              </a:ext>
            </a:extLst>
          </p:cNvPr>
          <p:cNvSpPr>
            <a:spLocks noGrp="1"/>
          </p:cNvSpPr>
          <p:nvPr>
            <p:ph type="title"/>
          </p:nvPr>
        </p:nvSpPr>
        <p:spPr>
          <a:xfrm>
            <a:off x="630936" y="457200"/>
            <a:ext cx="4343400" cy="1929384"/>
          </a:xfrm>
        </p:spPr>
        <p:txBody>
          <a:bodyPr vert="horz" lIns="91440" tIns="45720" rIns="91440" bIns="45720" rtlCol="0" anchor="ctr">
            <a:normAutofit/>
          </a:bodyPr>
          <a:lstStyle/>
          <a:p>
            <a:r>
              <a:rPr lang="en-US"/>
              <a:t>Advertising media owners revenue</a:t>
            </a:r>
          </a:p>
        </p:txBody>
      </p:sp>
      <p:sp>
        <p:nvSpPr>
          <p:cNvPr id="2068"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F796779C-7226-5EB7-7EC4-242D192DAC43}"/>
              </a:ext>
            </a:extLst>
          </p:cNvPr>
          <p:cNvSpPr>
            <a:spLocks noGrp="1"/>
          </p:cNvSpPr>
          <p:nvPr>
            <p:ph sz="half" idx="2"/>
          </p:nvPr>
        </p:nvSpPr>
        <p:spPr>
          <a:xfrm>
            <a:off x="5541263" y="457200"/>
            <a:ext cx="6007608" cy="1929384"/>
          </a:xfrm>
        </p:spPr>
        <p:txBody>
          <a:bodyPr vert="horz" lIns="91440" tIns="45720" rIns="91440" bIns="45720" rtlCol="0" anchor="ctr">
            <a:normAutofit/>
          </a:bodyPr>
          <a:lstStyle/>
          <a:p>
            <a:pPr marL="0" indent="0">
              <a:buNone/>
            </a:pPr>
            <a:endParaRPr lang="en-US" sz="2200"/>
          </a:p>
          <a:p>
            <a:pPr marL="0" indent="0">
              <a:buNone/>
            </a:pPr>
            <a:r>
              <a:rPr lang="en-US" sz="2200"/>
              <a:t>Analyst assumes that average growth rates for the advertising revenue will stay at the 9 %.</a:t>
            </a:r>
          </a:p>
          <a:p>
            <a:endParaRPr lang="en-US" sz="2200"/>
          </a:p>
        </p:txBody>
      </p:sp>
      <p:pic>
        <p:nvPicPr>
          <p:cNvPr id="9" name="Content Placeholder 8" descr="A graph with numbers and a bar&#10;&#10;Description automatically generated">
            <a:extLst>
              <a:ext uri="{FF2B5EF4-FFF2-40B4-BE49-F238E27FC236}">
                <a16:creationId xmlns:a16="http://schemas.microsoft.com/office/drawing/2014/main" id="{F81A92E5-FBE3-8C04-40C2-DA8100CED7B4}"/>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617903" y="2569463"/>
            <a:ext cx="4923360" cy="383133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A graph of a bar graph&#10;&#10;Description automatically generated">
            <a:extLst>
              <a:ext uri="{FF2B5EF4-FFF2-40B4-BE49-F238E27FC236}">
                <a16:creationId xmlns:a16="http://schemas.microsoft.com/office/drawing/2014/main" id="{F79BF595-059F-C7B0-238C-38EE12542FC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808505" y="2569464"/>
            <a:ext cx="5765592" cy="3831336"/>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A4316AF9-95F5-D846-3F6E-58781A255B5D}"/>
              </a:ext>
            </a:extLst>
          </p:cNvPr>
          <p:cNvSpPr/>
          <p:nvPr/>
        </p:nvSpPr>
        <p:spPr>
          <a:xfrm>
            <a:off x="5118130" y="457199"/>
            <a:ext cx="251312" cy="19293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1828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D075047-CED8-CAB7-083D-7C603ABDE85A}"/>
              </a:ext>
            </a:extLst>
          </p:cNvPr>
          <p:cNvSpPr>
            <a:spLocks noGrp="1"/>
          </p:cNvSpPr>
          <p:nvPr>
            <p:ph type="title"/>
          </p:nvPr>
        </p:nvSpPr>
        <p:spPr>
          <a:xfrm>
            <a:off x="235873" y="242301"/>
            <a:ext cx="6172200" cy="1600200"/>
          </a:xfrm>
          <a:solidFill>
            <a:schemeClr val="accent2"/>
          </a:solidFill>
          <a:ln>
            <a:solidFill>
              <a:schemeClr val="accent2"/>
            </a:solidFill>
          </a:ln>
        </p:spPr>
        <p:txBody>
          <a:bodyPr/>
          <a:lstStyle/>
          <a:p>
            <a:r>
              <a:rPr lang="en-US" b="1">
                <a:solidFill>
                  <a:schemeClr val="bg1"/>
                </a:solidFill>
                <a:latin typeface="Avenir Next Demi Bold" panose="020B0503020202020204" pitchFamily="34" charset="0"/>
              </a:rPr>
              <a:t>Global comparison</a:t>
            </a:r>
            <a:br>
              <a:rPr lang="en-US"/>
            </a:br>
            <a:endParaRPr lang="en-US"/>
          </a:p>
        </p:txBody>
      </p:sp>
      <p:graphicFrame>
        <p:nvGraphicFramePr>
          <p:cNvPr id="7" name="Content Placeholder 6">
            <a:extLst>
              <a:ext uri="{FF2B5EF4-FFF2-40B4-BE49-F238E27FC236}">
                <a16:creationId xmlns:a16="http://schemas.microsoft.com/office/drawing/2014/main" id="{8507447F-240D-6438-634F-6292D9F0B076}"/>
              </a:ext>
            </a:extLst>
          </p:cNvPr>
          <p:cNvGraphicFramePr>
            <a:graphicFrameLocks noGrp="1"/>
          </p:cNvGraphicFramePr>
          <p:nvPr>
            <p:ph idx="1"/>
            <p:extLst>
              <p:ext uri="{D42A27DB-BD31-4B8C-83A1-F6EECF244321}">
                <p14:modId xmlns:p14="http://schemas.microsoft.com/office/powerpoint/2010/main" val="4093333458"/>
              </p:ext>
            </p:extLst>
          </p:nvPr>
        </p:nvGraphicFramePr>
        <p:xfrm>
          <a:off x="235873" y="1842501"/>
          <a:ext cx="6172200" cy="4498975"/>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a:extLst>
              <a:ext uri="{FF2B5EF4-FFF2-40B4-BE49-F238E27FC236}">
                <a16:creationId xmlns:a16="http://schemas.microsoft.com/office/drawing/2014/main" id="{63779F18-8572-C1CE-ACBB-148AF52BE690}"/>
              </a:ext>
            </a:extLst>
          </p:cNvPr>
          <p:cNvSpPr txBox="1"/>
          <p:nvPr/>
        </p:nvSpPr>
        <p:spPr>
          <a:xfrm>
            <a:off x="7690104" y="621792"/>
            <a:ext cx="3950208" cy="5355312"/>
          </a:xfrm>
          <a:prstGeom prst="rect">
            <a:avLst/>
          </a:prstGeom>
          <a:noFill/>
        </p:spPr>
        <p:txBody>
          <a:bodyPr wrap="square" rtlCol="0">
            <a:spAutoFit/>
          </a:bodyPr>
          <a:lstStyle/>
          <a:p>
            <a:pPr algn="just"/>
            <a:r>
              <a:rPr lang="en-US">
                <a:latin typeface="Avenir Next" panose="020B0503020202020204" pitchFamily="34" charset="0"/>
              </a:rPr>
              <a:t>Even though the United Kingdom is one of the world's leading advertising markets, the region's ad industry has been severely disrupted since the outbreak of the pandemic. Revenue growth slowed for the first time in many years as many companies reduced their budgets and reduced advertising activities in the face of current uncertainties. This fatigue subsided as early as 2021, when the industry experienced a complete financial recovery, a trend that was mirrored globally. Between 2020 and 2021, global ad revenue increased from 621 to over 772 billion US dollars, clearly exceeding pre-pandemic levels. </a:t>
            </a:r>
          </a:p>
        </p:txBody>
      </p:sp>
      <p:sp>
        <p:nvSpPr>
          <p:cNvPr id="11" name="Rectangle 10">
            <a:extLst>
              <a:ext uri="{FF2B5EF4-FFF2-40B4-BE49-F238E27FC236}">
                <a16:creationId xmlns:a16="http://schemas.microsoft.com/office/drawing/2014/main" id="{ADFEF7C8-5BA5-0342-717F-BCC7489E62C7}"/>
              </a:ext>
            </a:extLst>
          </p:cNvPr>
          <p:cNvSpPr/>
          <p:nvPr/>
        </p:nvSpPr>
        <p:spPr>
          <a:xfrm>
            <a:off x="7287768" y="621792"/>
            <a:ext cx="118872" cy="5355312"/>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6403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9AB16EF-C11A-0D12-27BB-BE20A99C4E0B}"/>
              </a:ext>
            </a:extLst>
          </p:cNvPr>
          <p:cNvSpPr>
            <a:spLocks noGrp="1"/>
          </p:cNvSpPr>
          <p:nvPr>
            <p:ph type="ctrTitle"/>
          </p:nvPr>
        </p:nvSpPr>
        <p:spPr/>
        <p:txBody>
          <a:bodyPr/>
          <a:lstStyle/>
          <a:p>
            <a:r>
              <a:rPr lang="en-US" b="1">
                <a:latin typeface="Avenir Next Demi Bold" panose="020B0503020202020204" pitchFamily="34" charset="0"/>
              </a:rPr>
              <a:t>Film Industry</a:t>
            </a:r>
          </a:p>
        </p:txBody>
      </p:sp>
      <p:sp>
        <p:nvSpPr>
          <p:cNvPr id="8" name="Subtitle 7">
            <a:extLst>
              <a:ext uri="{FF2B5EF4-FFF2-40B4-BE49-F238E27FC236}">
                <a16:creationId xmlns:a16="http://schemas.microsoft.com/office/drawing/2014/main" id="{D4A903BC-F6B9-4371-571E-D624F073526E}"/>
              </a:ext>
            </a:extLst>
          </p:cNvPr>
          <p:cNvSpPr>
            <a:spLocks noGrp="1"/>
          </p:cNvSpPr>
          <p:nvPr>
            <p:ph type="subTitle" idx="1"/>
          </p:nvPr>
        </p:nvSpPr>
        <p:spPr>
          <a:solidFill>
            <a:schemeClr val="accent2"/>
          </a:solidFill>
        </p:spPr>
        <p:txBody>
          <a:bodyPr/>
          <a:lstStyle/>
          <a:p>
            <a:endParaRPr lang="en-US"/>
          </a:p>
        </p:txBody>
      </p:sp>
    </p:spTree>
    <p:extLst>
      <p:ext uri="{BB962C8B-B14F-4D97-AF65-F5344CB8AC3E}">
        <p14:creationId xmlns:p14="http://schemas.microsoft.com/office/powerpoint/2010/main" val="1225721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5">
            <a:extLst>
              <a:ext uri="{FF2B5EF4-FFF2-40B4-BE49-F238E27FC236}">
                <a16:creationId xmlns:a16="http://schemas.microsoft.com/office/drawing/2014/main" id="{EB04493A-B94D-6B1C-A1C3-8AA9DB60F128}"/>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US" kern="1200">
                <a:solidFill>
                  <a:schemeClr val="tx1"/>
                </a:solidFill>
                <a:latin typeface="+mj-lt"/>
                <a:ea typeface="+mj-ea"/>
                <a:cs typeface="+mj-cs"/>
              </a:rPr>
              <a:t>Film Industry overview</a:t>
            </a:r>
          </a:p>
        </p:txBody>
      </p:sp>
      <p:sp>
        <p:nvSpPr>
          <p:cNvPr id="33" name="Rectangle 32">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5" name="Rectangle 34">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6" name="Content Placeholder 25" descr="Chart type: Stacked Column. '• Film and video production (including post-production)', '• Film and video distribution' by 'Field1'&#10;&#10;Description automatically generated">
            <a:extLst>
              <a:ext uri="{FF2B5EF4-FFF2-40B4-BE49-F238E27FC236}">
                <a16:creationId xmlns:a16="http://schemas.microsoft.com/office/drawing/2014/main" id="{F0560B63-EA50-FF77-B7A0-0D5C9A0D5FFE}"/>
              </a:ext>
            </a:extLst>
          </p:cNvPr>
          <p:cNvGraphicFramePr>
            <a:graphicFrameLocks noGrp="1"/>
          </p:cNvGraphicFramePr>
          <p:nvPr>
            <p:ph sz="half" idx="1"/>
            <p:extLst>
              <p:ext uri="{D42A27DB-BD31-4B8C-83A1-F6EECF244321}">
                <p14:modId xmlns:p14="http://schemas.microsoft.com/office/powerpoint/2010/main" val="1424049875"/>
              </p:ext>
            </p:extLst>
          </p:nvPr>
        </p:nvGraphicFramePr>
        <p:xfrm>
          <a:off x="838200" y="2044116"/>
          <a:ext cx="5462945" cy="4121824"/>
        </p:xfrm>
        <a:graphic>
          <a:graphicData uri="http://schemas.openxmlformats.org/drawingml/2006/chart">
            <c:chart xmlns:c="http://schemas.openxmlformats.org/drawingml/2006/chart" xmlns:r="http://schemas.openxmlformats.org/officeDocument/2006/relationships" r:id="rId3"/>
          </a:graphicData>
        </a:graphic>
      </p:graphicFrame>
      <p:sp>
        <p:nvSpPr>
          <p:cNvPr id="3" name="Content Placeholder 2">
            <a:extLst>
              <a:ext uri="{FF2B5EF4-FFF2-40B4-BE49-F238E27FC236}">
                <a16:creationId xmlns:a16="http://schemas.microsoft.com/office/drawing/2014/main" id="{8BEF51F3-29A6-99CA-2645-7FF57BD79CB2}"/>
              </a:ext>
            </a:extLst>
          </p:cNvPr>
          <p:cNvSpPr>
            <a:spLocks noGrp="1"/>
          </p:cNvSpPr>
          <p:nvPr>
            <p:ph sz="half" idx="2"/>
          </p:nvPr>
        </p:nvSpPr>
        <p:spPr>
          <a:xfrm>
            <a:off x="6445507" y="2044116"/>
            <a:ext cx="4908293" cy="4121824"/>
          </a:xfrm>
        </p:spPr>
        <p:txBody>
          <a:bodyPr>
            <a:normAutofit/>
          </a:bodyPr>
          <a:lstStyle/>
          <a:p>
            <a:pPr marL="214884" indent="-214884" defTabSz="859536">
              <a:spcBef>
                <a:spcPts val="940"/>
              </a:spcBef>
            </a:pPr>
            <a:r>
              <a:rPr lang="en-GB" sz="1050" kern="1200">
                <a:solidFill>
                  <a:schemeClr val="tx1"/>
                </a:solidFill>
                <a:latin typeface="Avenir Next" panose="020B0503020202020204" pitchFamily="34" charset="0"/>
                <a:ea typeface="+mn-ea"/>
                <a:cs typeface="+mn-cs"/>
              </a:rPr>
              <a:t>The UK film industry had a turnover of £18.8 billion in 2019.</a:t>
            </a:r>
          </a:p>
          <a:p>
            <a:pPr marL="214884" indent="-214884" defTabSz="859536">
              <a:spcBef>
                <a:spcPts val="940"/>
              </a:spcBef>
            </a:pPr>
            <a:r>
              <a:rPr lang="en-GB" sz="1050" kern="1200">
                <a:solidFill>
                  <a:schemeClr val="tx1"/>
                </a:solidFill>
                <a:latin typeface="Avenir Next" panose="020B0503020202020204" pitchFamily="34" charset="0"/>
                <a:ea typeface="+mn-ea"/>
                <a:cs typeface="+mn-cs"/>
              </a:rPr>
              <a:t>The industry's direct contribution to GDP was £8 billion in 2019, representing 7% of the GDP of all creative industries.</a:t>
            </a:r>
          </a:p>
          <a:p>
            <a:pPr marL="214884" indent="-214884" defTabSz="859536">
              <a:spcBef>
                <a:spcPts val="940"/>
              </a:spcBef>
            </a:pPr>
            <a:r>
              <a:rPr lang="en-GB" sz="1050" kern="1200">
                <a:solidFill>
                  <a:schemeClr val="tx1"/>
                </a:solidFill>
                <a:latin typeface="Avenir Next" panose="020B0503020202020204" pitchFamily="34" charset="0"/>
                <a:ea typeface="+mn-ea"/>
                <a:cs typeface="+mn-cs"/>
              </a:rPr>
              <a:t>The UK film industry exported £2.3 billion worth of services in 2019, with £1.7 billion in royalties and £600 million in </a:t>
            </a:r>
            <a:r>
              <a:rPr lang="en-GB" sz="1050" kern="1200" err="1">
                <a:solidFill>
                  <a:schemeClr val="tx1"/>
                </a:solidFill>
                <a:latin typeface="Avenir Next" panose="020B0503020202020204" pitchFamily="34" charset="0"/>
                <a:ea typeface="+mn-ea"/>
                <a:cs typeface="+mn-cs"/>
              </a:rPr>
              <a:t>audiovisual</a:t>
            </a:r>
            <a:r>
              <a:rPr lang="en-GB" sz="1050" kern="1200">
                <a:solidFill>
                  <a:schemeClr val="tx1"/>
                </a:solidFill>
                <a:latin typeface="Avenir Next" panose="020B0503020202020204" pitchFamily="34" charset="0"/>
                <a:ea typeface="+mn-ea"/>
                <a:cs typeface="+mn-cs"/>
              </a:rPr>
              <a:t> and related services.</a:t>
            </a:r>
          </a:p>
          <a:p>
            <a:pPr marL="214884" indent="-214884" defTabSz="859536">
              <a:spcBef>
                <a:spcPts val="940"/>
              </a:spcBef>
            </a:pPr>
            <a:r>
              <a:rPr lang="en-GB" sz="1050" kern="1200">
                <a:solidFill>
                  <a:schemeClr val="tx1"/>
                </a:solidFill>
                <a:latin typeface="Avenir Next" panose="020B0503020202020204" pitchFamily="34" charset="0"/>
                <a:ea typeface="+mn-ea"/>
                <a:cs typeface="+mn-cs"/>
              </a:rPr>
              <a:t>The UK film trade surplus in 2019 was £1.28 billion.</a:t>
            </a:r>
          </a:p>
          <a:p>
            <a:pPr marL="214884" indent="-214884" defTabSz="859536">
              <a:spcBef>
                <a:spcPts val="940"/>
              </a:spcBef>
            </a:pPr>
            <a:r>
              <a:rPr lang="en-GB" sz="1050" kern="1200">
                <a:solidFill>
                  <a:schemeClr val="tx1"/>
                </a:solidFill>
                <a:latin typeface="Avenir Next" panose="020B0503020202020204" pitchFamily="34" charset="0"/>
                <a:ea typeface="+mn-ea"/>
                <a:cs typeface="+mn-cs"/>
              </a:rPr>
              <a:t>Between 2016 and 2020, the number of companies in the film industry increased by 22%.</a:t>
            </a:r>
          </a:p>
          <a:p>
            <a:pPr marL="214884" indent="-214884" defTabSz="859536">
              <a:spcBef>
                <a:spcPts val="940"/>
              </a:spcBef>
            </a:pPr>
            <a:r>
              <a:rPr lang="en-GB" sz="1050" kern="1200">
                <a:solidFill>
                  <a:schemeClr val="tx1"/>
                </a:solidFill>
                <a:latin typeface="Avenir Next" panose="020B0503020202020204" pitchFamily="34" charset="0"/>
                <a:ea typeface="+mn-ea"/>
                <a:cs typeface="+mn-cs"/>
              </a:rPr>
              <a:t>In 2020, there were over 8,600 film production companies, over 3,000 post-production companies, 405 film distributors, and 270 film exhibitors in the UK.</a:t>
            </a:r>
          </a:p>
          <a:p>
            <a:pPr marL="214884" indent="-214884" defTabSz="859536">
              <a:spcBef>
                <a:spcPts val="940"/>
              </a:spcBef>
            </a:pPr>
            <a:r>
              <a:rPr lang="en-GB" sz="1050" kern="1200">
                <a:solidFill>
                  <a:schemeClr val="tx1"/>
                </a:solidFill>
                <a:latin typeface="Avenir Next" panose="020B0503020202020204" pitchFamily="34" charset="0"/>
                <a:ea typeface="+mn-ea"/>
                <a:cs typeface="+mn-cs"/>
              </a:rPr>
              <a:t>Film distributors accounted for 2% of companies but 47% of industry turnover.</a:t>
            </a:r>
          </a:p>
          <a:p>
            <a:pPr marL="214884" indent="-214884" defTabSz="859536">
              <a:spcBef>
                <a:spcPts val="940"/>
              </a:spcBef>
            </a:pPr>
            <a:r>
              <a:rPr lang="en-GB" sz="1050" kern="1200">
                <a:solidFill>
                  <a:schemeClr val="tx1"/>
                </a:solidFill>
                <a:latin typeface="Avenir Next" panose="020B0503020202020204" pitchFamily="34" charset="0"/>
                <a:ea typeface="+mn-ea"/>
                <a:cs typeface="+mn-cs"/>
              </a:rPr>
              <a:t>The majority of film companies had an annual turnover of less than £250,000.</a:t>
            </a:r>
          </a:p>
          <a:p>
            <a:pPr marL="214884" indent="-214884" defTabSz="859536">
              <a:spcBef>
                <a:spcPts val="940"/>
              </a:spcBef>
            </a:pPr>
            <a:r>
              <a:rPr lang="en-GB" sz="1050" kern="1200">
                <a:solidFill>
                  <a:schemeClr val="tx1"/>
                </a:solidFill>
                <a:latin typeface="Avenir Next" panose="020B0503020202020204" pitchFamily="34" charset="0"/>
                <a:ea typeface="+mn-ea"/>
                <a:cs typeface="+mn-cs"/>
              </a:rPr>
              <a:t>The European Union was the largest export destination for UK film, accounting for 43% of exports, followed by the USA at 24%.</a:t>
            </a:r>
          </a:p>
          <a:p>
            <a:pPr marL="214884" indent="-214884" defTabSz="859536">
              <a:spcBef>
                <a:spcPts val="940"/>
              </a:spcBef>
            </a:pPr>
            <a:r>
              <a:rPr lang="en-GB" sz="1050" kern="1200">
                <a:solidFill>
                  <a:schemeClr val="tx1"/>
                </a:solidFill>
                <a:latin typeface="Avenir Next" panose="020B0503020202020204" pitchFamily="34" charset="0"/>
                <a:ea typeface="+mn-ea"/>
                <a:cs typeface="+mn-cs"/>
              </a:rPr>
              <a:t>The UK film industry had a positive trade balance, contributing to the UK balance of payments.</a:t>
            </a:r>
            <a:endParaRPr lang="en-GB" sz="1050" b="0" i="0">
              <a:effectLst/>
              <a:latin typeface="Avenir Next" panose="020B0503020202020204" pitchFamily="34" charset="0"/>
            </a:endParaRPr>
          </a:p>
        </p:txBody>
      </p:sp>
    </p:spTree>
    <p:extLst>
      <p:ext uri="{BB962C8B-B14F-4D97-AF65-F5344CB8AC3E}">
        <p14:creationId xmlns:p14="http://schemas.microsoft.com/office/powerpoint/2010/main" val="2539862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49892A7A-21A8-BC40-4549-54470255EF24}"/>
              </a:ext>
            </a:extLst>
          </p:cNvPr>
          <p:cNvGraphicFramePr>
            <a:graphicFrameLocks noGrp="1"/>
          </p:cNvGraphicFramePr>
          <p:nvPr>
            <p:ph sz="half" idx="1"/>
            <p:extLst>
              <p:ext uri="{D42A27DB-BD31-4B8C-83A1-F6EECF244321}">
                <p14:modId xmlns:p14="http://schemas.microsoft.com/office/powerpoint/2010/main" val="281058836"/>
              </p:ext>
            </p:extLst>
          </p:nvPr>
        </p:nvGraphicFramePr>
        <p:xfrm>
          <a:off x="6351075" y="812800"/>
          <a:ext cx="5464993" cy="494792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2">
            <a:extLst>
              <a:ext uri="{FF2B5EF4-FFF2-40B4-BE49-F238E27FC236}">
                <a16:creationId xmlns:a16="http://schemas.microsoft.com/office/drawing/2014/main" id="{20D03014-D64A-1FD8-6114-EA3E80399C72}"/>
              </a:ext>
            </a:extLst>
          </p:cNvPr>
          <p:cNvSpPr txBox="1"/>
          <p:nvPr/>
        </p:nvSpPr>
        <p:spPr>
          <a:xfrm>
            <a:off x="9436249" y="1811709"/>
            <a:ext cx="2299629" cy="269027"/>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GB" sz="1100">
                <a:latin typeface="Avenir Next" panose="020B0503020202020204" pitchFamily="34" charset="0"/>
              </a:rPr>
              <a:t>Average</a:t>
            </a:r>
            <a:r>
              <a:rPr lang="en-GB" sz="1100" baseline="0">
                <a:latin typeface="Avenir Next" panose="020B0503020202020204" pitchFamily="34" charset="0"/>
              </a:rPr>
              <a:t> growth rate - </a:t>
            </a:r>
            <a:r>
              <a:rPr lang="en-GB" sz="1100" baseline="0">
                <a:solidFill>
                  <a:schemeClr val="accent4"/>
                </a:solidFill>
                <a:latin typeface="Avenir Next" panose="020B0503020202020204" pitchFamily="34" charset="0"/>
              </a:rPr>
              <a:t>3.62</a:t>
            </a:r>
            <a:endParaRPr lang="en-GB" sz="1100">
              <a:solidFill>
                <a:schemeClr val="accent4"/>
              </a:solidFill>
              <a:latin typeface="Avenir Next" panose="020B0503020202020204" pitchFamily="34" charset="0"/>
            </a:endParaRPr>
          </a:p>
        </p:txBody>
      </p:sp>
      <p:graphicFrame>
        <p:nvGraphicFramePr>
          <p:cNvPr id="3" name="Content Placeholder 12" descr="Chart type: Clustered Column. Multiple values by 'Field1'&#10;&#10;Description automatically generated">
            <a:extLst>
              <a:ext uri="{FF2B5EF4-FFF2-40B4-BE49-F238E27FC236}">
                <a16:creationId xmlns:a16="http://schemas.microsoft.com/office/drawing/2014/main" id="{574D8ADD-1970-37F5-775D-DFF80DECB125}"/>
              </a:ext>
            </a:extLst>
          </p:cNvPr>
          <p:cNvGraphicFramePr>
            <a:graphicFrameLocks noGrp="1"/>
          </p:cNvGraphicFramePr>
          <p:nvPr>
            <p:ph sz="half" idx="2"/>
            <p:extLst>
              <p:ext uri="{D42A27DB-BD31-4B8C-83A1-F6EECF244321}">
                <p14:modId xmlns:p14="http://schemas.microsoft.com/office/powerpoint/2010/main" val="3137763748"/>
              </p:ext>
            </p:extLst>
          </p:nvPr>
        </p:nvGraphicFramePr>
        <p:xfrm>
          <a:off x="456122" y="812800"/>
          <a:ext cx="5384791" cy="5364480"/>
        </p:xfrm>
        <a:graphic>
          <a:graphicData uri="http://schemas.openxmlformats.org/drawingml/2006/chart">
            <c:chart xmlns:c="http://schemas.openxmlformats.org/drawingml/2006/chart" xmlns:r="http://schemas.openxmlformats.org/officeDocument/2006/relationships" r:id="rId3"/>
          </a:graphicData>
        </a:graphic>
      </p:graphicFrame>
      <p:cxnSp>
        <p:nvCxnSpPr>
          <p:cNvPr id="6" name="Straight Connector 5">
            <a:extLst>
              <a:ext uri="{FF2B5EF4-FFF2-40B4-BE49-F238E27FC236}">
                <a16:creationId xmlns:a16="http://schemas.microsoft.com/office/drawing/2014/main" id="{778C63AA-CDEC-C569-2B7E-AA65BAD669CA}"/>
              </a:ext>
            </a:extLst>
          </p:cNvPr>
          <p:cNvCxnSpPr/>
          <p:nvPr/>
        </p:nvCxnSpPr>
        <p:spPr>
          <a:xfrm>
            <a:off x="6096000" y="467360"/>
            <a:ext cx="0" cy="5862320"/>
          </a:xfrm>
          <a:prstGeom prst="line">
            <a:avLst/>
          </a:prstGeom>
          <a:ln w="101600">
            <a:solidFill>
              <a:schemeClr val="accent2">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32518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0AB741-6B83-4871-667D-ECB9ABD59FFB}"/>
              </a:ext>
            </a:extLst>
          </p:cNvPr>
          <p:cNvSpPr>
            <a:spLocks noGrp="1"/>
          </p:cNvSpPr>
          <p:nvPr>
            <p:ph type="title"/>
          </p:nvPr>
        </p:nvSpPr>
        <p:spPr>
          <a:xfrm>
            <a:off x="841248" y="334644"/>
            <a:ext cx="10509504" cy="1076914"/>
          </a:xfrm>
        </p:spPr>
        <p:txBody>
          <a:bodyPr vert="horz" lIns="91440" tIns="45720" rIns="91440" bIns="45720" rtlCol="0" anchor="ctr">
            <a:normAutofit/>
          </a:bodyPr>
          <a:lstStyle/>
          <a:p>
            <a:r>
              <a:rPr lang="en-US" sz="3700" kern="1200">
                <a:solidFill>
                  <a:schemeClr val="tx1"/>
                </a:solidFill>
                <a:latin typeface="+mj-lt"/>
                <a:ea typeface="+mj-ea"/>
                <a:cs typeface="+mj-cs"/>
              </a:rPr>
              <a:t>Annual change in video distribution and production</a:t>
            </a:r>
          </a:p>
        </p:txBody>
      </p:sp>
      <p:sp>
        <p:nvSpPr>
          <p:cNvPr id="13" name="Rectangle 12">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4" name="Content Placeholder 3">
            <a:extLst>
              <a:ext uri="{FF2B5EF4-FFF2-40B4-BE49-F238E27FC236}">
                <a16:creationId xmlns:a16="http://schemas.microsoft.com/office/drawing/2014/main" id="{71B89D11-A747-A0DE-4BC2-13DF21F7BBDA}"/>
              </a:ext>
            </a:extLst>
          </p:cNvPr>
          <p:cNvGraphicFramePr>
            <a:graphicFrameLocks noGrp="1"/>
          </p:cNvGraphicFramePr>
          <p:nvPr>
            <p:ph sz="half" idx="1"/>
            <p:extLst>
              <p:ext uri="{D42A27DB-BD31-4B8C-83A1-F6EECF244321}">
                <p14:modId xmlns:p14="http://schemas.microsoft.com/office/powerpoint/2010/main" val="2606979739"/>
              </p:ext>
            </p:extLst>
          </p:nvPr>
        </p:nvGraphicFramePr>
        <p:xfrm>
          <a:off x="1399193" y="2217969"/>
          <a:ext cx="4624231" cy="40037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ontent Placeholder 4" descr="Chart type: Clustered Column. '• Film and video production (including post-production)'&#10;&#10;Description automatically generated">
            <a:extLst>
              <a:ext uri="{FF2B5EF4-FFF2-40B4-BE49-F238E27FC236}">
                <a16:creationId xmlns:a16="http://schemas.microsoft.com/office/drawing/2014/main" id="{F53B0A15-07E8-F681-D16C-9E72D390FCBD}"/>
              </a:ext>
            </a:extLst>
          </p:cNvPr>
          <p:cNvGraphicFramePr>
            <a:graphicFrameLocks noGrp="1"/>
          </p:cNvGraphicFramePr>
          <p:nvPr>
            <p:ph sz="half" idx="2"/>
            <p:extLst>
              <p:ext uri="{D42A27DB-BD31-4B8C-83A1-F6EECF244321}">
                <p14:modId xmlns:p14="http://schemas.microsoft.com/office/powerpoint/2010/main" val="806329383"/>
              </p:ext>
            </p:extLst>
          </p:nvPr>
        </p:nvGraphicFramePr>
        <p:xfrm>
          <a:off x="6159431" y="1737360"/>
          <a:ext cx="4624231" cy="4535424"/>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2">
            <a:extLst>
              <a:ext uri="{FF2B5EF4-FFF2-40B4-BE49-F238E27FC236}">
                <a16:creationId xmlns:a16="http://schemas.microsoft.com/office/drawing/2014/main" id="{B42787A3-E90F-6288-B6A9-A8D8BCDB78B3}"/>
              </a:ext>
            </a:extLst>
          </p:cNvPr>
          <p:cNvSpPr txBox="1"/>
          <p:nvPr/>
        </p:nvSpPr>
        <p:spPr>
          <a:xfrm>
            <a:off x="7545593" y="2874106"/>
            <a:ext cx="1851907" cy="247534"/>
          </a:xfrm>
          <a:prstGeom prst="rect">
            <a:avLst/>
          </a:prstGeom>
          <a:solidFill>
            <a:schemeClr val="lt1"/>
          </a:solid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defTabSz="813816">
              <a:spcAft>
                <a:spcPts val="600"/>
              </a:spcAft>
            </a:pPr>
            <a:r>
              <a:rPr lang="en-GB" sz="979" kern="1200">
                <a:solidFill>
                  <a:schemeClr val="dk1"/>
                </a:solidFill>
                <a:latin typeface="Avenir Next" panose="020B0503020202020204" pitchFamily="34" charset="0"/>
                <a:ea typeface="+mn-ea"/>
                <a:cs typeface="+mn-cs"/>
              </a:rPr>
              <a:t>Average growth rate – </a:t>
            </a:r>
            <a:r>
              <a:rPr lang="en-GB" sz="979" kern="1200">
                <a:solidFill>
                  <a:srgbClr val="4472C4"/>
                </a:solidFill>
                <a:latin typeface="Avenir Next" panose="020B0503020202020204" pitchFamily="34" charset="0"/>
                <a:ea typeface="+mn-ea"/>
                <a:cs typeface="+mn-cs"/>
              </a:rPr>
              <a:t>16.64</a:t>
            </a:r>
            <a:endParaRPr lang="en-GB" sz="1100">
              <a:solidFill>
                <a:srgbClr val="4472C4"/>
              </a:solidFill>
              <a:latin typeface="Avenir Next" panose="020B0503020202020204" pitchFamily="34" charset="0"/>
            </a:endParaRPr>
          </a:p>
        </p:txBody>
      </p:sp>
    </p:spTree>
    <p:extLst>
      <p:ext uri="{BB962C8B-B14F-4D97-AF65-F5344CB8AC3E}">
        <p14:creationId xmlns:p14="http://schemas.microsoft.com/office/powerpoint/2010/main" val="40934422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10">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7" name="Rectangle 4106">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09" name="Rectangle 4108">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4D2B128-F053-C32A-F603-6D92CEF097F7}"/>
              </a:ext>
            </a:extLst>
          </p:cNvPr>
          <p:cNvSpPr>
            <a:spLocks noGrp="1"/>
          </p:cNvSpPr>
          <p:nvPr>
            <p:ph type="title"/>
          </p:nvPr>
        </p:nvSpPr>
        <p:spPr>
          <a:xfrm>
            <a:off x="1051560" y="586822"/>
            <a:ext cx="3657600" cy="1645920"/>
          </a:xfrm>
        </p:spPr>
        <p:txBody>
          <a:bodyPr vert="horz" lIns="91440" tIns="45720" rIns="91440" bIns="45720" rtlCol="0" anchor="ctr">
            <a:normAutofit/>
          </a:bodyPr>
          <a:lstStyle/>
          <a:p>
            <a:pPr algn="ctr"/>
            <a:r>
              <a:rPr lang="en-US" sz="3200"/>
              <a:t>Box office revenue</a:t>
            </a:r>
          </a:p>
        </p:txBody>
      </p:sp>
      <p:sp>
        <p:nvSpPr>
          <p:cNvPr id="4111" name="Rectangle 4110">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113" name="Rectangle 4112">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04" name="Content Placeholder 4103">
            <a:extLst>
              <a:ext uri="{FF2B5EF4-FFF2-40B4-BE49-F238E27FC236}">
                <a16:creationId xmlns:a16="http://schemas.microsoft.com/office/drawing/2014/main" id="{5C6AC5C9-9975-B617-4D64-38C2DB56686E}"/>
              </a:ext>
            </a:extLst>
          </p:cNvPr>
          <p:cNvSpPr>
            <a:spLocks noGrp="1"/>
          </p:cNvSpPr>
          <p:nvPr>
            <p:ph sz="half" idx="1"/>
          </p:nvPr>
        </p:nvSpPr>
        <p:spPr>
          <a:xfrm>
            <a:off x="5250106" y="586822"/>
            <a:ext cx="6106742" cy="1645920"/>
          </a:xfrm>
        </p:spPr>
        <p:txBody>
          <a:bodyPr vert="horz" lIns="91440" tIns="45720" rIns="91440" bIns="45720" rtlCol="0" anchor="ctr">
            <a:normAutofit/>
          </a:bodyPr>
          <a:lstStyle/>
          <a:p>
            <a:pPr marL="0" indent="0">
              <a:buNone/>
            </a:pPr>
            <a:r>
              <a:rPr lang="en-US" sz="1800"/>
              <a:t>Average growth rate for the period of </a:t>
            </a:r>
            <a:r>
              <a:rPr lang="en-US" sz="1800">
                <a:solidFill>
                  <a:schemeClr val="accent2"/>
                </a:solidFill>
              </a:rPr>
              <a:t>2001-2018</a:t>
            </a:r>
            <a:r>
              <a:rPr lang="en-US" sz="1800"/>
              <a:t> = </a:t>
            </a:r>
            <a:r>
              <a:rPr lang="en-US" sz="1800">
                <a:solidFill>
                  <a:schemeClr val="accent2"/>
                </a:solidFill>
              </a:rPr>
              <a:t>3.96</a:t>
            </a:r>
          </a:p>
        </p:txBody>
      </p:sp>
      <p:pic>
        <p:nvPicPr>
          <p:cNvPr id="4100" name="Picture 4" descr="A graph of blue bars&#10;&#10;Description automatically generated">
            <a:extLst>
              <a:ext uri="{FF2B5EF4-FFF2-40B4-BE49-F238E27FC236}">
                <a16:creationId xmlns:a16="http://schemas.microsoft.com/office/drawing/2014/main" id="{4AAE56D6-1FCD-D116-23E4-A4387FC3F567}"/>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554416" y="2819566"/>
            <a:ext cx="5142236" cy="3483864"/>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A graph of blue bars&#10;&#10;Description automatically generated">
            <a:extLst>
              <a:ext uri="{FF2B5EF4-FFF2-40B4-BE49-F238E27FC236}">
                <a16:creationId xmlns:a16="http://schemas.microsoft.com/office/drawing/2014/main" id="{181DF551-F53B-7CB7-1E48-20C9901BB56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986130" y="2819566"/>
            <a:ext cx="5523082" cy="3451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1543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1" name="Rectangle 5130">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133" name="Rectangle 5132">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FF9F183-5756-F8A7-ACAA-19F8660D6196}"/>
              </a:ext>
            </a:extLst>
          </p:cNvPr>
          <p:cNvSpPr>
            <a:spLocks noGrp="1"/>
          </p:cNvSpPr>
          <p:nvPr>
            <p:ph type="title"/>
          </p:nvPr>
        </p:nvSpPr>
        <p:spPr>
          <a:xfrm>
            <a:off x="1051560" y="586822"/>
            <a:ext cx="3657600" cy="1645920"/>
          </a:xfrm>
        </p:spPr>
        <p:txBody>
          <a:bodyPr vert="horz" lIns="91440" tIns="45720" rIns="91440" bIns="45720" rtlCol="0" anchor="ctr">
            <a:normAutofit/>
          </a:bodyPr>
          <a:lstStyle/>
          <a:p>
            <a:r>
              <a:rPr lang="en-US" sz="3200"/>
              <a:t>Gross revenue</a:t>
            </a:r>
          </a:p>
        </p:txBody>
      </p:sp>
      <p:sp>
        <p:nvSpPr>
          <p:cNvPr id="5135" name="Rectangle 5134">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137" name="Rectangle 5136">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28" name="Content Placeholder 5127">
            <a:extLst>
              <a:ext uri="{FF2B5EF4-FFF2-40B4-BE49-F238E27FC236}">
                <a16:creationId xmlns:a16="http://schemas.microsoft.com/office/drawing/2014/main" id="{63E46784-29DF-CFED-C616-F51C419B185D}"/>
              </a:ext>
            </a:extLst>
          </p:cNvPr>
          <p:cNvSpPr>
            <a:spLocks noGrp="1"/>
          </p:cNvSpPr>
          <p:nvPr>
            <p:ph sz="half" idx="1"/>
          </p:nvPr>
        </p:nvSpPr>
        <p:spPr>
          <a:xfrm>
            <a:off x="5250106" y="586822"/>
            <a:ext cx="6106742" cy="1645920"/>
          </a:xfrm>
        </p:spPr>
        <p:txBody>
          <a:bodyPr vert="horz" lIns="91440" tIns="45720" rIns="91440" bIns="45720" rtlCol="0" anchor="ctr">
            <a:normAutofit/>
          </a:bodyPr>
          <a:lstStyle/>
          <a:p>
            <a:r>
              <a:rPr lang="en-GB" sz="1200">
                <a:latin typeface="Avenir Next" panose="020B0503020202020204" pitchFamily="34" charset="0"/>
              </a:rPr>
              <a:t>In 2020, the total filmed entertainment market in the UK was worth an estimated £2.64 billion, down 24% from £3.46 billion in 2019. </a:t>
            </a:r>
          </a:p>
          <a:p>
            <a:r>
              <a:rPr lang="en-GB" sz="1200">
                <a:latin typeface="Avenir Next" panose="020B0503020202020204" pitchFamily="34" charset="0"/>
              </a:rPr>
              <a:t>Revenues from digital video were £1.35 billion, an increase of 40% from £966 million in 2019. </a:t>
            </a:r>
          </a:p>
          <a:p>
            <a:r>
              <a:rPr lang="en-GB" sz="1200">
                <a:latin typeface="Avenir Next" panose="020B0503020202020204" pitchFamily="34" charset="0"/>
              </a:rPr>
              <a:t>Digital video accounted for 51% of the total market, compared with 28% in 2019. </a:t>
            </a:r>
          </a:p>
          <a:p>
            <a:r>
              <a:rPr lang="en-GB" sz="1200">
                <a:latin typeface="Avenir Next" panose="020B0503020202020204" pitchFamily="34" charset="0"/>
              </a:rPr>
              <a:t>Gross revenues for UK film were an estimated £948 million, down from £1.25 billion in 2019. </a:t>
            </a:r>
            <a:endParaRPr lang="en-US" sz="1800">
              <a:latin typeface="Avenir Next" panose="020B0503020202020204" pitchFamily="34" charset="0"/>
            </a:endParaRPr>
          </a:p>
        </p:txBody>
      </p:sp>
      <p:graphicFrame>
        <p:nvGraphicFramePr>
          <p:cNvPr id="3" name="Chart 2" descr="Chart type: Clustered Column. 'Field3'&#10;&#10;Description automatically generated">
            <a:extLst>
              <a:ext uri="{FF2B5EF4-FFF2-40B4-BE49-F238E27FC236}">
                <a16:creationId xmlns:a16="http://schemas.microsoft.com/office/drawing/2014/main" id="{0D9DC059-86B5-9506-FEF7-F8A067861017}"/>
              </a:ext>
            </a:extLst>
          </p:cNvPr>
          <p:cNvGraphicFramePr>
            <a:graphicFrameLocks/>
          </p:cNvGraphicFramePr>
          <p:nvPr>
            <p:extLst>
              <p:ext uri="{D42A27DB-BD31-4B8C-83A1-F6EECF244321}">
                <p14:modId xmlns:p14="http://schemas.microsoft.com/office/powerpoint/2010/main" val="775348455"/>
              </p:ext>
            </p:extLst>
          </p:nvPr>
        </p:nvGraphicFramePr>
        <p:xfrm>
          <a:off x="42139" y="2603035"/>
          <a:ext cx="6217652" cy="351677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ontent Placeholder 4" descr="Chart type: Clustered Column. 'Field2'&#10;&#10;Description automatically generated">
            <a:extLst>
              <a:ext uri="{FF2B5EF4-FFF2-40B4-BE49-F238E27FC236}">
                <a16:creationId xmlns:a16="http://schemas.microsoft.com/office/drawing/2014/main" id="{915F2EAA-6235-5A80-9FE2-4A91D3B56F46}"/>
              </a:ext>
            </a:extLst>
          </p:cNvPr>
          <p:cNvGraphicFramePr>
            <a:graphicFrameLocks noGrp="1"/>
          </p:cNvGraphicFramePr>
          <p:nvPr>
            <p:ph sz="half" idx="2"/>
            <p:extLst>
              <p:ext uri="{D42A27DB-BD31-4B8C-83A1-F6EECF244321}">
                <p14:modId xmlns:p14="http://schemas.microsoft.com/office/powerpoint/2010/main" val="281712084"/>
              </p:ext>
            </p:extLst>
          </p:nvPr>
        </p:nvGraphicFramePr>
        <p:xfrm>
          <a:off x="6301930" y="2545879"/>
          <a:ext cx="5805791" cy="363108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175911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1" name="Rectangle 5130">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133" name="Rectangle 5132">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FF9F183-5756-F8A7-ACAA-19F8660D6196}"/>
              </a:ext>
            </a:extLst>
          </p:cNvPr>
          <p:cNvSpPr>
            <a:spLocks noGrp="1"/>
          </p:cNvSpPr>
          <p:nvPr>
            <p:ph type="title"/>
          </p:nvPr>
        </p:nvSpPr>
        <p:spPr>
          <a:xfrm>
            <a:off x="1051560" y="586822"/>
            <a:ext cx="3657600" cy="1645920"/>
          </a:xfrm>
        </p:spPr>
        <p:txBody>
          <a:bodyPr vert="horz" lIns="91440" tIns="45720" rIns="91440" bIns="45720" rtlCol="0" anchor="ctr">
            <a:normAutofit/>
          </a:bodyPr>
          <a:lstStyle/>
          <a:p>
            <a:r>
              <a:rPr lang="en-US" sz="3200"/>
              <a:t>Gross revenue</a:t>
            </a:r>
          </a:p>
        </p:txBody>
      </p:sp>
      <p:sp>
        <p:nvSpPr>
          <p:cNvPr id="5135" name="Rectangle 5134">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137" name="Rectangle 5136">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28" name="Content Placeholder 5127">
            <a:extLst>
              <a:ext uri="{FF2B5EF4-FFF2-40B4-BE49-F238E27FC236}">
                <a16:creationId xmlns:a16="http://schemas.microsoft.com/office/drawing/2014/main" id="{63E46784-29DF-CFED-C616-F51C419B185D}"/>
              </a:ext>
            </a:extLst>
          </p:cNvPr>
          <p:cNvSpPr>
            <a:spLocks noGrp="1"/>
          </p:cNvSpPr>
          <p:nvPr>
            <p:ph sz="half" idx="1"/>
          </p:nvPr>
        </p:nvSpPr>
        <p:spPr>
          <a:xfrm>
            <a:off x="5250106" y="586822"/>
            <a:ext cx="6106742" cy="1645920"/>
          </a:xfrm>
        </p:spPr>
        <p:txBody>
          <a:bodyPr vert="horz" lIns="91440" tIns="45720" rIns="91440" bIns="45720" rtlCol="0" anchor="ctr">
            <a:normAutofit/>
          </a:bodyPr>
          <a:lstStyle/>
          <a:p>
            <a:r>
              <a:rPr lang="en-GB" sz="1200">
                <a:latin typeface="Avenir Next" panose="020B0503020202020204" pitchFamily="34" charset="0"/>
              </a:rPr>
              <a:t>In 2020, the total filmed entertainment market in the UK was worth an estimated £2.64 billion, down 24% from £3.46 billion in 2019. </a:t>
            </a:r>
          </a:p>
          <a:p>
            <a:r>
              <a:rPr lang="en-GB" sz="1200">
                <a:latin typeface="Avenir Next" panose="020B0503020202020204" pitchFamily="34" charset="0"/>
              </a:rPr>
              <a:t>Revenues from digital video were £1.35 billion, an increase of 40% from £966 million in 2019. </a:t>
            </a:r>
          </a:p>
          <a:p>
            <a:r>
              <a:rPr lang="en-GB" sz="1200">
                <a:latin typeface="Avenir Next" panose="020B0503020202020204" pitchFamily="34" charset="0"/>
              </a:rPr>
              <a:t>Digital video accounted for 51% of the total market, compared with 28% in 2019. </a:t>
            </a:r>
          </a:p>
          <a:p>
            <a:r>
              <a:rPr lang="en-GB" sz="1200">
                <a:latin typeface="Avenir Next" panose="020B0503020202020204" pitchFamily="34" charset="0"/>
              </a:rPr>
              <a:t>Gross revenues for UK film were an estimated £948 million, down from £1.25 billion in 2019. </a:t>
            </a:r>
            <a:endParaRPr lang="en-US" sz="1800">
              <a:latin typeface="Avenir Next" panose="020B0503020202020204" pitchFamily="34" charset="0"/>
            </a:endParaRPr>
          </a:p>
        </p:txBody>
      </p:sp>
      <p:graphicFrame>
        <p:nvGraphicFramePr>
          <p:cNvPr id="3" name="Chart 2" descr="Chart type: Clustered Column. 'Field3'&#10;&#10;Description automatically generated">
            <a:extLst>
              <a:ext uri="{FF2B5EF4-FFF2-40B4-BE49-F238E27FC236}">
                <a16:creationId xmlns:a16="http://schemas.microsoft.com/office/drawing/2014/main" id="{0D9DC059-86B5-9506-FEF7-F8A067861017}"/>
              </a:ext>
            </a:extLst>
          </p:cNvPr>
          <p:cNvGraphicFramePr>
            <a:graphicFrameLocks/>
          </p:cNvGraphicFramePr>
          <p:nvPr/>
        </p:nvGraphicFramePr>
        <p:xfrm>
          <a:off x="42139" y="2603035"/>
          <a:ext cx="6217652" cy="351677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ontent Placeholder 6" descr="Chart type: Stacked Column. Multiple values by 'Field1'&#10;&#10;Description automatically generated">
            <a:extLst>
              <a:ext uri="{FF2B5EF4-FFF2-40B4-BE49-F238E27FC236}">
                <a16:creationId xmlns:a16="http://schemas.microsoft.com/office/drawing/2014/main" id="{0911614B-E89C-E573-5A32-4D95C00F4AC5}"/>
              </a:ext>
            </a:extLst>
          </p:cNvPr>
          <p:cNvGraphicFramePr>
            <a:graphicFrameLocks noGrp="1"/>
          </p:cNvGraphicFramePr>
          <p:nvPr>
            <p:ph sz="half" idx="2"/>
            <p:extLst>
              <p:ext uri="{D42A27DB-BD31-4B8C-83A1-F6EECF244321}">
                <p14:modId xmlns:p14="http://schemas.microsoft.com/office/powerpoint/2010/main" val="148677942"/>
              </p:ext>
            </p:extLst>
          </p:nvPr>
        </p:nvGraphicFramePr>
        <p:xfrm>
          <a:off x="6172199" y="2454440"/>
          <a:ext cx="5549663" cy="366536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94444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A63ADA64-3A22-E83F-1875-1ED30AC9E0AE}"/>
              </a:ext>
            </a:extLst>
          </p:cNvPr>
          <p:cNvSpPr>
            <a:spLocks noGrp="1"/>
          </p:cNvSpPr>
          <p:nvPr>
            <p:ph type="title"/>
          </p:nvPr>
        </p:nvSpPr>
        <p:spPr>
          <a:xfrm>
            <a:off x="841248" y="256032"/>
            <a:ext cx="10506456" cy="1014984"/>
          </a:xfrm>
        </p:spPr>
        <p:txBody>
          <a:bodyPr vert="horz" lIns="91440" tIns="45720" rIns="91440" bIns="45720" rtlCol="0" anchor="b">
            <a:normAutofit fontScale="90000"/>
          </a:bodyPr>
          <a:lstStyle/>
          <a:p>
            <a:r>
              <a:rPr lang="en-US" sz="3700" b="1" kern="1200">
                <a:solidFill>
                  <a:schemeClr val="tx1"/>
                </a:solidFill>
                <a:latin typeface="Avenir Next Demi Bold" panose="020B0503020202020204" pitchFamily="34" charset="0"/>
              </a:rPr>
              <a:t>Overview of the current state of the global market </a:t>
            </a:r>
          </a:p>
        </p:txBody>
      </p:sp>
      <p:sp>
        <p:nvSpPr>
          <p:cNvPr id="19" name="Rectangle 18">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 name="Rectangle 20">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7" name="Content Placeholder 6" descr="Chart type: Clustered Bar. 'US$ million'&#10;&#10;Description automatically generated">
            <a:extLst>
              <a:ext uri="{FF2B5EF4-FFF2-40B4-BE49-F238E27FC236}">
                <a16:creationId xmlns:a16="http://schemas.microsoft.com/office/drawing/2014/main" id="{C2C8F35A-C4CF-6812-57B6-5AA991A8B5AC}"/>
              </a:ext>
            </a:extLst>
          </p:cNvPr>
          <p:cNvGraphicFramePr>
            <a:graphicFrameLocks noGrp="1"/>
          </p:cNvGraphicFramePr>
          <p:nvPr>
            <p:ph sz="half" idx="1"/>
            <p:extLst>
              <p:ext uri="{D42A27DB-BD31-4B8C-83A1-F6EECF244321}">
                <p14:modId xmlns:p14="http://schemas.microsoft.com/office/powerpoint/2010/main" val="3596647115"/>
              </p:ext>
            </p:extLst>
          </p:nvPr>
        </p:nvGraphicFramePr>
        <p:xfrm>
          <a:off x="838200" y="2061270"/>
          <a:ext cx="4867439" cy="4087516"/>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cx1="http://schemas.microsoft.com/office/drawing/2015/9/8/chartex">
        <mc:Choice Requires="cx1">
          <p:graphicFrame>
            <p:nvGraphicFramePr>
              <p:cNvPr id="12" name="Content Placeholder 11">
                <a:extLst>
                  <a:ext uri="{FF2B5EF4-FFF2-40B4-BE49-F238E27FC236}">
                    <a16:creationId xmlns:a16="http://schemas.microsoft.com/office/drawing/2014/main" id="{0FB1D937-A7EB-B555-849C-B951E6909711}"/>
                  </a:ext>
                </a:extLst>
              </p:cNvPr>
              <p:cNvGraphicFramePr>
                <a:graphicFrameLocks noGrp="1"/>
              </p:cNvGraphicFramePr>
              <p:nvPr>
                <p:ph sz="half" idx="2"/>
                <p:extLst>
                  <p:ext uri="{D42A27DB-BD31-4B8C-83A1-F6EECF244321}">
                    <p14:modId xmlns:p14="http://schemas.microsoft.com/office/powerpoint/2010/main" val="2511698893"/>
                  </p:ext>
                </p:extLst>
              </p:nvPr>
            </p:nvGraphicFramePr>
            <p:xfrm>
              <a:off x="6414781" y="2061270"/>
              <a:ext cx="4939019" cy="4087516"/>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12" name="Content Placeholder 11">
                <a:extLst>
                  <a:ext uri="{FF2B5EF4-FFF2-40B4-BE49-F238E27FC236}">
                    <a16:creationId xmlns:a16="http://schemas.microsoft.com/office/drawing/2014/main" id="{0FB1D937-A7EB-B555-849C-B951E6909711}"/>
                  </a:ext>
                </a:extLst>
              </p:cNvPr>
              <p:cNvPicPr>
                <a:picLocks noGrp="1" noRot="1" noChangeAspect="1" noMove="1" noResize="1" noEditPoints="1" noAdjustHandles="1" noChangeArrowheads="1" noChangeShapeType="1"/>
              </p:cNvPicPr>
              <p:nvPr/>
            </p:nvPicPr>
            <p:blipFill>
              <a:blip r:embed="rId4"/>
              <a:stretch>
                <a:fillRect/>
              </a:stretch>
            </p:blipFill>
            <p:spPr>
              <a:xfrm>
                <a:off x="6414781" y="2061270"/>
                <a:ext cx="4939019" cy="4087516"/>
              </a:xfrm>
              <a:prstGeom prst="rect">
                <a:avLst/>
              </a:prstGeom>
            </p:spPr>
          </p:pic>
        </mc:Fallback>
      </mc:AlternateContent>
    </p:spTree>
    <p:extLst>
      <p:ext uri="{BB962C8B-B14F-4D97-AF65-F5344CB8AC3E}">
        <p14:creationId xmlns:p14="http://schemas.microsoft.com/office/powerpoint/2010/main" val="3770915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D1A2CED-DA9B-4CCF-8215-CFC65FE71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562DFC44-A40C-4573-9230-B3EDB3EC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B9BBCA0-2D02-9A98-C9C4-DD354A54B8FC}"/>
              </a:ext>
            </a:extLst>
          </p:cNvPr>
          <p:cNvSpPr>
            <a:spLocks noGrp="1"/>
          </p:cNvSpPr>
          <p:nvPr>
            <p:ph type="title"/>
          </p:nvPr>
        </p:nvSpPr>
        <p:spPr>
          <a:xfrm>
            <a:off x="1115568" y="509521"/>
            <a:ext cx="10232136" cy="1014984"/>
          </a:xfrm>
        </p:spPr>
        <p:txBody>
          <a:bodyPr vert="horz" lIns="91440" tIns="45720" rIns="91440" bIns="45720" rtlCol="0" anchor="ctr">
            <a:normAutofit/>
          </a:bodyPr>
          <a:lstStyle/>
          <a:p>
            <a:r>
              <a:rPr lang="en-US" sz="4000" b="1" kern="1200">
                <a:solidFill>
                  <a:schemeClr val="tx1"/>
                </a:solidFill>
                <a:latin typeface="Avenir Next Demi Bold" panose="020B0503020202020204" pitchFamily="34" charset="0"/>
              </a:rPr>
              <a:t>Expected growth Rate of the Film Industry</a:t>
            </a:r>
          </a:p>
        </p:txBody>
      </p:sp>
      <p:sp>
        <p:nvSpPr>
          <p:cNvPr id="18" name="Rectangle 17">
            <a:extLst>
              <a:ext uri="{FF2B5EF4-FFF2-40B4-BE49-F238E27FC236}">
                <a16:creationId xmlns:a16="http://schemas.microsoft.com/office/drawing/2014/main" id="{15589D35-CF9F-4DE9-A792-8571A09E9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658327"/>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 name="Content Placeholder 5" descr="Chart type: Clustered Bar. 'Field4'&#10;&#10;Description automatically generated">
            <a:extLst>
              <a:ext uri="{FF2B5EF4-FFF2-40B4-BE49-F238E27FC236}">
                <a16:creationId xmlns:a16="http://schemas.microsoft.com/office/drawing/2014/main" id="{DDB5C88C-C39F-8513-83D0-01C2BE5A251E}"/>
              </a:ext>
            </a:extLst>
          </p:cNvPr>
          <p:cNvGraphicFramePr>
            <a:graphicFrameLocks noGrp="1"/>
          </p:cNvGraphicFramePr>
          <p:nvPr>
            <p:ph sz="half" idx="2"/>
            <p:extLst>
              <p:ext uri="{D42A27DB-BD31-4B8C-83A1-F6EECF244321}">
                <p14:modId xmlns:p14="http://schemas.microsoft.com/office/powerpoint/2010/main" val="3544446666"/>
              </p:ext>
            </p:extLst>
          </p:nvPr>
        </p:nvGraphicFramePr>
        <p:xfrm>
          <a:off x="6305782" y="1723459"/>
          <a:ext cx="5041922" cy="423404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ontent Placeholder 8">
            <a:extLst>
              <a:ext uri="{FF2B5EF4-FFF2-40B4-BE49-F238E27FC236}">
                <a16:creationId xmlns:a16="http://schemas.microsoft.com/office/drawing/2014/main" id="{AFF2E7B7-7CFC-80E2-C37C-5D3E04811FBB}"/>
              </a:ext>
            </a:extLst>
          </p:cNvPr>
          <p:cNvGraphicFramePr>
            <a:graphicFrameLocks noGrp="1"/>
          </p:cNvGraphicFramePr>
          <p:nvPr>
            <p:ph sz="half" idx="1"/>
            <p:extLst>
              <p:ext uri="{D42A27DB-BD31-4B8C-83A1-F6EECF244321}">
                <p14:modId xmlns:p14="http://schemas.microsoft.com/office/powerpoint/2010/main" val="219334685"/>
              </p:ext>
            </p:extLst>
          </p:nvPr>
        </p:nvGraphicFramePr>
        <p:xfrm>
          <a:off x="1115568" y="1723459"/>
          <a:ext cx="5041922" cy="423404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81226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36A52B6-D607-81BC-C681-4787527AC46C}"/>
              </a:ext>
            </a:extLst>
          </p:cNvPr>
          <p:cNvSpPr>
            <a:spLocks noGrp="1"/>
          </p:cNvSpPr>
          <p:nvPr>
            <p:ph type="ctrTitle"/>
          </p:nvPr>
        </p:nvSpPr>
        <p:spPr/>
        <p:txBody>
          <a:bodyPr/>
          <a:lstStyle/>
          <a:p>
            <a:r>
              <a:rPr lang="en-US" b="1">
                <a:latin typeface="Avenir Next Demi Bold" panose="020B0503020202020204" pitchFamily="34" charset="0"/>
              </a:rPr>
              <a:t>Music Industry</a:t>
            </a:r>
          </a:p>
        </p:txBody>
      </p:sp>
      <p:sp>
        <p:nvSpPr>
          <p:cNvPr id="6" name="Subtitle 5">
            <a:extLst>
              <a:ext uri="{FF2B5EF4-FFF2-40B4-BE49-F238E27FC236}">
                <a16:creationId xmlns:a16="http://schemas.microsoft.com/office/drawing/2014/main" id="{B34E72B1-16A1-831D-C013-A59AD5F44DC3}"/>
              </a:ext>
            </a:extLst>
          </p:cNvPr>
          <p:cNvSpPr>
            <a:spLocks noGrp="1"/>
          </p:cNvSpPr>
          <p:nvPr>
            <p:ph type="subTitle" idx="1"/>
          </p:nvPr>
        </p:nvSpPr>
        <p:spPr>
          <a:solidFill>
            <a:schemeClr val="accent2"/>
          </a:solidFill>
        </p:spPr>
        <p:txBody>
          <a:bodyPr/>
          <a:lstStyle/>
          <a:p>
            <a:endParaRPr lang="en-US"/>
          </a:p>
        </p:txBody>
      </p:sp>
    </p:spTree>
    <p:extLst>
      <p:ext uri="{BB962C8B-B14F-4D97-AF65-F5344CB8AC3E}">
        <p14:creationId xmlns:p14="http://schemas.microsoft.com/office/powerpoint/2010/main" val="176307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51" name="Rectangle 10250">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2933A8A0-0CCA-5A47-276E-B2BA52EA6D1C}"/>
              </a:ext>
            </a:extLst>
          </p:cNvPr>
          <p:cNvSpPr>
            <a:spLocks noGrp="1"/>
          </p:cNvSpPr>
          <p:nvPr>
            <p:ph type="title"/>
          </p:nvPr>
        </p:nvSpPr>
        <p:spPr>
          <a:xfrm>
            <a:off x="630936" y="457200"/>
            <a:ext cx="4343400" cy="1929384"/>
          </a:xfrm>
        </p:spPr>
        <p:txBody>
          <a:bodyPr vert="horz" lIns="91440" tIns="45720" rIns="91440" bIns="45720" rtlCol="0" anchor="ctr">
            <a:normAutofit fontScale="90000"/>
          </a:bodyPr>
          <a:lstStyle/>
          <a:p>
            <a:r>
              <a:rPr lang="en-US" sz="4800" b="1">
                <a:latin typeface="Avenir Next Demi Bold" panose="020B0503020202020204" pitchFamily="34" charset="0"/>
              </a:rPr>
              <a:t>Overview of the UK’s Music Industry</a:t>
            </a:r>
          </a:p>
        </p:txBody>
      </p:sp>
      <p:sp>
        <p:nvSpPr>
          <p:cNvPr id="10253"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8" name="Content Placeholder 10247">
            <a:extLst>
              <a:ext uri="{FF2B5EF4-FFF2-40B4-BE49-F238E27FC236}">
                <a16:creationId xmlns:a16="http://schemas.microsoft.com/office/drawing/2014/main" id="{06E9EA5A-56AE-2405-1F25-33E6969EFD9F}"/>
              </a:ext>
            </a:extLst>
          </p:cNvPr>
          <p:cNvSpPr>
            <a:spLocks noGrp="1"/>
          </p:cNvSpPr>
          <p:nvPr>
            <p:ph sz="half" idx="1"/>
          </p:nvPr>
        </p:nvSpPr>
        <p:spPr>
          <a:xfrm>
            <a:off x="5546823" y="344930"/>
            <a:ext cx="6007608" cy="2153920"/>
          </a:xfrm>
        </p:spPr>
        <p:txBody>
          <a:bodyPr vert="horz" lIns="91440" tIns="45720" rIns="91440" bIns="45720" rtlCol="0" anchor="ctr">
            <a:normAutofit/>
          </a:bodyPr>
          <a:lstStyle/>
          <a:p>
            <a:r>
              <a:rPr lang="en-US" sz="1400">
                <a:latin typeface="Avenir Next" panose="020B0503020202020204" pitchFamily="34" charset="0"/>
              </a:rPr>
              <a:t>UK recorded music revenue increased by 12.8% to £1.262 billion in 2021.</a:t>
            </a:r>
          </a:p>
          <a:p>
            <a:r>
              <a:rPr lang="en-US" sz="1400">
                <a:latin typeface="Avenir Next" panose="020B0503020202020204" pitchFamily="34" charset="0"/>
              </a:rPr>
              <a:t>Average growth rate during almost 2 decade was 0.54 %</a:t>
            </a:r>
          </a:p>
          <a:p>
            <a:r>
              <a:rPr lang="en-GB" sz="1400" b="0" i="0">
                <a:effectLst/>
                <a:latin typeface="Avenir Next" panose="020B0503020202020204" pitchFamily="34" charset="0"/>
              </a:rPr>
              <a:t>Performance rights income, from music played in public, reached £117 million.</a:t>
            </a:r>
          </a:p>
          <a:p>
            <a:r>
              <a:rPr lang="en-US" sz="1400">
                <a:latin typeface="Avenir Next" panose="020B0503020202020204" pitchFamily="34" charset="0"/>
              </a:rPr>
              <a:t>Streaming revenues increased by 13.7% to £837.2 million and accounted for 88% of streaming revenues and 58% of total revenues.</a:t>
            </a:r>
          </a:p>
        </p:txBody>
      </p:sp>
      <p:graphicFrame>
        <p:nvGraphicFramePr>
          <p:cNvPr id="2" name="Chart 1" descr="Chart type: Clustered Column. 'Field2'&#10;&#10;Description automatically generated">
            <a:extLst>
              <a:ext uri="{FF2B5EF4-FFF2-40B4-BE49-F238E27FC236}">
                <a16:creationId xmlns:a16="http://schemas.microsoft.com/office/drawing/2014/main" id="{A7525E5C-7F39-7C90-7C07-C37556D7618F}"/>
              </a:ext>
            </a:extLst>
          </p:cNvPr>
          <p:cNvGraphicFramePr>
            <a:graphicFrameLocks/>
          </p:cNvGraphicFramePr>
          <p:nvPr>
            <p:extLst>
              <p:ext uri="{D42A27DB-BD31-4B8C-83A1-F6EECF244321}">
                <p14:modId xmlns:p14="http://schemas.microsoft.com/office/powerpoint/2010/main" val="2572969153"/>
              </p:ext>
            </p:extLst>
          </p:nvPr>
        </p:nvGraphicFramePr>
        <p:xfrm>
          <a:off x="5445252" y="2782596"/>
          <a:ext cx="6561836" cy="361820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descr="Chart type: Clustered Column. 'Field3'&#10;&#10;Description automatically generated">
            <a:extLst>
              <a:ext uri="{FF2B5EF4-FFF2-40B4-BE49-F238E27FC236}">
                <a16:creationId xmlns:a16="http://schemas.microsoft.com/office/drawing/2014/main" id="{8245892D-5983-EF95-8BBD-BC8F174D72E7}"/>
              </a:ext>
            </a:extLst>
          </p:cNvPr>
          <p:cNvGraphicFramePr>
            <a:graphicFrameLocks/>
          </p:cNvGraphicFramePr>
          <p:nvPr>
            <p:extLst>
              <p:ext uri="{D42A27DB-BD31-4B8C-83A1-F6EECF244321}">
                <p14:modId xmlns:p14="http://schemas.microsoft.com/office/powerpoint/2010/main" val="3226104330"/>
              </p:ext>
            </p:extLst>
          </p:nvPr>
        </p:nvGraphicFramePr>
        <p:xfrm>
          <a:off x="184912" y="2782596"/>
          <a:ext cx="5181600" cy="3536496"/>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3A7F6C42-9BED-4796-43DE-1E5725C71795}"/>
              </a:ext>
            </a:extLst>
          </p:cNvPr>
          <p:cNvSpPr/>
          <p:nvPr/>
        </p:nvSpPr>
        <p:spPr>
          <a:xfrm>
            <a:off x="5118130" y="457199"/>
            <a:ext cx="251312" cy="19293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5493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6FDBE91-0002-FB8D-412D-659BD111034B}"/>
              </a:ext>
            </a:extLst>
          </p:cNvPr>
          <p:cNvSpPr>
            <a:spLocks noGrp="1"/>
          </p:cNvSpPr>
          <p:nvPr>
            <p:ph type="title"/>
          </p:nvPr>
        </p:nvSpPr>
        <p:spPr>
          <a:xfrm>
            <a:off x="838200" y="365125"/>
            <a:ext cx="7039807" cy="1325563"/>
          </a:xfrm>
        </p:spPr>
        <p:txBody>
          <a:bodyPr/>
          <a:lstStyle/>
          <a:p>
            <a:r>
              <a:rPr lang="en-US" sz="4400" b="1">
                <a:latin typeface="Avenir Next Demi Bold" panose="020B0503020202020204" pitchFamily="34" charset="0"/>
              </a:rPr>
              <a:t>Overview of the UK’s Music Industry</a:t>
            </a:r>
            <a:endParaRPr lang="en-US"/>
          </a:p>
        </p:txBody>
      </p:sp>
      <p:sp>
        <p:nvSpPr>
          <p:cNvPr id="2" name="TextBox 1">
            <a:extLst>
              <a:ext uri="{FF2B5EF4-FFF2-40B4-BE49-F238E27FC236}">
                <a16:creationId xmlns:a16="http://schemas.microsoft.com/office/drawing/2014/main" id="{F2DB194B-75A9-FF12-4E77-FE0BC28B47C1}"/>
              </a:ext>
            </a:extLst>
          </p:cNvPr>
          <p:cNvSpPr txBox="1"/>
          <p:nvPr/>
        </p:nvSpPr>
        <p:spPr>
          <a:xfrm>
            <a:off x="8087360" y="693638"/>
            <a:ext cx="3891280" cy="5755422"/>
          </a:xfrm>
          <a:prstGeom prst="rect">
            <a:avLst/>
          </a:prstGeom>
          <a:noFill/>
        </p:spPr>
        <p:txBody>
          <a:bodyPr wrap="square" rtlCol="0">
            <a:spAutoFit/>
          </a:bodyPr>
          <a:lstStyle/>
          <a:p>
            <a:pPr marL="285750" indent="-285750">
              <a:buFont typeface="Arial" panose="020B0604020202020204" pitchFamily="34" charset="0"/>
              <a:buChar char="•"/>
            </a:pPr>
            <a:r>
              <a:rPr lang="en-GB" sz="1400" b="0" i="0">
                <a:effectLst/>
                <a:latin typeface="Avenir Next" panose="020B0503020202020204" pitchFamily="34" charset="0"/>
              </a:rPr>
              <a:t>Consumer spending and revenue started showing positive growth rates after digital format of music distribution became dominant</a:t>
            </a:r>
          </a:p>
          <a:p>
            <a:pPr marL="285750" indent="-285750">
              <a:buFont typeface="Arial" panose="020B0604020202020204" pitchFamily="34" charset="0"/>
              <a:buChar char="•"/>
            </a:pPr>
            <a:endParaRPr lang="en-GB" sz="1400" b="0" i="0">
              <a:effectLst/>
              <a:latin typeface="Avenir Next" panose="020B0503020202020204" pitchFamily="34" charset="0"/>
            </a:endParaRPr>
          </a:p>
          <a:p>
            <a:pPr marL="285750" indent="-285750">
              <a:buFont typeface="Arial" panose="020B0604020202020204" pitchFamily="34" charset="0"/>
              <a:buChar char="•"/>
            </a:pPr>
            <a:r>
              <a:rPr lang="en-GB" sz="1400" b="0" i="0">
                <a:effectLst/>
                <a:latin typeface="Avenir Next" panose="020B0503020202020204" pitchFamily="34" charset="0"/>
              </a:rPr>
              <a:t>Label revenues reached their highest value since 2006 when public performance and sync figures were included.</a:t>
            </a:r>
          </a:p>
          <a:p>
            <a:pPr marL="285750" indent="-285750">
              <a:buFont typeface="Arial" panose="020B0604020202020204" pitchFamily="34" charset="0"/>
              <a:buChar char="•"/>
            </a:pPr>
            <a:endParaRPr lang="en-GB" sz="1400" b="0" i="0">
              <a:effectLst/>
              <a:latin typeface="Avenir Next" panose="020B0503020202020204" pitchFamily="34" charset="0"/>
            </a:endParaRPr>
          </a:p>
          <a:p>
            <a:pPr marL="285750" indent="-285750">
              <a:buFont typeface="Arial" panose="020B0604020202020204" pitchFamily="34" charset="0"/>
              <a:buChar char="•"/>
            </a:pPr>
            <a:r>
              <a:rPr lang="en-GB" sz="1400" b="0" i="0">
                <a:effectLst/>
                <a:latin typeface="Avenir Next" panose="020B0503020202020204" pitchFamily="34" charset="0"/>
              </a:rPr>
              <a:t>Physical formats, particularly vinyl and CDs, grew at a faster rate of 14.6%, contributing £241 million.</a:t>
            </a:r>
          </a:p>
          <a:p>
            <a:pPr marL="285750" indent="-285750">
              <a:buFont typeface="Arial" panose="020B0604020202020204" pitchFamily="34" charset="0"/>
              <a:buChar char="•"/>
            </a:pPr>
            <a:endParaRPr lang="en-GB" sz="1400">
              <a:latin typeface="Avenir Next" panose="020B0503020202020204" pitchFamily="34" charset="0"/>
            </a:endParaRPr>
          </a:p>
          <a:p>
            <a:pPr marL="285750" indent="-285750">
              <a:buFont typeface="Arial" panose="020B0604020202020204" pitchFamily="34" charset="0"/>
              <a:buChar char="•"/>
            </a:pPr>
            <a:r>
              <a:rPr lang="en-GB" sz="1400" b="0" i="0">
                <a:effectLst/>
                <a:latin typeface="Avenir Next" panose="020B0503020202020204" pitchFamily="34" charset="0"/>
              </a:rPr>
              <a:t>Vinyl sales continue to rise and approached half of the total physical revenues.</a:t>
            </a:r>
          </a:p>
          <a:p>
            <a:pPr marL="285750" indent="-285750">
              <a:buFont typeface="Arial" panose="020B0604020202020204" pitchFamily="34" charset="0"/>
              <a:buChar char="•"/>
            </a:pPr>
            <a:endParaRPr lang="en-GB" sz="1400" b="0" i="0">
              <a:effectLst/>
              <a:latin typeface="Avenir Next" panose="020B0503020202020204" pitchFamily="34" charset="0"/>
            </a:endParaRPr>
          </a:p>
          <a:p>
            <a:pPr marL="285750" indent="-285750">
              <a:buFont typeface="Arial" panose="020B0604020202020204" pitchFamily="34" charset="0"/>
              <a:buChar char="•"/>
            </a:pPr>
            <a:r>
              <a:rPr lang="en-GB" sz="1400" b="0" i="0">
                <a:effectLst/>
                <a:latin typeface="Avenir Next" panose="020B0503020202020204" pitchFamily="34" charset="0"/>
              </a:rPr>
              <a:t>Streaming subscriptions accounted for 88% of streaming revenues and 58% of total revenues.</a:t>
            </a:r>
          </a:p>
          <a:p>
            <a:pPr marL="285750" indent="-285750">
              <a:buFont typeface="Arial" panose="020B0604020202020204" pitchFamily="34" charset="0"/>
              <a:buChar char="•"/>
            </a:pPr>
            <a:endParaRPr lang="en-GB" sz="1400" b="0" i="0">
              <a:effectLst/>
              <a:latin typeface="Avenir Next" panose="020B0503020202020204" pitchFamily="34" charset="0"/>
            </a:endParaRPr>
          </a:p>
          <a:p>
            <a:pPr marL="285750" indent="-285750">
              <a:buFont typeface="Arial" panose="020B0604020202020204" pitchFamily="34" charset="0"/>
              <a:buChar char="•"/>
            </a:pPr>
            <a:r>
              <a:rPr lang="en-GB" sz="1400" b="0" i="0">
                <a:effectLst/>
                <a:latin typeface="Avenir Next" panose="020B0503020202020204" pitchFamily="34" charset="0"/>
              </a:rPr>
              <a:t>Physical formats, particularly vinyl and CDs, continue to play a significant role in revenue generation.</a:t>
            </a:r>
          </a:p>
          <a:p>
            <a:endParaRPr lang="en-US"/>
          </a:p>
        </p:txBody>
      </p:sp>
      <p:pic>
        <p:nvPicPr>
          <p:cNvPr id="1026" name="Picture 2">
            <a:extLst>
              <a:ext uri="{FF2B5EF4-FFF2-40B4-BE49-F238E27FC236}">
                <a16:creationId xmlns:a16="http://schemas.microsoft.com/office/drawing/2014/main" id="{863B8FC3-9D8C-D8D2-CE6B-2DD0C9901A6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199" y="2097722"/>
            <a:ext cx="7039807"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5976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7" name="Rectangle 9226">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F9C4E51-4FC2-2517-ADD0-54EDBA4D4B36}"/>
              </a:ext>
            </a:extLst>
          </p:cNvPr>
          <p:cNvSpPr>
            <a:spLocks noGrp="1"/>
          </p:cNvSpPr>
          <p:nvPr>
            <p:ph type="title"/>
          </p:nvPr>
        </p:nvSpPr>
        <p:spPr>
          <a:xfrm>
            <a:off x="630936" y="457200"/>
            <a:ext cx="4343400" cy="1929384"/>
          </a:xfrm>
        </p:spPr>
        <p:txBody>
          <a:bodyPr vert="horz" lIns="91440" tIns="45720" rIns="91440" bIns="45720" rtlCol="0" anchor="ctr">
            <a:normAutofit/>
          </a:bodyPr>
          <a:lstStyle/>
          <a:p>
            <a:r>
              <a:rPr lang="en-US" sz="4800" b="1">
                <a:latin typeface="Avenir Next Demi Bold" panose="020B0503020202020204" pitchFamily="34" charset="0"/>
              </a:rPr>
              <a:t>Music retail sales revenue</a:t>
            </a:r>
          </a:p>
        </p:txBody>
      </p:sp>
      <p:sp>
        <p:nvSpPr>
          <p:cNvPr id="9229"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4" name="Content Placeholder 9223">
            <a:extLst>
              <a:ext uri="{FF2B5EF4-FFF2-40B4-BE49-F238E27FC236}">
                <a16:creationId xmlns:a16="http://schemas.microsoft.com/office/drawing/2014/main" id="{4D81F59D-433A-FF28-DB4F-7F2157AEF0E8}"/>
              </a:ext>
            </a:extLst>
          </p:cNvPr>
          <p:cNvSpPr>
            <a:spLocks noGrp="1"/>
          </p:cNvSpPr>
          <p:nvPr>
            <p:ph sz="half" idx="1"/>
          </p:nvPr>
        </p:nvSpPr>
        <p:spPr>
          <a:xfrm>
            <a:off x="5541263" y="457200"/>
            <a:ext cx="6007608" cy="1929384"/>
          </a:xfrm>
        </p:spPr>
        <p:txBody>
          <a:bodyPr vert="horz" lIns="91440" tIns="45720" rIns="91440" bIns="45720" rtlCol="0" anchor="ctr">
            <a:normAutofit lnSpcReduction="10000"/>
          </a:bodyPr>
          <a:lstStyle/>
          <a:p>
            <a:r>
              <a:rPr lang="en-GB" sz="1600" b="0" i="0">
                <a:effectLst/>
                <a:latin typeface="Avenir Next" panose="020B0503020202020204" pitchFamily="34" charset="0"/>
              </a:rPr>
              <a:t>Total music category sales in the UK reached £1.9869 billion in 2022, a 3% increase compared to the previous year.</a:t>
            </a:r>
          </a:p>
          <a:p>
            <a:r>
              <a:rPr lang="en-GB" sz="1600" b="0" i="0">
                <a:effectLst/>
                <a:latin typeface="Avenir Next" panose="020B0503020202020204" pitchFamily="34" charset="0"/>
              </a:rPr>
              <a:t>In-car radio remained the most popular device for accessing music, followed by Spotify and Amazon Music among under-25s.</a:t>
            </a:r>
            <a:endParaRPr lang="en-GB" sz="1600">
              <a:latin typeface="Avenir Next" panose="020B0503020202020204" pitchFamily="34" charset="0"/>
            </a:endParaRPr>
          </a:p>
          <a:p>
            <a:r>
              <a:rPr lang="en-GB" sz="1600" b="0" i="0">
                <a:effectLst/>
                <a:latin typeface="Avenir Next" panose="020B0503020202020204" pitchFamily="34" charset="0"/>
              </a:rPr>
              <a:t>Streaming dominated the music consumption preferences, with subscription streaming accounting for 56.1% and free streaming for 24.3%.</a:t>
            </a:r>
            <a:endParaRPr lang="en-US" sz="2200">
              <a:latin typeface="Avenir Next" panose="020B0503020202020204" pitchFamily="34" charset="0"/>
            </a:endParaRPr>
          </a:p>
        </p:txBody>
      </p:sp>
      <p:sp>
        <p:nvSpPr>
          <p:cNvPr id="2" name="Rectangle 1">
            <a:extLst>
              <a:ext uri="{FF2B5EF4-FFF2-40B4-BE49-F238E27FC236}">
                <a16:creationId xmlns:a16="http://schemas.microsoft.com/office/drawing/2014/main" id="{535FBB01-C918-6D42-4EDA-C6F33F1C7D24}"/>
              </a:ext>
            </a:extLst>
          </p:cNvPr>
          <p:cNvSpPr/>
          <p:nvPr/>
        </p:nvSpPr>
        <p:spPr>
          <a:xfrm>
            <a:off x="5118130" y="457199"/>
            <a:ext cx="251312" cy="19293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Chart 2" descr="Chart type: Clustered Column. 'Field3'&#10;&#10;Description automatically generated">
            <a:extLst>
              <a:ext uri="{FF2B5EF4-FFF2-40B4-BE49-F238E27FC236}">
                <a16:creationId xmlns:a16="http://schemas.microsoft.com/office/drawing/2014/main" id="{E12E5CE9-83E5-689D-2FF8-D5698532518B}"/>
              </a:ext>
            </a:extLst>
          </p:cNvPr>
          <p:cNvGraphicFramePr>
            <a:graphicFrameLocks/>
          </p:cNvGraphicFramePr>
          <p:nvPr>
            <p:extLst>
              <p:ext uri="{D42A27DB-BD31-4B8C-83A1-F6EECF244321}">
                <p14:modId xmlns:p14="http://schemas.microsoft.com/office/powerpoint/2010/main" val="3044094932"/>
              </p:ext>
            </p:extLst>
          </p:nvPr>
        </p:nvGraphicFramePr>
        <p:xfrm>
          <a:off x="6227062" y="2505929"/>
          <a:ext cx="5321809" cy="393097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descr="Chart type: Clustered Column. 'Field2'&#10;&#10;Description automatically generated">
            <a:extLst>
              <a:ext uri="{FF2B5EF4-FFF2-40B4-BE49-F238E27FC236}">
                <a16:creationId xmlns:a16="http://schemas.microsoft.com/office/drawing/2014/main" id="{632B2A68-8C55-E54F-3AEF-678CB7AA8F34}"/>
              </a:ext>
            </a:extLst>
          </p:cNvPr>
          <p:cNvGraphicFramePr>
            <a:graphicFrameLocks/>
          </p:cNvGraphicFramePr>
          <p:nvPr>
            <p:extLst>
              <p:ext uri="{D42A27DB-BD31-4B8C-83A1-F6EECF244321}">
                <p14:modId xmlns:p14="http://schemas.microsoft.com/office/powerpoint/2010/main" val="2744684758"/>
              </p:ext>
            </p:extLst>
          </p:nvPr>
        </p:nvGraphicFramePr>
        <p:xfrm>
          <a:off x="630935" y="2505929"/>
          <a:ext cx="5334003" cy="39309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736500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7B389-0F1B-EABE-7E27-A1DA25EFD8AD}"/>
              </a:ext>
            </a:extLst>
          </p:cNvPr>
          <p:cNvSpPr>
            <a:spLocks noGrp="1"/>
          </p:cNvSpPr>
          <p:nvPr>
            <p:ph type="title"/>
          </p:nvPr>
        </p:nvSpPr>
        <p:spPr>
          <a:solidFill>
            <a:schemeClr val="accent2"/>
          </a:solidFill>
        </p:spPr>
        <p:txBody>
          <a:bodyPr/>
          <a:lstStyle/>
          <a:p>
            <a:r>
              <a:rPr lang="en-US" b="1">
                <a:solidFill>
                  <a:schemeClr val="bg1"/>
                </a:solidFill>
                <a:latin typeface="Avenir Next Demi Bold" panose="020B0503020202020204" pitchFamily="34" charset="0"/>
              </a:rPr>
              <a:t>UK’s Music sector – additional information</a:t>
            </a:r>
          </a:p>
        </p:txBody>
      </p:sp>
      <p:pic>
        <p:nvPicPr>
          <p:cNvPr id="12292" name="Picture 4">
            <a:extLst>
              <a:ext uri="{FF2B5EF4-FFF2-40B4-BE49-F238E27FC236}">
                <a16:creationId xmlns:a16="http://schemas.microsoft.com/office/drawing/2014/main" id="{3D824278-523D-1383-AB46-51DA98E07AD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958564" y="1875075"/>
            <a:ext cx="4597429" cy="463064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B3A6D79D-AF91-B962-EDE9-B72309071E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875075"/>
            <a:ext cx="6120365" cy="23921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3C5CC505-CC0A-56BA-350F-2465EA1683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4267200"/>
            <a:ext cx="6120364" cy="2238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5118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3DAECE-1073-93D1-3434-B1FE4A95A26F}"/>
              </a:ext>
            </a:extLst>
          </p:cNvPr>
          <p:cNvSpPr>
            <a:spLocks noGrp="1"/>
          </p:cNvSpPr>
          <p:nvPr>
            <p:ph type="title"/>
          </p:nvPr>
        </p:nvSpPr>
        <p:spPr>
          <a:xfrm>
            <a:off x="841248" y="548640"/>
            <a:ext cx="3600860" cy="5431536"/>
          </a:xfrm>
        </p:spPr>
        <p:txBody>
          <a:bodyPr>
            <a:normAutofit/>
          </a:bodyPr>
          <a:lstStyle/>
          <a:p>
            <a:r>
              <a:rPr lang="en-US" sz="4800" b="1">
                <a:latin typeface="Avenir Next Demi Bold"/>
                <a:cs typeface="Calibri Light"/>
              </a:rPr>
              <a:t>Experience </a:t>
            </a:r>
          </a:p>
        </p:txBody>
      </p:sp>
      <p:sp>
        <p:nvSpPr>
          <p:cNvPr id="26"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B8FBEB0-F558-9C27-B94C-04634E0F735F}"/>
              </a:ext>
            </a:extLst>
          </p:cNvPr>
          <p:cNvSpPr>
            <a:spLocks noGrp="1"/>
          </p:cNvSpPr>
          <p:nvPr>
            <p:ph idx="1"/>
          </p:nvPr>
        </p:nvSpPr>
        <p:spPr>
          <a:xfrm>
            <a:off x="5126418" y="552091"/>
            <a:ext cx="6224335" cy="5431536"/>
          </a:xfrm>
        </p:spPr>
        <p:txBody>
          <a:bodyPr vert="horz" lIns="91440" tIns="45720" rIns="91440" bIns="45720" rtlCol="0" anchor="ctr">
            <a:noAutofit/>
          </a:bodyPr>
          <a:lstStyle/>
          <a:p>
            <a:r>
              <a:rPr lang="en-US" sz="1800">
                <a:latin typeface="Avenir Next"/>
                <a:ea typeface="Calibri"/>
                <a:cs typeface="Calibri"/>
              </a:rPr>
              <a:t>Historic Sites: Overall, there is little growth or decline in the number of people visiting historic sites, except during the pandemic, which had a significant impact on visitor numbers.</a:t>
            </a:r>
            <a:endParaRPr lang="en-US" sz="1800">
              <a:latin typeface="Avenir Next"/>
            </a:endParaRPr>
          </a:p>
          <a:p>
            <a:r>
              <a:rPr lang="en-US" sz="1800">
                <a:latin typeface="Avenir Next"/>
                <a:ea typeface="Calibri"/>
                <a:cs typeface="Calibri"/>
              </a:rPr>
              <a:t>Museum Revenue: Revenue from museums is steadily increasing, with occasional periods of decline, indicating a positive financial trend in the sector.</a:t>
            </a:r>
            <a:endParaRPr lang="en-US" sz="1800">
              <a:latin typeface="Avenir Next"/>
            </a:endParaRPr>
          </a:p>
          <a:p>
            <a:r>
              <a:rPr lang="en-US" sz="1800">
                <a:latin typeface="Avenir Next"/>
                <a:ea typeface="Calibri"/>
                <a:cs typeface="Calibri"/>
              </a:rPr>
              <a:t>Theater Box Office Revenue: The UK theater industry shows minimal growth in box office revenue over the years, without experiencing any decline.</a:t>
            </a:r>
            <a:endParaRPr lang="en-US" sz="1800">
              <a:latin typeface="Avenir Next"/>
            </a:endParaRPr>
          </a:p>
          <a:p>
            <a:r>
              <a:rPr lang="en-US" sz="1800">
                <a:latin typeface="Avenir Next"/>
                <a:ea typeface="Calibri"/>
                <a:cs typeface="Calibri"/>
              </a:rPr>
              <a:t>Live Music Industry: The live music sector is experiencing decent growth, indicating a thriving and evolving industry.</a:t>
            </a:r>
            <a:endParaRPr lang="en-US" sz="1800">
              <a:latin typeface="Avenir Next"/>
            </a:endParaRPr>
          </a:p>
          <a:p>
            <a:r>
              <a:rPr lang="en-US" sz="1800">
                <a:latin typeface="Avenir Next"/>
                <a:ea typeface="Calibri"/>
                <a:cs typeface="Calibri"/>
              </a:rPr>
              <a:t>Live Music Comparison: Among other countries, the USA has a massive live music sector, making comparisons with other countries difficult. However, the UK leads the way in this sector.</a:t>
            </a:r>
            <a:endParaRPr lang="en-US" sz="1800">
              <a:latin typeface="Avenir Next"/>
            </a:endParaRPr>
          </a:p>
          <a:p>
            <a:r>
              <a:rPr lang="en-US" sz="1800">
                <a:latin typeface="Avenir Next"/>
                <a:ea typeface="Calibri"/>
                <a:cs typeface="Calibri"/>
              </a:rPr>
              <a:t>Museum Revenue Comparison: The USA boasts enormous revenue from museums, making it incomparable to other countries. China holds the second position in terms of museum revenue.</a:t>
            </a:r>
            <a:endParaRPr lang="en-US" sz="1800">
              <a:latin typeface="Avenir Next"/>
            </a:endParaRPr>
          </a:p>
        </p:txBody>
      </p:sp>
      <p:sp>
        <p:nvSpPr>
          <p:cNvPr id="4" name="Rectangle 3">
            <a:extLst>
              <a:ext uri="{FF2B5EF4-FFF2-40B4-BE49-F238E27FC236}">
                <a16:creationId xmlns:a16="http://schemas.microsoft.com/office/drawing/2014/main" id="{CF465C9B-F67F-3937-8D83-50BA9F7818EC}"/>
              </a:ext>
            </a:extLst>
          </p:cNvPr>
          <p:cNvSpPr/>
          <p:nvPr/>
        </p:nvSpPr>
        <p:spPr>
          <a:xfrm>
            <a:off x="4733971" y="624864"/>
            <a:ext cx="118872" cy="5355312"/>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76559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78D7EA-32E1-A52E-D19E-8F1379715081}"/>
              </a:ext>
            </a:extLst>
          </p:cNvPr>
          <p:cNvSpPr>
            <a:spLocks noGrp="1"/>
          </p:cNvSpPr>
          <p:nvPr>
            <p:ph type="title"/>
          </p:nvPr>
        </p:nvSpPr>
        <p:spPr>
          <a:xfrm>
            <a:off x="589560" y="856180"/>
            <a:ext cx="5279408" cy="1128068"/>
          </a:xfrm>
        </p:spPr>
        <p:txBody>
          <a:bodyPr vert="horz" lIns="91440" tIns="45720" rIns="91440" bIns="45720" rtlCol="0" anchor="ctr">
            <a:normAutofit/>
          </a:bodyPr>
          <a:lstStyle/>
          <a:p>
            <a:r>
              <a:rPr lang="en-US" sz="2500" b="1">
                <a:latin typeface="Avenir Next Demi Bold" panose="020B0503020202020204" pitchFamily="34" charset="0"/>
              </a:rPr>
              <a:t>Experience – Heritage</a:t>
            </a:r>
            <a:br>
              <a:rPr lang="en-US" sz="2500" b="1"/>
            </a:br>
            <a:br>
              <a:rPr lang="en-US" sz="2500" b="1"/>
            </a:br>
            <a:endParaRPr lang="en-US" sz="2500" b="1"/>
          </a:p>
        </p:txBody>
      </p:sp>
      <p:grpSp>
        <p:nvGrpSpPr>
          <p:cNvPr id="15" name="Group 14">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6" name="Rectangle 1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6736C463-8B64-7FF6-B2E3-4E18869DC261}"/>
              </a:ext>
            </a:extLst>
          </p:cNvPr>
          <p:cNvSpPr>
            <a:spLocks noGrp="1"/>
          </p:cNvSpPr>
          <p:nvPr>
            <p:ph type="body" sz="quarter" idx="3"/>
          </p:nvPr>
        </p:nvSpPr>
        <p:spPr>
          <a:xfrm>
            <a:off x="590719" y="2330505"/>
            <a:ext cx="5278066" cy="3979585"/>
          </a:xfrm>
        </p:spPr>
        <p:txBody>
          <a:bodyPr vert="horz" lIns="91440" tIns="45720" rIns="91440" bIns="45720" rtlCol="0" anchor="ctr">
            <a:normAutofit lnSpcReduction="10000"/>
          </a:bodyPr>
          <a:lstStyle/>
          <a:p>
            <a:pPr indent="-228600">
              <a:buFont typeface="Arial" panose="020B0604020202020204" pitchFamily="34" charset="0"/>
              <a:buChar char="•"/>
            </a:pPr>
            <a:endParaRPr lang="en-US" sz="1600" b="0"/>
          </a:p>
          <a:p>
            <a:pPr marL="285750" indent="-228600">
              <a:buFont typeface="Arial" panose="020B0604020202020204" pitchFamily="34" charset="0"/>
              <a:buChar char="•"/>
            </a:pPr>
            <a:r>
              <a:rPr lang="en-US" sz="1600" b="0">
                <a:latin typeface="Avenir Next" panose="020B0503020202020204" pitchFamily="34" charset="0"/>
              </a:rPr>
              <a:t>Peak Visitation: The highest recorded number of visitors at these Heritage Sites was in 2017/2018, reaching an impressive 6.46 million individuals, demonstrating the widespread appeal and popularity of these destinations.</a:t>
            </a:r>
          </a:p>
          <a:p>
            <a:pPr marL="285750" indent="-228600">
              <a:buFont typeface="Arial" panose="020B0604020202020204" pitchFamily="34" charset="0"/>
              <a:buChar char="•"/>
            </a:pPr>
            <a:r>
              <a:rPr lang="en-US" sz="1600" b="0">
                <a:latin typeface="Avenir Next" panose="020B0503020202020204" pitchFamily="34" charset="0"/>
              </a:rPr>
              <a:t>Challenging Times: In contrast, the lowest number of visitors occurred during 2020/2021, with only 1.90 million visitors. This significant decline was primarily attributed to the impact of lockdowns during this period, highlighting the influence of external factors on visitor numbers.</a:t>
            </a:r>
          </a:p>
          <a:p>
            <a:pPr marL="285750" indent="-228600">
              <a:buFont typeface="Arial" panose="020B0604020202020204" pitchFamily="34" charset="0"/>
              <a:buChar char="•"/>
            </a:pPr>
            <a:r>
              <a:rPr lang="en-US" sz="1600" b="0">
                <a:latin typeface="Avenir Next" panose="020B0503020202020204" pitchFamily="34" charset="0"/>
              </a:rPr>
              <a:t>Diverse visitor patterns: 28% of adults engage multiple times a year (3-4 on average), 27% miss out on the experience, while an enthusiastic 3% immerse themselves weekly.</a:t>
            </a:r>
          </a:p>
          <a:p>
            <a:pPr marL="285750" indent="-228600">
              <a:buFont typeface="Arial" panose="020B0604020202020204" pitchFamily="34" charset="0"/>
              <a:buChar char="•"/>
            </a:pPr>
            <a:endParaRPr lang="en-US" sz="1600" b="0"/>
          </a:p>
          <a:p>
            <a:pPr indent="-228600">
              <a:buFont typeface="Arial" panose="020B0604020202020204" pitchFamily="34" charset="0"/>
              <a:buChar char="•"/>
            </a:pPr>
            <a:endParaRPr lang="en-US" sz="1600"/>
          </a:p>
        </p:txBody>
      </p:sp>
      <p:sp>
        <p:nvSpPr>
          <p:cNvPr id="21" name="Rectangle 20">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8" descr="A graph of visitors to heritage sites&#10;&#10;Description automatically generated">
            <a:extLst>
              <a:ext uri="{FF2B5EF4-FFF2-40B4-BE49-F238E27FC236}">
                <a16:creationId xmlns:a16="http://schemas.microsoft.com/office/drawing/2014/main" id="{30F7C746-8E34-1A92-9E50-D55A5F09B235}"/>
              </a:ext>
            </a:extLst>
          </p:cNvPr>
          <p:cNvPicPr>
            <a:picLocks noGrp="1" noChangeAspect="1"/>
          </p:cNvPicPr>
          <p:nvPr>
            <p:ph sz="quarter" idx="4"/>
          </p:nvPr>
        </p:nvPicPr>
        <p:blipFill>
          <a:blip r:embed="rId2"/>
          <a:stretch>
            <a:fillRect/>
          </a:stretch>
        </p:blipFill>
        <p:spPr>
          <a:xfrm>
            <a:off x="7191885" y="581892"/>
            <a:ext cx="4180508" cy="2518756"/>
          </a:xfrm>
          <a:prstGeom prst="rect">
            <a:avLst/>
          </a:prstGeom>
        </p:spPr>
      </p:pic>
      <p:sp>
        <p:nvSpPr>
          <p:cNvPr id="25" name="Rectangle 24">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A graph with blue bars and text&#10;&#10;Description automatically generated">
            <a:extLst>
              <a:ext uri="{FF2B5EF4-FFF2-40B4-BE49-F238E27FC236}">
                <a16:creationId xmlns:a16="http://schemas.microsoft.com/office/drawing/2014/main" id="{70EB6D60-6ADD-26A4-8E84-AE0DCD45020A}"/>
              </a:ext>
            </a:extLst>
          </p:cNvPr>
          <p:cNvPicPr>
            <a:picLocks noGrp="1" noChangeAspect="1"/>
          </p:cNvPicPr>
          <p:nvPr>
            <p:ph sz="half" idx="2"/>
          </p:nvPr>
        </p:nvPicPr>
        <p:blipFill>
          <a:blip r:embed="rId3"/>
          <a:stretch>
            <a:fillRect/>
          </a:stretch>
        </p:blipFill>
        <p:spPr>
          <a:xfrm>
            <a:off x="7190953" y="3707894"/>
            <a:ext cx="4180508" cy="2518756"/>
          </a:xfrm>
          <a:prstGeom prst="rect">
            <a:avLst/>
          </a:prstGeom>
        </p:spPr>
      </p:pic>
    </p:spTree>
    <p:extLst>
      <p:ext uri="{BB962C8B-B14F-4D97-AF65-F5344CB8AC3E}">
        <p14:creationId xmlns:p14="http://schemas.microsoft.com/office/powerpoint/2010/main" val="38173437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A8E7C81-AB41-4239-81A1-A399F505BFE2}"/>
              </a:ext>
            </a:extLst>
          </p:cNvPr>
          <p:cNvSpPr/>
          <p:nvPr/>
        </p:nvSpPr>
        <p:spPr>
          <a:xfrm>
            <a:off x="-253641" y="-132080"/>
            <a:ext cx="1686560" cy="7508240"/>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76007C-CBC4-12C2-ECBC-071BF16ABC85}"/>
              </a:ext>
            </a:extLst>
          </p:cNvPr>
          <p:cNvSpPr>
            <a:spLocks noGrp="1"/>
          </p:cNvSpPr>
          <p:nvPr>
            <p:ph type="title"/>
          </p:nvPr>
        </p:nvSpPr>
        <p:spPr>
          <a:xfrm>
            <a:off x="1417013" y="173875"/>
            <a:ext cx="10515600" cy="882011"/>
          </a:xfrm>
        </p:spPr>
        <p:txBody>
          <a:bodyPr>
            <a:normAutofit/>
          </a:bodyPr>
          <a:lstStyle/>
          <a:p>
            <a:r>
              <a:rPr lang="en-US" sz="3600" b="1">
                <a:latin typeface="Avenir Next Demi Bold"/>
                <a:cs typeface="Calibri Light"/>
              </a:rPr>
              <a:t>Heritage –</a:t>
            </a:r>
            <a:r>
              <a:rPr lang="en-US" sz="3200" b="1">
                <a:latin typeface="Avenir Next Demi Bold"/>
                <a:cs typeface="Calibri Light"/>
              </a:rPr>
              <a:t>Growth Rate</a:t>
            </a:r>
            <a:endParaRPr lang="en-US" sz="3200" b="1">
              <a:latin typeface="Avenir Next Demi Bold"/>
            </a:endParaRPr>
          </a:p>
        </p:txBody>
      </p:sp>
      <p:sp>
        <p:nvSpPr>
          <p:cNvPr id="3" name="Text Placeholder 2">
            <a:extLst>
              <a:ext uri="{FF2B5EF4-FFF2-40B4-BE49-F238E27FC236}">
                <a16:creationId xmlns:a16="http://schemas.microsoft.com/office/drawing/2014/main" id="{7E33A1AB-5A25-6B80-FB3B-BECABBC44F86}"/>
              </a:ext>
            </a:extLst>
          </p:cNvPr>
          <p:cNvSpPr>
            <a:spLocks noGrp="1"/>
          </p:cNvSpPr>
          <p:nvPr>
            <p:ph type="body" idx="1"/>
          </p:nvPr>
        </p:nvSpPr>
        <p:spPr>
          <a:xfrm>
            <a:off x="6257278" y="3220062"/>
            <a:ext cx="5157787" cy="2864244"/>
          </a:xfrm>
        </p:spPr>
        <p:txBody>
          <a:bodyPr vert="horz" lIns="91440" tIns="45720" rIns="91440" bIns="45720" rtlCol="0" anchor="b">
            <a:noAutofit/>
          </a:bodyPr>
          <a:lstStyle/>
          <a:p>
            <a:pPr marL="285750" indent="-285750">
              <a:buFont typeface="Symbol,Sans-Serif"/>
              <a:buChar char="•"/>
            </a:pPr>
            <a:r>
              <a:rPr lang="en-US" sz="800" b="0">
                <a:latin typeface="Avenir Next"/>
                <a:cs typeface="Calibri"/>
              </a:rPr>
              <a:t>Mix of tr</a:t>
            </a:r>
            <a:endParaRPr lang="en-US" sz="800">
              <a:latin typeface="Calibri" panose="020F0502020204030204"/>
              <a:cs typeface="Calibri"/>
            </a:endParaRPr>
          </a:p>
          <a:p>
            <a:pPr marL="285750" indent="-285750">
              <a:buFont typeface="Symbol,Sans-Serif"/>
              <a:buChar char="•"/>
            </a:pPr>
            <a:r>
              <a:rPr lang="en-US" sz="1800" b="0">
                <a:latin typeface="Arial"/>
                <a:cs typeface="Arial"/>
              </a:rPr>
              <a:t>Steady trend, except for a notable surge of 9.9% in 2017/2018 and a subsequent dip to -1.4% in 2019/2020.</a:t>
            </a:r>
          </a:p>
          <a:p>
            <a:pPr marL="285750" indent="-285750">
              <a:buFont typeface="Symbol,Sans-Serif"/>
              <a:buChar char="•"/>
            </a:pPr>
            <a:r>
              <a:rPr lang="en-US" sz="1800" b="0">
                <a:latin typeface="Arial"/>
                <a:cs typeface="Arial"/>
              </a:rPr>
              <a:t>Dramatic declines followed, with -2% in 2019/2020 and a significant -69.6% in 2020/2021.</a:t>
            </a:r>
          </a:p>
          <a:p>
            <a:pPr marL="285750" indent="-285750">
              <a:buFont typeface="Symbol,Sans-Serif"/>
              <a:buChar char="•"/>
            </a:pPr>
            <a:r>
              <a:rPr lang="en-US" sz="1800" b="0">
                <a:latin typeface="Arial"/>
                <a:cs typeface="Arial"/>
              </a:rPr>
              <a:t>A remarkable rebound occurred in 2021/2022, with a staggering increase of 121.1%.</a:t>
            </a:r>
            <a:endParaRPr lang="en-US" sz="800" b="0">
              <a:latin typeface="Avenir Next"/>
              <a:cs typeface="Calibri"/>
            </a:endParaRPr>
          </a:p>
        </p:txBody>
      </p:sp>
      <p:pic>
        <p:nvPicPr>
          <p:cNvPr id="7" name="Picture 7">
            <a:extLst>
              <a:ext uri="{FF2B5EF4-FFF2-40B4-BE49-F238E27FC236}">
                <a16:creationId xmlns:a16="http://schemas.microsoft.com/office/drawing/2014/main" id="{9A7335B7-DCC5-1FE4-5A4F-1670D0C47FD8}"/>
              </a:ext>
            </a:extLst>
          </p:cNvPr>
          <p:cNvPicPr>
            <a:picLocks noGrp="1" noChangeAspect="1"/>
          </p:cNvPicPr>
          <p:nvPr>
            <p:ph sz="half" idx="2"/>
          </p:nvPr>
        </p:nvPicPr>
        <p:blipFill>
          <a:blip r:embed="rId2"/>
          <a:stretch>
            <a:fillRect/>
          </a:stretch>
        </p:blipFill>
        <p:spPr>
          <a:xfrm>
            <a:off x="293103" y="814754"/>
            <a:ext cx="5157787" cy="2614246"/>
          </a:xfrm>
        </p:spPr>
      </p:pic>
      <p:sp>
        <p:nvSpPr>
          <p:cNvPr id="5" name="Text Placeholder 4">
            <a:extLst>
              <a:ext uri="{FF2B5EF4-FFF2-40B4-BE49-F238E27FC236}">
                <a16:creationId xmlns:a16="http://schemas.microsoft.com/office/drawing/2014/main" id="{8880DB77-32AC-30AE-FD53-26D7C0564516}"/>
              </a:ext>
            </a:extLst>
          </p:cNvPr>
          <p:cNvSpPr>
            <a:spLocks noGrp="1"/>
          </p:cNvSpPr>
          <p:nvPr>
            <p:ph type="body" sz="quarter" idx="3"/>
          </p:nvPr>
        </p:nvSpPr>
        <p:spPr>
          <a:xfrm>
            <a:off x="6096002" y="1220391"/>
            <a:ext cx="5480340" cy="2401649"/>
          </a:xfrm>
        </p:spPr>
        <p:txBody>
          <a:bodyPr vert="horz" lIns="91440" tIns="45720" rIns="91440" bIns="45720" rtlCol="0" anchor="b">
            <a:noAutofit/>
          </a:bodyPr>
          <a:lstStyle/>
          <a:p>
            <a:pPr marL="285750" indent="-285750">
              <a:buFont typeface="Symbol"/>
              <a:buChar char="•"/>
            </a:pPr>
            <a:endParaRPr lang="en-US" sz="1400" b="0">
              <a:latin typeface="Avenir Next Demi Bold"/>
              <a:cs typeface="Calibri"/>
            </a:endParaRPr>
          </a:p>
          <a:p>
            <a:pPr marL="285750" indent="-285750">
              <a:buFont typeface="Symbol"/>
              <a:buChar char="•"/>
            </a:pPr>
            <a:endParaRPr lang="en-US" sz="1400" b="0">
              <a:latin typeface="Avenir Next Demi Bold"/>
              <a:cs typeface="Calibri"/>
            </a:endParaRPr>
          </a:p>
          <a:p>
            <a:pPr marL="285750" indent="-285750">
              <a:buFont typeface="Symbol"/>
              <a:buChar char="•"/>
            </a:pPr>
            <a:endParaRPr lang="en-US" sz="1400" b="0">
              <a:latin typeface="Avenir Next Demi Bold"/>
              <a:cs typeface="Calibri"/>
            </a:endParaRPr>
          </a:p>
          <a:p>
            <a:pPr marL="285750" indent="-285750">
              <a:buFont typeface="Symbol"/>
              <a:buChar char="•"/>
            </a:pPr>
            <a:endParaRPr lang="en-US" sz="1400" b="0">
              <a:latin typeface="Avenir Next Demi Bold"/>
              <a:cs typeface="Calibri"/>
            </a:endParaRPr>
          </a:p>
          <a:p>
            <a:pPr marL="285750" indent="-285750">
              <a:buFont typeface="Symbol"/>
              <a:buChar char="•"/>
            </a:pPr>
            <a:endParaRPr lang="en-US" sz="1400" b="0">
              <a:latin typeface="Avenir Next Demi Bold"/>
              <a:cs typeface="Calibri"/>
            </a:endParaRPr>
          </a:p>
          <a:p>
            <a:endParaRPr lang="en-US" sz="1400" b="0">
              <a:latin typeface="Avenir Next Demi Bold"/>
              <a:cs typeface="Calibri"/>
            </a:endParaRPr>
          </a:p>
          <a:p>
            <a:pPr marL="285750" indent="-285750">
              <a:buFont typeface="Symbol"/>
              <a:buChar char="•"/>
            </a:pPr>
            <a:endParaRPr lang="en-US" sz="1800" b="0">
              <a:latin typeface="Avenir Next"/>
              <a:cs typeface="Calibri"/>
            </a:endParaRPr>
          </a:p>
          <a:p>
            <a:pPr marL="285750" indent="-285750">
              <a:buFont typeface="Symbol"/>
              <a:buChar char="•"/>
            </a:pPr>
            <a:endParaRPr lang="en-US" sz="1400" b="0">
              <a:latin typeface="Avenir Next" panose="020B0503020202020204" pitchFamily="34" charset="0"/>
              <a:cs typeface="Calibri"/>
            </a:endParaRPr>
          </a:p>
          <a:p>
            <a:pPr marL="285750" indent="-285750">
              <a:buFont typeface="Symbol,Sans-Serif"/>
              <a:buChar char="•"/>
            </a:pPr>
            <a:r>
              <a:rPr lang="en-US" sz="1800" b="0">
                <a:latin typeface="Arial"/>
                <a:cs typeface="Arial"/>
              </a:rPr>
              <a:t>Mix of tends: Visitor patterns showcase both upward and downward trends.</a:t>
            </a:r>
          </a:p>
          <a:p>
            <a:pPr marL="285750" indent="-285750">
              <a:buFont typeface="Symbol,Sans-Serif"/>
              <a:buChar char="•"/>
            </a:pPr>
            <a:r>
              <a:rPr lang="en-US" sz="1800" b="0">
                <a:latin typeface="Arial"/>
                <a:cs typeface="Arial"/>
              </a:rPr>
              <a:t>Moments of growth: Years 2017 and 2019 had notable growth rates of over 30% and 22.8% respectively.</a:t>
            </a:r>
          </a:p>
          <a:p>
            <a:pPr marL="285750" indent="-285750">
              <a:buFont typeface="Symbol,Sans-Serif"/>
              <a:buChar char="•"/>
            </a:pPr>
            <a:r>
              <a:rPr lang="en-US" sz="1800" b="0">
                <a:latin typeface="Arial"/>
                <a:cs typeface="Arial"/>
              </a:rPr>
              <a:t>Challenging declines: 2020 experienced the highest decline of 60.6%, followed by 2009 with a decline of 16.8%.</a:t>
            </a:r>
          </a:p>
          <a:p>
            <a:endParaRPr lang="en-US" sz="1800" b="0">
              <a:latin typeface="Arial"/>
              <a:cs typeface="Arial"/>
            </a:endParaRPr>
          </a:p>
        </p:txBody>
      </p:sp>
      <p:pic>
        <p:nvPicPr>
          <p:cNvPr id="6" name="Picture 7" descr="A graph with numbers and lines&#10;&#10;Description automatically generated">
            <a:extLst>
              <a:ext uri="{FF2B5EF4-FFF2-40B4-BE49-F238E27FC236}">
                <a16:creationId xmlns:a16="http://schemas.microsoft.com/office/drawing/2014/main" id="{CC1AB2CC-8567-824C-6348-1182726EDC0A}"/>
              </a:ext>
            </a:extLst>
          </p:cNvPr>
          <p:cNvPicPr>
            <a:picLocks noChangeAspect="1"/>
          </p:cNvPicPr>
          <p:nvPr/>
        </p:nvPicPr>
        <p:blipFill>
          <a:blip r:embed="rId3"/>
          <a:stretch>
            <a:fillRect/>
          </a:stretch>
        </p:blipFill>
        <p:spPr>
          <a:xfrm>
            <a:off x="280094" y="3813541"/>
            <a:ext cx="5183807" cy="2671200"/>
          </a:xfrm>
          <a:prstGeom prst="rect">
            <a:avLst/>
          </a:prstGeom>
        </p:spPr>
      </p:pic>
    </p:spTree>
    <p:extLst>
      <p:ext uri="{BB962C8B-B14F-4D97-AF65-F5344CB8AC3E}">
        <p14:creationId xmlns:p14="http://schemas.microsoft.com/office/powerpoint/2010/main" val="31176399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9117AA-9670-65DD-C191-2484735C6A3D}"/>
              </a:ext>
            </a:extLst>
          </p:cNvPr>
          <p:cNvSpPr>
            <a:spLocks noGrp="1"/>
          </p:cNvSpPr>
          <p:nvPr>
            <p:ph type="title"/>
          </p:nvPr>
        </p:nvSpPr>
        <p:spPr>
          <a:xfrm>
            <a:off x="589560" y="856180"/>
            <a:ext cx="5279408" cy="1128068"/>
          </a:xfrm>
        </p:spPr>
        <p:txBody>
          <a:bodyPr vert="horz" lIns="91440" tIns="45720" rIns="91440" bIns="45720" rtlCol="0" anchor="ctr">
            <a:normAutofit/>
          </a:bodyPr>
          <a:lstStyle/>
          <a:p>
            <a:r>
              <a:rPr lang="en-US" sz="4000" b="1">
                <a:latin typeface="Avenir Next Demi Bold" panose="020B0503020202020204" pitchFamily="34" charset="0"/>
              </a:rPr>
              <a:t>Museums</a:t>
            </a:r>
            <a:r>
              <a:rPr lang="en-US" sz="4000" b="1"/>
              <a:t> </a:t>
            </a:r>
          </a:p>
        </p:txBody>
      </p:sp>
      <p:grpSp>
        <p:nvGrpSpPr>
          <p:cNvPr id="15" name="Group 14">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6" name="Rectangle 1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69A224D1-0CB3-0448-A1C7-9D1E2DD8B7C1}"/>
              </a:ext>
            </a:extLst>
          </p:cNvPr>
          <p:cNvSpPr>
            <a:spLocks noGrp="1"/>
          </p:cNvSpPr>
          <p:nvPr>
            <p:ph type="body" sz="quarter" idx="3"/>
          </p:nvPr>
        </p:nvSpPr>
        <p:spPr>
          <a:xfrm>
            <a:off x="590902" y="2791223"/>
            <a:ext cx="5278066" cy="3831050"/>
          </a:xfrm>
        </p:spPr>
        <p:txBody>
          <a:bodyPr vert="horz" lIns="91440" tIns="45720" rIns="91440" bIns="45720" rtlCol="0" anchor="ctr">
            <a:normAutofit/>
          </a:bodyPr>
          <a:lstStyle/>
          <a:p>
            <a:pPr marL="285750" indent="-228600">
              <a:buFont typeface="Arial" panose="020B0604020202020204" pitchFamily="34" charset="0"/>
              <a:buChar char="•"/>
            </a:pPr>
            <a:r>
              <a:rPr lang="en-US" sz="1300" b="0">
                <a:latin typeface="Avenir Next" panose="020B0503020202020204" pitchFamily="34" charset="0"/>
              </a:rPr>
              <a:t>Mixed trends: Revenue patterns exhibit both upward and downward trends, creating a dynamic landscape of financial performance.</a:t>
            </a:r>
          </a:p>
          <a:p>
            <a:pPr marL="285750" indent="-228600">
              <a:buFont typeface="Arial" panose="020B0604020202020204" pitchFamily="34" charset="0"/>
              <a:buChar char="•"/>
            </a:pPr>
            <a:r>
              <a:rPr lang="en-US" sz="1300" b="0">
                <a:latin typeface="Avenir Next" panose="020B0503020202020204" pitchFamily="34" charset="0"/>
              </a:rPr>
              <a:t>Notable growth: Years 2010, 2011, 2013, 2015, 2017, and 2019 experienced upward trends, with 2017 leading the way with over 30% growth, followed by 2019 with 22.8%.</a:t>
            </a:r>
          </a:p>
          <a:p>
            <a:pPr marL="285750" indent="-228600">
              <a:buFont typeface="Arial" panose="020B0604020202020204" pitchFamily="34" charset="0"/>
              <a:buChar char="•"/>
            </a:pPr>
            <a:r>
              <a:rPr lang="en-US" sz="1300" b="0">
                <a:latin typeface="Avenir Next" panose="020B0503020202020204" pitchFamily="34" charset="0"/>
              </a:rPr>
              <a:t>Challenging declines: In contrast, 2020 faced the highest decline of 60.6%, closely followed by 2009 with a decline of 16.8%, reflecting the impact of external factors on revenue fluctuations.</a:t>
            </a:r>
          </a:p>
          <a:p>
            <a:pPr marL="57150"/>
            <a:endParaRPr lang="en-US" sz="1500" b="0">
              <a:latin typeface="Avenir Next" panose="020B0503020202020204" pitchFamily="34" charset="0"/>
            </a:endParaRPr>
          </a:p>
          <a:p>
            <a:pPr marL="285750" indent="-228600">
              <a:buFont typeface="Arial" panose="020B0604020202020204" pitchFamily="34" charset="0"/>
              <a:buChar char="•"/>
            </a:pPr>
            <a:r>
              <a:rPr lang="en-US" sz="1300" b="0">
                <a:latin typeface="Avenir Next" panose="020B0503020202020204" pitchFamily="34" charset="0"/>
              </a:rPr>
              <a:t>Upward trend since 2008, indicating consistent growth.</a:t>
            </a:r>
          </a:p>
          <a:p>
            <a:pPr marL="285750" indent="-228600">
              <a:buFont typeface="Arial" panose="020B0604020202020204" pitchFamily="34" charset="0"/>
              <a:buChar char="•"/>
            </a:pPr>
            <a:r>
              <a:rPr lang="en-US" sz="1300" b="0">
                <a:latin typeface="Avenir Next" panose="020B0503020202020204" pitchFamily="34" charset="0"/>
              </a:rPr>
              <a:t>Revenue peaks: 2019 generated the highest revenue at 775 million GBP, followed by 2017 at 718 million GBP.</a:t>
            </a:r>
          </a:p>
          <a:p>
            <a:pPr marL="285750" indent="-228600">
              <a:buFont typeface="Arial" panose="020B0604020202020204" pitchFamily="34" charset="0"/>
              <a:buChar char="•"/>
            </a:pPr>
            <a:r>
              <a:rPr lang="en-US" sz="1300" b="0">
                <a:latin typeface="Avenir Next" panose="020B0503020202020204" pitchFamily="34" charset="0"/>
              </a:rPr>
              <a:t>Lowest revenue: 2020 recorded the lowest revenue at 305 million GBP.</a:t>
            </a:r>
          </a:p>
          <a:p>
            <a:pPr marL="285750" indent="-228600">
              <a:buFont typeface="Arial" panose="020B0604020202020204" pitchFamily="34" charset="0"/>
              <a:buChar char="•"/>
            </a:pPr>
            <a:endParaRPr lang="en-US" sz="1100" b="0"/>
          </a:p>
          <a:p>
            <a:pPr marL="285750" indent="-228600">
              <a:buFont typeface="Arial" panose="020B0604020202020204" pitchFamily="34" charset="0"/>
              <a:buChar char="•"/>
            </a:pPr>
            <a:endParaRPr lang="en-US" sz="1100" b="0"/>
          </a:p>
          <a:p>
            <a:pPr indent="-228600">
              <a:buFont typeface="Arial" panose="020B0604020202020204" pitchFamily="34" charset="0"/>
              <a:buChar char="•"/>
            </a:pPr>
            <a:endParaRPr lang="en-US" sz="1100"/>
          </a:p>
        </p:txBody>
      </p:sp>
      <p:sp>
        <p:nvSpPr>
          <p:cNvPr id="21" name="Rectangle 20">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8" descr="A graph of growth rate of revenue&#10;&#10;Description automatically generated">
            <a:extLst>
              <a:ext uri="{FF2B5EF4-FFF2-40B4-BE49-F238E27FC236}">
                <a16:creationId xmlns:a16="http://schemas.microsoft.com/office/drawing/2014/main" id="{009ED330-9E5F-A534-AF25-76AC8922A138}"/>
              </a:ext>
            </a:extLst>
          </p:cNvPr>
          <p:cNvPicPr>
            <a:picLocks noGrp="1" noChangeAspect="1"/>
          </p:cNvPicPr>
          <p:nvPr>
            <p:ph sz="quarter" idx="4"/>
          </p:nvPr>
        </p:nvPicPr>
        <p:blipFill>
          <a:blip r:embed="rId2"/>
          <a:stretch>
            <a:fillRect/>
          </a:stretch>
        </p:blipFill>
        <p:spPr>
          <a:xfrm>
            <a:off x="7186891" y="581892"/>
            <a:ext cx="4190496" cy="2518756"/>
          </a:xfrm>
          <a:prstGeom prst="rect">
            <a:avLst/>
          </a:prstGeom>
        </p:spPr>
      </p:pic>
      <p:sp>
        <p:nvSpPr>
          <p:cNvPr id="25" name="Rectangle 24">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A graph with numbers and a bar chart&#10;&#10;Description automatically generated">
            <a:extLst>
              <a:ext uri="{FF2B5EF4-FFF2-40B4-BE49-F238E27FC236}">
                <a16:creationId xmlns:a16="http://schemas.microsoft.com/office/drawing/2014/main" id="{67594D37-AA3B-FFAD-D801-BB0B9E18A21F}"/>
              </a:ext>
            </a:extLst>
          </p:cNvPr>
          <p:cNvPicPr>
            <a:picLocks noGrp="1" noChangeAspect="1"/>
          </p:cNvPicPr>
          <p:nvPr>
            <p:ph sz="half" idx="2"/>
          </p:nvPr>
        </p:nvPicPr>
        <p:blipFill>
          <a:blip r:embed="rId3"/>
          <a:stretch>
            <a:fillRect/>
          </a:stretch>
        </p:blipFill>
        <p:spPr>
          <a:xfrm>
            <a:off x="7740684" y="3707894"/>
            <a:ext cx="3081046" cy="2518756"/>
          </a:xfrm>
          <a:prstGeom prst="rect">
            <a:avLst/>
          </a:prstGeom>
        </p:spPr>
      </p:pic>
    </p:spTree>
    <p:extLst>
      <p:ext uri="{BB962C8B-B14F-4D97-AF65-F5344CB8AC3E}">
        <p14:creationId xmlns:p14="http://schemas.microsoft.com/office/powerpoint/2010/main" val="33533810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FB7800-6B84-0F8B-4B43-97597C8D1896}"/>
              </a:ext>
            </a:extLst>
          </p:cNvPr>
          <p:cNvSpPr>
            <a:spLocks noGrp="1"/>
          </p:cNvSpPr>
          <p:nvPr>
            <p:ph type="title"/>
          </p:nvPr>
        </p:nvSpPr>
        <p:spPr>
          <a:xfrm>
            <a:off x="630936" y="457200"/>
            <a:ext cx="4343400" cy="1929384"/>
          </a:xfrm>
        </p:spPr>
        <p:txBody>
          <a:bodyPr vert="horz" lIns="91440" tIns="45720" rIns="91440" bIns="45720" rtlCol="0" anchor="ctr">
            <a:normAutofit/>
          </a:bodyPr>
          <a:lstStyle/>
          <a:p>
            <a:r>
              <a:rPr lang="en-US" sz="4800" b="1">
                <a:latin typeface="Avenir Next Demi Bold" panose="020B0503020202020204" pitchFamily="34" charset="0"/>
              </a:rPr>
              <a:t>Theatre Box Office</a:t>
            </a:r>
          </a:p>
        </p:txBody>
      </p:sp>
      <p:sp>
        <p:nvSpPr>
          <p:cNvPr id="15"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2D6A20B9-2D58-253A-ABDE-B283101BC791}"/>
              </a:ext>
            </a:extLst>
          </p:cNvPr>
          <p:cNvSpPr>
            <a:spLocks noGrp="1"/>
          </p:cNvSpPr>
          <p:nvPr>
            <p:ph type="body" idx="1"/>
          </p:nvPr>
        </p:nvSpPr>
        <p:spPr>
          <a:xfrm>
            <a:off x="5541263" y="457200"/>
            <a:ext cx="6007608" cy="1929384"/>
          </a:xfrm>
        </p:spPr>
        <p:txBody>
          <a:bodyPr vert="horz" lIns="91440" tIns="45720" rIns="91440" bIns="45720" rtlCol="0" anchor="ctr">
            <a:normAutofit/>
          </a:bodyPr>
          <a:lstStyle/>
          <a:p>
            <a:r>
              <a:rPr lang="en-US" sz="2200" b="0">
                <a:latin typeface="Avenir Next"/>
              </a:rPr>
              <a:t>The Gross Box income remained stable, resulting in 397 million GBP in 2013 and increasing significantly to 509 million GBP in 2018. </a:t>
            </a:r>
          </a:p>
        </p:txBody>
      </p:sp>
      <p:pic>
        <p:nvPicPr>
          <p:cNvPr id="8" name="Picture 8" descr="A graph of a number of people&#10;&#10;Description automatically generated">
            <a:extLst>
              <a:ext uri="{FF2B5EF4-FFF2-40B4-BE49-F238E27FC236}">
                <a16:creationId xmlns:a16="http://schemas.microsoft.com/office/drawing/2014/main" id="{D4FC7C82-C555-4118-09C9-7EA865C10F98}"/>
              </a:ext>
            </a:extLst>
          </p:cNvPr>
          <p:cNvPicPr>
            <a:picLocks noGrp="1" noChangeAspect="1"/>
          </p:cNvPicPr>
          <p:nvPr>
            <p:ph sz="quarter" idx="4"/>
          </p:nvPr>
        </p:nvPicPr>
        <p:blipFill>
          <a:blip r:embed="rId2"/>
          <a:stretch>
            <a:fillRect/>
          </a:stretch>
        </p:blipFill>
        <p:spPr>
          <a:xfrm>
            <a:off x="466344" y="2599577"/>
            <a:ext cx="5468112" cy="3618710"/>
          </a:xfrm>
          <a:prstGeom prst="rect">
            <a:avLst/>
          </a:prstGeom>
        </p:spPr>
      </p:pic>
      <p:pic>
        <p:nvPicPr>
          <p:cNvPr id="7" name="Picture 7" descr="A graph of blue bars&#10;&#10;Description automatically generated">
            <a:extLst>
              <a:ext uri="{FF2B5EF4-FFF2-40B4-BE49-F238E27FC236}">
                <a16:creationId xmlns:a16="http://schemas.microsoft.com/office/drawing/2014/main" id="{99CB0D6E-3D53-EBFE-983C-EC7E77B011BC}"/>
              </a:ext>
            </a:extLst>
          </p:cNvPr>
          <p:cNvPicPr>
            <a:picLocks noGrp="1" noChangeAspect="1"/>
          </p:cNvPicPr>
          <p:nvPr>
            <p:ph sz="half" idx="2"/>
          </p:nvPr>
        </p:nvPicPr>
        <p:blipFill>
          <a:blip r:embed="rId3"/>
          <a:stretch>
            <a:fillRect/>
          </a:stretch>
        </p:blipFill>
        <p:spPr>
          <a:xfrm>
            <a:off x="6254496" y="2599576"/>
            <a:ext cx="5468112" cy="3618709"/>
          </a:xfrm>
          <a:prstGeom prst="rect">
            <a:avLst/>
          </a:prstGeom>
        </p:spPr>
      </p:pic>
      <p:sp>
        <p:nvSpPr>
          <p:cNvPr id="4" name="Rectangle 3">
            <a:extLst>
              <a:ext uri="{FF2B5EF4-FFF2-40B4-BE49-F238E27FC236}">
                <a16:creationId xmlns:a16="http://schemas.microsoft.com/office/drawing/2014/main" id="{A24B40F7-B26B-3AB0-6DC5-54A061D1A1D4}"/>
              </a:ext>
            </a:extLst>
          </p:cNvPr>
          <p:cNvSpPr/>
          <p:nvPr/>
        </p:nvSpPr>
        <p:spPr>
          <a:xfrm>
            <a:off x="5118130" y="457199"/>
            <a:ext cx="251312" cy="1929383"/>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00895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3" name="Rectangle 41">
            <a:extLst>
              <a:ext uri="{FF2B5EF4-FFF2-40B4-BE49-F238E27FC236}">
                <a16:creationId xmlns:a16="http://schemas.microsoft.com/office/drawing/2014/main" id="{F5A5F1D7-F0D0-4687-9BD3-CA6A0714C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4" name="Group 4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45" name="Rectangle 4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5" name="Rectangle 4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EE73F3-32F7-854F-933A-7B5D801700BC}"/>
              </a:ext>
            </a:extLst>
          </p:cNvPr>
          <p:cNvSpPr>
            <a:spLocks noGrp="1"/>
          </p:cNvSpPr>
          <p:nvPr>
            <p:ph type="title"/>
          </p:nvPr>
        </p:nvSpPr>
        <p:spPr>
          <a:xfrm>
            <a:off x="1043631" y="873940"/>
            <a:ext cx="4928291" cy="1035781"/>
          </a:xfrm>
        </p:spPr>
        <p:txBody>
          <a:bodyPr vert="horz" lIns="91440" tIns="45720" rIns="91440" bIns="45720" rtlCol="0" anchor="ctr">
            <a:normAutofit fontScale="90000"/>
          </a:bodyPr>
          <a:lstStyle/>
          <a:p>
            <a:r>
              <a:rPr lang="en-US" sz="3600" b="1" kern="1200">
                <a:solidFill>
                  <a:schemeClr val="tx1"/>
                </a:solidFill>
                <a:latin typeface="Avenir Next Demi Bold" panose="020B0503020202020204" pitchFamily="34" charset="0"/>
              </a:rPr>
              <a:t>Live Music Attendance</a:t>
            </a:r>
          </a:p>
        </p:txBody>
      </p:sp>
      <p:sp>
        <p:nvSpPr>
          <p:cNvPr id="7" name="Text Placeholder 6">
            <a:extLst>
              <a:ext uri="{FF2B5EF4-FFF2-40B4-BE49-F238E27FC236}">
                <a16:creationId xmlns:a16="http://schemas.microsoft.com/office/drawing/2014/main" id="{484641AF-6B42-AB81-A826-24F3B4470B74}"/>
              </a:ext>
            </a:extLst>
          </p:cNvPr>
          <p:cNvSpPr>
            <a:spLocks noGrp="1"/>
          </p:cNvSpPr>
          <p:nvPr>
            <p:ph type="body" sz="quarter" idx="3"/>
          </p:nvPr>
        </p:nvSpPr>
        <p:spPr>
          <a:xfrm>
            <a:off x="1045029" y="2524721"/>
            <a:ext cx="4991629" cy="3677123"/>
          </a:xfrm>
        </p:spPr>
        <p:txBody>
          <a:bodyPr vert="horz" lIns="91440" tIns="45720" rIns="91440" bIns="45720" rtlCol="0" anchor="ctr">
            <a:noAutofit/>
          </a:bodyPr>
          <a:lstStyle/>
          <a:p>
            <a:pPr marL="285750" indent="-228600">
              <a:buFont typeface="Arial" panose="020B0604020202020204" pitchFamily="34" charset="0"/>
              <a:buChar char="•"/>
            </a:pPr>
            <a:r>
              <a:rPr lang="en-US" sz="1400" b="0">
                <a:latin typeface="Avenir Next"/>
              </a:rPr>
              <a:t>The year 2015 witnessed the highest surge in live music attendance with an impressive 31.3% increase, creating an electrifying atmosphere for music lovers.</a:t>
            </a:r>
            <a:endParaRPr lang="en-US" sz="1400">
              <a:latin typeface="Avenir Next"/>
            </a:endParaRPr>
          </a:p>
          <a:p>
            <a:pPr marL="285750" indent="-228600">
              <a:buFont typeface="Arial" panose="020B0604020202020204" pitchFamily="34" charset="0"/>
              <a:buChar char="•"/>
            </a:pPr>
            <a:r>
              <a:rPr lang="en-US" sz="1400" b="0">
                <a:latin typeface="Avenir Next"/>
              </a:rPr>
              <a:t>Strong growth momentum: Following closely, 2013 experienced the second-highest growth rate at 23.3%, demonstrating sustained interest and engagement in the UK's vibrant live music scene.</a:t>
            </a:r>
            <a:endParaRPr lang="en-US" sz="1400">
              <a:latin typeface="Avenir Next"/>
            </a:endParaRPr>
          </a:p>
          <a:p>
            <a:pPr marL="285750" indent="-228600">
              <a:buFont typeface="Arial" panose="020B0604020202020204" pitchFamily="34" charset="0"/>
              <a:buChar char="•"/>
            </a:pPr>
            <a:r>
              <a:rPr lang="en-US" sz="1400" b="0">
                <a:latin typeface="Avenir Next"/>
              </a:rPr>
              <a:t>Challenging decline: Conversely, 2017 saw the lowest growth rate with a decline of -6.1%, reflecting temporary setbacks in attendance figures during that period.</a:t>
            </a:r>
          </a:p>
          <a:p>
            <a:pPr marL="285750" indent="-228600">
              <a:buFont typeface="Arial" panose="020B0604020202020204" pitchFamily="34" charset="0"/>
              <a:buChar char="•"/>
            </a:pPr>
            <a:r>
              <a:rPr lang="en-US" sz="1400" b="0">
                <a:latin typeface="Avenir Next"/>
              </a:rPr>
              <a:t>Attendance peak: The highest recorded number of attendees at live music events in the UK occurred in 2016, with an estimated 30.90 million individuals, creating a vibrant and memorable experience for music enthusiasts.</a:t>
            </a:r>
          </a:p>
          <a:p>
            <a:pPr marL="285750" indent="-228600">
              <a:buFont typeface="Arial" panose="020B0604020202020204" pitchFamily="34" charset="0"/>
              <a:buChar char="•"/>
            </a:pPr>
            <a:r>
              <a:rPr lang="en-US" sz="1400" b="0">
                <a:latin typeface="Avenir Next"/>
              </a:rPr>
              <a:t>Attendance low: In contrast, the lowest number of attendees was observed in 2012, with an estimated 15.90 million attendees. Despite the dip, the UK's live music scene continued to captivate audiences.</a:t>
            </a:r>
          </a:p>
          <a:p>
            <a:pPr marL="285750" indent="-228600">
              <a:buFont typeface="Arial" panose="020B0604020202020204" pitchFamily="34" charset="0"/>
              <a:buChar char="•"/>
            </a:pPr>
            <a:endParaRPr lang="en-US" sz="1100"/>
          </a:p>
        </p:txBody>
      </p:sp>
      <p:pic>
        <p:nvPicPr>
          <p:cNvPr id="11" name="Picture 11" descr="A graph of blue and white bars&#10;&#10;Description automatically generated">
            <a:extLst>
              <a:ext uri="{FF2B5EF4-FFF2-40B4-BE49-F238E27FC236}">
                <a16:creationId xmlns:a16="http://schemas.microsoft.com/office/drawing/2014/main" id="{7F9CEE91-FBA8-B48F-3463-EF3AAC30AC49}"/>
              </a:ext>
            </a:extLst>
          </p:cNvPr>
          <p:cNvPicPr>
            <a:picLocks noGrp="1" noChangeAspect="1"/>
          </p:cNvPicPr>
          <p:nvPr>
            <p:ph sz="half" idx="2"/>
          </p:nvPr>
        </p:nvPicPr>
        <p:blipFill rotWithShape="1">
          <a:blip r:embed="rId2"/>
          <a:srcRect t="15231" r="-2" b="1297"/>
          <a:stretch/>
        </p:blipFill>
        <p:spPr>
          <a:xfrm>
            <a:off x="6831620" y="590627"/>
            <a:ext cx="4565417" cy="2679192"/>
          </a:xfrm>
          <a:prstGeom prst="rect">
            <a:avLst/>
          </a:prstGeom>
        </p:spPr>
      </p:pic>
      <p:pic>
        <p:nvPicPr>
          <p:cNvPr id="12" name="Picture 12" descr="A graph of a number of blue bars&#10;&#10;Description automatically generated">
            <a:extLst>
              <a:ext uri="{FF2B5EF4-FFF2-40B4-BE49-F238E27FC236}">
                <a16:creationId xmlns:a16="http://schemas.microsoft.com/office/drawing/2014/main" id="{7BA4978F-1C41-F12A-95DE-D4D7E8FB249F}"/>
              </a:ext>
            </a:extLst>
          </p:cNvPr>
          <p:cNvPicPr>
            <a:picLocks noGrp="1" noChangeAspect="1"/>
          </p:cNvPicPr>
          <p:nvPr>
            <p:ph sz="quarter" idx="4"/>
          </p:nvPr>
        </p:nvPicPr>
        <p:blipFill rotWithShape="1">
          <a:blip r:embed="rId3"/>
          <a:srcRect r="-10" b="3024"/>
          <a:stretch/>
        </p:blipFill>
        <p:spPr>
          <a:xfrm>
            <a:off x="6831620" y="3522652"/>
            <a:ext cx="4565417" cy="2679192"/>
          </a:xfrm>
          <a:prstGeom prst="rect">
            <a:avLst/>
          </a:prstGeom>
        </p:spPr>
      </p:pic>
      <p:cxnSp>
        <p:nvCxnSpPr>
          <p:cNvPr id="66" name="Straight Connector 5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CB1ACCDC-C3F5-914D-3311-0A7C95F8879B}"/>
              </a:ext>
            </a:extLst>
          </p:cNvPr>
          <p:cNvSpPr/>
          <p:nvPr/>
        </p:nvSpPr>
        <p:spPr>
          <a:xfrm>
            <a:off x="6655608" y="27084"/>
            <a:ext cx="4917440" cy="3107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4886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BBBF51-9F29-1243-F077-5EFCA46D45AC}"/>
              </a:ext>
            </a:extLst>
          </p:cNvPr>
          <p:cNvSpPr>
            <a:spLocks noGrp="1"/>
          </p:cNvSpPr>
          <p:nvPr>
            <p:ph type="title"/>
          </p:nvPr>
        </p:nvSpPr>
        <p:spPr>
          <a:xfrm>
            <a:off x="589560" y="856180"/>
            <a:ext cx="5279408" cy="1128068"/>
          </a:xfrm>
        </p:spPr>
        <p:txBody>
          <a:bodyPr vert="horz" lIns="91440" tIns="45720" rIns="91440" bIns="45720" rtlCol="0" anchor="ctr">
            <a:normAutofit/>
          </a:bodyPr>
          <a:lstStyle/>
          <a:p>
            <a:r>
              <a:rPr lang="en-US" sz="4000" b="1">
                <a:latin typeface="Avenir Next Demi Bold" panose="020B0503020202020204" pitchFamily="34" charset="0"/>
              </a:rPr>
              <a:t>GVA</a:t>
            </a:r>
          </a:p>
        </p:txBody>
      </p:sp>
      <p:grpSp>
        <p:nvGrpSpPr>
          <p:cNvPr id="15" name="Group 14">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6" name="Rectangle 1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BADA75F7-7BEB-5C17-D1ED-5C7619664F63}"/>
              </a:ext>
            </a:extLst>
          </p:cNvPr>
          <p:cNvSpPr>
            <a:spLocks noGrp="1"/>
          </p:cNvSpPr>
          <p:nvPr>
            <p:ph type="body" idx="1"/>
          </p:nvPr>
        </p:nvSpPr>
        <p:spPr>
          <a:xfrm>
            <a:off x="590719" y="2330505"/>
            <a:ext cx="5278066" cy="3979585"/>
          </a:xfrm>
        </p:spPr>
        <p:txBody>
          <a:bodyPr vert="horz" lIns="91440" tIns="45720" rIns="91440" bIns="45720" rtlCol="0" anchor="ctr">
            <a:normAutofit/>
          </a:bodyPr>
          <a:lstStyle/>
          <a:p>
            <a:pPr marL="285750" indent="-228600">
              <a:buFont typeface="Arial" panose="020B0604020202020204" pitchFamily="34" charset="0"/>
              <a:buChar char="•"/>
            </a:pPr>
            <a:r>
              <a:rPr lang="en-US" sz="1400" b="0">
                <a:latin typeface="Avenir Next"/>
              </a:rPr>
              <a:t>Gross Value Added represents the economic value of goods and services produced within a specific industry, sector, manufacturer, area, or region.</a:t>
            </a:r>
            <a:endParaRPr lang="en-US" sz="1400">
              <a:latin typeface="Avenir Next"/>
            </a:endParaRPr>
          </a:p>
          <a:p>
            <a:pPr marL="285750" indent="-228600">
              <a:buFont typeface="Arial" panose="020B0604020202020204" pitchFamily="34" charset="0"/>
              <a:buChar char="•"/>
            </a:pPr>
            <a:r>
              <a:rPr lang="en-US" sz="1400" b="0">
                <a:latin typeface="Avenir Next"/>
              </a:rPr>
              <a:t>February 2023 peak: In February 2023, GVA reached its highest point, amounting to 100 million, indicating a robust and productive economic period.</a:t>
            </a:r>
            <a:endParaRPr lang="en-US" sz="1400">
              <a:latin typeface="Avenir Next"/>
            </a:endParaRPr>
          </a:p>
          <a:p>
            <a:pPr marL="285750" indent="-228600">
              <a:buFont typeface="Arial" panose="020B0604020202020204" pitchFamily="34" charset="0"/>
              <a:buChar char="•"/>
            </a:pPr>
            <a:r>
              <a:rPr lang="en-US" sz="1400" b="0">
                <a:latin typeface="Avenir Next"/>
              </a:rPr>
              <a:t>April/May 2020 decline: The months of April and May 2020 saw the lowest GVA, estimated at 46-47 million, coinciding with the first lockdown in the UK. This period posed significant challenges to economic productivity.</a:t>
            </a:r>
          </a:p>
          <a:p>
            <a:pPr marL="285750" indent="-228600">
              <a:buFont typeface="Arial" panose="020B0604020202020204" pitchFamily="34" charset="0"/>
              <a:buChar char="•"/>
            </a:pPr>
            <a:r>
              <a:rPr lang="en-US" sz="1400" b="0">
                <a:latin typeface="Avenir Next"/>
              </a:rPr>
              <a:t>Lowest GVA period: Between January 2020 and January 2021, the GVA reached its lowest point, estimated to be between 609 and 592.2 million. This period marked a challenging phase for economic productivity.</a:t>
            </a:r>
            <a:endParaRPr lang="en-US" sz="1400">
              <a:latin typeface="Avenir Next"/>
            </a:endParaRPr>
          </a:p>
          <a:p>
            <a:pPr marL="285750" indent="-228600">
              <a:buFont typeface="Arial" panose="020B0604020202020204" pitchFamily="34" charset="0"/>
              <a:buChar char="•"/>
            </a:pPr>
            <a:endParaRPr lang="en-US" sz="1400"/>
          </a:p>
        </p:txBody>
      </p:sp>
      <p:sp>
        <p:nvSpPr>
          <p:cNvPr id="21" name="Rectangle 20">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8" descr="A graph with numbers and lines&#10;&#10;Description automatically generated">
            <a:extLst>
              <a:ext uri="{FF2B5EF4-FFF2-40B4-BE49-F238E27FC236}">
                <a16:creationId xmlns:a16="http://schemas.microsoft.com/office/drawing/2014/main" id="{5DDEC5AC-35F9-FE03-08AD-4BBF2C0E5EFB}"/>
              </a:ext>
            </a:extLst>
          </p:cNvPr>
          <p:cNvPicPr>
            <a:picLocks noGrp="1" noChangeAspect="1"/>
          </p:cNvPicPr>
          <p:nvPr>
            <p:ph sz="quarter" idx="4"/>
          </p:nvPr>
        </p:nvPicPr>
        <p:blipFill>
          <a:blip r:embed="rId2"/>
          <a:stretch>
            <a:fillRect/>
          </a:stretch>
        </p:blipFill>
        <p:spPr>
          <a:xfrm>
            <a:off x="7186891" y="581892"/>
            <a:ext cx="4190496" cy="2518756"/>
          </a:xfrm>
          <a:prstGeom prst="rect">
            <a:avLst/>
          </a:prstGeom>
        </p:spPr>
      </p:pic>
      <p:sp>
        <p:nvSpPr>
          <p:cNvPr id="25" name="Rectangle 24">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A graph with numbers and a number of columns&#10;&#10;Description automatically generated">
            <a:extLst>
              <a:ext uri="{FF2B5EF4-FFF2-40B4-BE49-F238E27FC236}">
                <a16:creationId xmlns:a16="http://schemas.microsoft.com/office/drawing/2014/main" id="{5B711366-0F86-E125-8E2A-C57479F6E42A}"/>
              </a:ext>
            </a:extLst>
          </p:cNvPr>
          <p:cNvPicPr>
            <a:picLocks noGrp="1" noChangeAspect="1"/>
          </p:cNvPicPr>
          <p:nvPr>
            <p:ph sz="half" idx="2"/>
          </p:nvPr>
        </p:nvPicPr>
        <p:blipFill>
          <a:blip r:embed="rId3"/>
          <a:stretch>
            <a:fillRect/>
          </a:stretch>
        </p:blipFill>
        <p:spPr>
          <a:xfrm>
            <a:off x="7226865" y="3707894"/>
            <a:ext cx="4108685" cy="2518756"/>
          </a:xfrm>
          <a:prstGeom prst="rect">
            <a:avLst/>
          </a:prstGeom>
        </p:spPr>
      </p:pic>
    </p:spTree>
    <p:extLst>
      <p:ext uri="{BB962C8B-B14F-4D97-AF65-F5344CB8AC3E}">
        <p14:creationId xmlns:p14="http://schemas.microsoft.com/office/powerpoint/2010/main" val="6171823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10">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B020F9-3E5F-7538-EF82-0BF45B0708AC}"/>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6600" b="1">
                <a:latin typeface="Avenir Next Demi Bold" panose="020B0503020202020204" pitchFamily="34" charset="0"/>
              </a:rPr>
              <a:t>Sector Comparison</a:t>
            </a:r>
          </a:p>
        </p:txBody>
      </p:sp>
      <p:sp>
        <p:nvSpPr>
          <p:cNvPr id="13"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4" descr="A graph of a number of people&#10;&#10;Description automatically generated">
            <a:extLst>
              <a:ext uri="{FF2B5EF4-FFF2-40B4-BE49-F238E27FC236}">
                <a16:creationId xmlns:a16="http://schemas.microsoft.com/office/drawing/2014/main" id="{E732C238-1488-4718-FC72-D99117F5E983}"/>
              </a:ext>
            </a:extLst>
          </p:cNvPr>
          <p:cNvPicPr>
            <a:picLocks noChangeAspect="1"/>
          </p:cNvPicPr>
          <p:nvPr/>
        </p:nvPicPr>
        <p:blipFill>
          <a:blip r:embed="rId2"/>
          <a:stretch>
            <a:fillRect/>
          </a:stretch>
        </p:blipFill>
        <p:spPr>
          <a:xfrm>
            <a:off x="320040" y="2651453"/>
            <a:ext cx="5614416" cy="3588110"/>
          </a:xfrm>
          <a:prstGeom prst="rect">
            <a:avLst/>
          </a:prstGeom>
        </p:spPr>
      </p:pic>
      <p:pic>
        <p:nvPicPr>
          <p:cNvPr id="6" name="Picture 8" descr="A graph of different colored bars&#10;&#10;Description automatically generated">
            <a:extLst>
              <a:ext uri="{FF2B5EF4-FFF2-40B4-BE49-F238E27FC236}">
                <a16:creationId xmlns:a16="http://schemas.microsoft.com/office/drawing/2014/main" id="{ACEEBD8A-380F-683A-FF0F-13228804DE11}"/>
              </a:ext>
            </a:extLst>
          </p:cNvPr>
          <p:cNvPicPr>
            <a:picLocks noChangeAspect="1"/>
          </p:cNvPicPr>
          <p:nvPr/>
        </p:nvPicPr>
        <p:blipFill>
          <a:blip r:embed="rId3"/>
          <a:stretch>
            <a:fillRect/>
          </a:stretch>
        </p:blipFill>
        <p:spPr>
          <a:xfrm>
            <a:off x="6254496" y="2651454"/>
            <a:ext cx="5614416" cy="3588110"/>
          </a:xfrm>
          <a:prstGeom prst="rect">
            <a:avLst/>
          </a:prstGeom>
        </p:spPr>
      </p:pic>
      <p:sp>
        <p:nvSpPr>
          <p:cNvPr id="12" name="Rectangle 11">
            <a:extLst>
              <a:ext uri="{FF2B5EF4-FFF2-40B4-BE49-F238E27FC236}">
                <a16:creationId xmlns:a16="http://schemas.microsoft.com/office/drawing/2014/main" id="{5FB6473E-C0C3-9C22-F88A-BE264A320085}"/>
              </a:ext>
            </a:extLst>
          </p:cNvPr>
          <p:cNvSpPr/>
          <p:nvPr/>
        </p:nvSpPr>
        <p:spPr>
          <a:xfrm>
            <a:off x="2905760" y="1784705"/>
            <a:ext cx="6238240" cy="130532"/>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99378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DA60C47-9F76-46D7-9D57-E0C7BA42B8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518909-1E32-D269-B529-402E20175AE0}"/>
              </a:ext>
            </a:extLst>
          </p:cNvPr>
          <p:cNvSpPr>
            <a:spLocks noGrp="1"/>
          </p:cNvSpPr>
          <p:nvPr>
            <p:ph type="title"/>
          </p:nvPr>
        </p:nvSpPr>
        <p:spPr>
          <a:xfrm>
            <a:off x="7178596" y="679730"/>
            <a:ext cx="4475848" cy="3787041"/>
          </a:xfrm>
        </p:spPr>
        <p:txBody>
          <a:bodyPr vert="horz" lIns="91440" tIns="45720" rIns="91440" bIns="45720" rtlCol="0" anchor="b">
            <a:normAutofit/>
          </a:bodyPr>
          <a:lstStyle/>
          <a:p>
            <a:r>
              <a:rPr lang="en-US" sz="6000" b="1"/>
              <a:t>Sector Comparison</a:t>
            </a:r>
          </a:p>
        </p:txBody>
      </p:sp>
      <p:sp>
        <p:nvSpPr>
          <p:cNvPr id="15" name="Rectangle 14">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365538" y="385757"/>
            <a:ext cx="1715478" cy="644655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3413" y="269325"/>
            <a:ext cx="5591744" cy="61719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A graph of different colored bars&#10;&#10;Description automatically generated">
            <a:extLst>
              <a:ext uri="{FF2B5EF4-FFF2-40B4-BE49-F238E27FC236}">
                <a16:creationId xmlns:a16="http://schemas.microsoft.com/office/drawing/2014/main" id="{604A1E95-2EEF-B572-5E52-993B47A7027C}"/>
              </a:ext>
            </a:extLst>
          </p:cNvPr>
          <p:cNvPicPr>
            <a:picLocks noGrp="1" noChangeAspect="1"/>
          </p:cNvPicPr>
          <p:nvPr>
            <p:ph sz="half" idx="2"/>
          </p:nvPr>
        </p:nvPicPr>
        <p:blipFill>
          <a:blip r:embed="rId2"/>
          <a:stretch>
            <a:fillRect/>
          </a:stretch>
        </p:blipFill>
        <p:spPr>
          <a:xfrm>
            <a:off x="1178872" y="425052"/>
            <a:ext cx="4700824" cy="2825496"/>
          </a:xfrm>
          <a:prstGeom prst="rect">
            <a:avLst/>
          </a:prstGeom>
        </p:spPr>
      </p:pic>
      <p:pic>
        <p:nvPicPr>
          <p:cNvPr id="8" name="Picture 8" descr="A graph of different colored bars&#10;&#10;Description automatically generated">
            <a:extLst>
              <a:ext uri="{FF2B5EF4-FFF2-40B4-BE49-F238E27FC236}">
                <a16:creationId xmlns:a16="http://schemas.microsoft.com/office/drawing/2014/main" id="{F133210C-2CBC-2304-4EF1-E141DCFC7A98}"/>
              </a:ext>
            </a:extLst>
          </p:cNvPr>
          <p:cNvPicPr>
            <a:picLocks noGrp="1" noChangeAspect="1"/>
          </p:cNvPicPr>
          <p:nvPr>
            <p:ph sz="quarter" idx="4"/>
          </p:nvPr>
        </p:nvPicPr>
        <p:blipFill>
          <a:blip r:embed="rId3"/>
          <a:stretch>
            <a:fillRect/>
          </a:stretch>
        </p:blipFill>
        <p:spPr>
          <a:xfrm>
            <a:off x="1181890" y="3437313"/>
            <a:ext cx="4700824" cy="2825496"/>
          </a:xfrm>
          <a:prstGeom prst="rect">
            <a:avLst/>
          </a:prstGeom>
        </p:spPr>
      </p:pic>
      <p:sp>
        <p:nvSpPr>
          <p:cNvPr id="19" name="Rectangle 18">
            <a:extLst>
              <a:ext uri="{FF2B5EF4-FFF2-40B4-BE49-F238E27FC236}">
                <a16:creationId xmlns:a16="http://schemas.microsoft.com/office/drawing/2014/main" id="{6CF143E5-57C3-46A3-91A2-EDAA7A8E6A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0543" y="2754068"/>
            <a:ext cx="149016" cy="17099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28404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36A52B6-D607-81BC-C681-4787527AC46C}"/>
              </a:ext>
            </a:extLst>
          </p:cNvPr>
          <p:cNvSpPr>
            <a:spLocks noGrp="1"/>
          </p:cNvSpPr>
          <p:nvPr>
            <p:ph type="ctrTitle"/>
          </p:nvPr>
        </p:nvSpPr>
        <p:spPr/>
        <p:txBody>
          <a:bodyPr/>
          <a:lstStyle/>
          <a:p>
            <a:r>
              <a:rPr lang="en-US">
                <a:latin typeface="Avenir Next"/>
              </a:rPr>
              <a:t>Design Sector</a:t>
            </a:r>
          </a:p>
        </p:txBody>
      </p:sp>
      <p:sp>
        <p:nvSpPr>
          <p:cNvPr id="6" name="Subtitle 5">
            <a:extLst>
              <a:ext uri="{FF2B5EF4-FFF2-40B4-BE49-F238E27FC236}">
                <a16:creationId xmlns:a16="http://schemas.microsoft.com/office/drawing/2014/main" id="{B34E72B1-16A1-831D-C013-A59AD5F44DC3}"/>
              </a:ext>
            </a:extLst>
          </p:cNvPr>
          <p:cNvSpPr>
            <a:spLocks noGrp="1"/>
          </p:cNvSpPr>
          <p:nvPr>
            <p:ph type="subTitle" idx="1"/>
          </p:nvPr>
        </p:nvSpPr>
        <p:spPr>
          <a:solidFill>
            <a:schemeClr val="accent2"/>
          </a:solidFill>
        </p:spPr>
        <p:txBody>
          <a:bodyPr/>
          <a:lstStyle/>
          <a:p>
            <a:endParaRPr lang="en-US"/>
          </a:p>
        </p:txBody>
      </p:sp>
    </p:spTree>
    <p:extLst>
      <p:ext uri="{BB962C8B-B14F-4D97-AF65-F5344CB8AC3E}">
        <p14:creationId xmlns:p14="http://schemas.microsoft.com/office/powerpoint/2010/main" val="2910880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6D6E9C-FA38-4498-88F5-1DAC3A21D7BE}"/>
              </a:ext>
            </a:extLst>
          </p:cNvPr>
          <p:cNvSpPr>
            <a:spLocks noGrp="1"/>
          </p:cNvSpPr>
          <p:nvPr>
            <p:ph type="title"/>
          </p:nvPr>
        </p:nvSpPr>
        <p:spPr>
          <a:xfrm>
            <a:off x="81343" y="952404"/>
            <a:ext cx="4365012" cy="4461163"/>
          </a:xfrm>
        </p:spPr>
        <p:txBody>
          <a:bodyPr>
            <a:normAutofit/>
          </a:bodyPr>
          <a:lstStyle/>
          <a:p>
            <a:r>
              <a:rPr lang="en-US">
                <a:solidFill>
                  <a:srgbClr val="FFFFFF"/>
                </a:solidFill>
                <a:latin typeface="Avenir Next"/>
                <a:cs typeface="Calibri Light"/>
              </a:rPr>
              <a:t>Apparel &amp; </a:t>
            </a:r>
            <a:br>
              <a:rPr lang="en-US">
                <a:solidFill>
                  <a:srgbClr val="FFFFFF"/>
                </a:solidFill>
                <a:latin typeface="Avenir Next"/>
                <a:cs typeface="Calibri Light"/>
              </a:rPr>
            </a:br>
            <a:r>
              <a:rPr lang="en-US">
                <a:solidFill>
                  <a:srgbClr val="FFFFFF"/>
                </a:solidFill>
                <a:latin typeface="Avenir Next"/>
                <a:cs typeface="Calibri Light"/>
              </a:rPr>
              <a:t>Fashion </a:t>
            </a:r>
            <a:br>
              <a:rPr lang="en-US">
                <a:solidFill>
                  <a:srgbClr val="FFFFFF"/>
                </a:solidFill>
                <a:latin typeface="Avenir Next"/>
                <a:cs typeface="Calibri Light"/>
              </a:rPr>
            </a:br>
            <a:r>
              <a:rPr lang="en-US">
                <a:solidFill>
                  <a:srgbClr val="FFFFFF"/>
                </a:solidFill>
                <a:latin typeface="Avenir Next"/>
                <a:cs typeface="Calibri Light"/>
              </a:rPr>
              <a:t>sector</a:t>
            </a:r>
            <a:endParaRPr lang="en-US">
              <a:solidFill>
                <a:srgbClr val="FFFFFF"/>
              </a:solidFill>
              <a:latin typeface="Avenir Next"/>
            </a:endParaRPr>
          </a:p>
        </p:txBody>
      </p:sp>
      <p:sp>
        <p:nvSpPr>
          <p:cNvPr id="16"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86C4F31-8EA6-5E14-BA2F-9771635A1655}"/>
              </a:ext>
            </a:extLst>
          </p:cNvPr>
          <p:cNvSpPr>
            <a:spLocks noGrp="1"/>
          </p:cNvSpPr>
          <p:nvPr>
            <p:ph idx="1"/>
          </p:nvPr>
        </p:nvSpPr>
        <p:spPr>
          <a:xfrm>
            <a:off x="4447308" y="511732"/>
            <a:ext cx="6906491" cy="6029171"/>
          </a:xfrm>
        </p:spPr>
        <p:txBody>
          <a:bodyPr vert="horz" lIns="91440" tIns="45720" rIns="91440" bIns="45720" rtlCol="0" anchor="ctr">
            <a:normAutofit/>
          </a:bodyPr>
          <a:lstStyle/>
          <a:p>
            <a:r>
              <a:rPr lang="en-US" sz="2400">
                <a:latin typeface="Avenir Next"/>
                <a:ea typeface="Calibri"/>
                <a:cs typeface="Calibri"/>
              </a:rPr>
              <a:t>The UK apparel industry has shown resilience and potential for growth(revenues expected to reach 77.69 billion GBP by 2027) with a significant shift towards online sales and a positive outlook for the future.</a:t>
            </a:r>
          </a:p>
          <a:p>
            <a:pPr marL="0" indent="0">
              <a:buNone/>
            </a:pPr>
            <a:endParaRPr lang="en-US" sz="2400">
              <a:latin typeface="Avenir Next"/>
              <a:ea typeface="Calibri"/>
              <a:cs typeface="Calibri"/>
            </a:endParaRPr>
          </a:p>
          <a:p>
            <a:pPr lvl="1"/>
            <a:r>
              <a:rPr lang="en-US">
                <a:latin typeface="Avenir Next"/>
                <a:ea typeface="Calibri"/>
                <a:cs typeface="Calibri"/>
              </a:rPr>
              <a:t>Online dominance</a:t>
            </a:r>
          </a:p>
          <a:p>
            <a:pPr lvl="1"/>
            <a:r>
              <a:rPr lang="en-US">
                <a:latin typeface="Avenir Next"/>
                <a:ea typeface="Calibri"/>
                <a:cs typeface="Calibri"/>
              </a:rPr>
              <a:t>Fluctuating revenue growth</a:t>
            </a:r>
          </a:p>
          <a:p>
            <a:pPr lvl="1"/>
            <a:r>
              <a:rPr lang="en-US">
                <a:latin typeface="Avenir Next"/>
                <a:ea typeface="Calibri"/>
                <a:cs typeface="Calibri"/>
              </a:rPr>
              <a:t>Women's apparel dominance</a:t>
            </a:r>
          </a:p>
          <a:p>
            <a:pPr lvl="1"/>
            <a:r>
              <a:rPr lang="en-US">
                <a:latin typeface="Avenir Next"/>
                <a:ea typeface="Calibri"/>
                <a:cs typeface="Calibri"/>
              </a:rPr>
              <a:t>Consumer spending resilience</a:t>
            </a:r>
          </a:p>
          <a:p>
            <a:pPr lvl="1"/>
            <a:r>
              <a:rPr lang="en-US">
                <a:latin typeface="Avenir Next"/>
                <a:ea typeface="Calibri"/>
                <a:cs typeface="Calibri"/>
              </a:rPr>
              <a:t>Importance of adaptation</a:t>
            </a:r>
          </a:p>
          <a:p>
            <a:pPr lvl="1"/>
            <a:r>
              <a:rPr lang="en-US">
                <a:latin typeface="Avenir Next"/>
                <a:ea typeface="Calibri"/>
                <a:cs typeface="Calibri"/>
              </a:rPr>
              <a:t>Apparel Revenue and Advertising expenditure on digital displays</a:t>
            </a:r>
          </a:p>
          <a:p>
            <a:pPr lvl="1"/>
            <a:endParaRPr lang="en-US">
              <a:ea typeface="Calibri"/>
              <a:cs typeface="Calibri"/>
            </a:endParaRPr>
          </a:p>
          <a:p>
            <a:endParaRPr lang="en-US">
              <a:ea typeface="Calibri"/>
              <a:cs typeface="Calibri"/>
            </a:endParaRPr>
          </a:p>
        </p:txBody>
      </p:sp>
    </p:spTree>
    <p:extLst>
      <p:ext uri="{BB962C8B-B14F-4D97-AF65-F5344CB8AC3E}">
        <p14:creationId xmlns:p14="http://schemas.microsoft.com/office/powerpoint/2010/main" val="11578092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63BD6FB-325B-E6C2-56B7-4E0A964805BF}"/>
              </a:ext>
            </a:extLst>
          </p:cNvPr>
          <p:cNvSpPr>
            <a:spLocks noGrp="1"/>
          </p:cNvSpPr>
          <p:nvPr>
            <p:ph type="title"/>
          </p:nvPr>
        </p:nvSpPr>
        <p:spPr>
          <a:xfrm>
            <a:off x="1115568" y="548640"/>
            <a:ext cx="10168128" cy="916340"/>
          </a:xfrm>
        </p:spPr>
        <p:txBody>
          <a:bodyPr vert="horz" lIns="91440" tIns="45720" rIns="91440" bIns="45720" rtlCol="0" anchor="ctr">
            <a:normAutofit/>
          </a:bodyPr>
          <a:lstStyle/>
          <a:p>
            <a:r>
              <a:rPr lang="en-US" sz="4000" b="1">
                <a:latin typeface="Avenir Next"/>
              </a:rPr>
              <a:t>Overview of Apparel Industry</a:t>
            </a:r>
          </a:p>
        </p:txBody>
      </p:sp>
      <p:sp>
        <p:nvSpPr>
          <p:cNvPr id="16" name="Rectangle 15">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Content Placeholder 3">
            <a:extLst>
              <a:ext uri="{FF2B5EF4-FFF2-40B4-BE49-F238E27FC236}">
                <a16:creationId xmlns:a16="http://schemas.microsoft.com/office/drawing/2014/main" id="{F94AE6D8-5655-9592-E4CD-DD16D11DB59D}"/>
              </a:ext>
            </a:extLst>
          </p:cNvPr>
          <p:cNvSpPr>
            <a:spLocks noGrp="1"/>
          </p:cNvSpPr>
          <p:nvPr>
            <p:ph sz="half" idx="2"/>
          </p:nvPr>
        </p:nvSpPr>
        <p:spPr>
          <a:xfrm>
            <a:off x="7886286" y="2288489"/>
            <a:ext cx="4145198" cy="4842861"/>
          </a:xfrm>
        </p:spPr>
        <p:txBody>
          <a:bodyPr vert="horz" lIns="91440" tIns="45720" rIns="91440" bIns="45720" rtlCol="0" anchor="ctr">
            <a:normAutofit/>
          </a:bodyPr>
          <a:lstStyle/>
          <a:p>
            <a:pPr>
              <a:buFont typeface="Wingdings" panose="020B0604020202020204" pitchFamily="34" charset="0"/>
              <a:buChar char="Ø"/>
            </a:pPr>
            <a:r>
              <a:rPr lang="en-US" sz="1800">
                <a:latin typeface="Avenir Next"/>
                <a:cs typeface="Calibri" panose="020F0502020204030204"/>
              </a:rPr>
              <a:t>Gradual decrease in revenue over the years, reaching lowest point in 2020 at 53.22 billion GBP.</a:t>
            </a:r>
            <a:endParaRPr lang="en-US">
              <a:latin typeface="Avenir Next"/>
              <a:cs typeface="Calibri" panose="020F0502020204030204"/>
            </a:endParaRPr>
          </a:p>
          <a:p>
            <a:pPr>
              <a:buFont typeface="Wingdings" panose="020B0604020202020204" pitchFamily="34" charset="0"/>
              <a:buChar char="Ø"/>
            </a:pPr>
            <a:r>
              <a:rPr lang="en-US" sz="1800">
                <a:latin typeface="Avenir Next"/>
                <a:cs typeface="Calibri" panose="020F0502020204030204"/>
              </a:rPr>
              <a:t>Post-2020 positive trend driven by increasing adoption of online apparel shopping.</a:t>
            </a:r>
            <a:endParaRPr lang="en-US">
              <a:latin typeface="Avenir Next"/>
              <a:cs typeface="Calibri" panose="020F0502020204030204"/>
            </a:endParaRPr>
          </a:p>
          <a:p>
            <a:pPr>
              <a:buFont typeface="Wingdings" panose="020B0604020202020204" pitchFamily="34" charset="0"/>
              <a:buChar char="Ø"/>
            </a:pPr>
            <a:r>
              <a:rPr lang="en-US" sz="1800">
                <a:latin typeface="Avenir Next"/>
                <a:cs typeface="Calibri" panose="020F0502020204030204"/>
              </a:rPr>
              <a:t>Online platforms played a significant role in industry's resurgence.</a:t>
            </a:r>
            <a:endParaRPr lang="en-US">
              <a:latin typeface="Avenir Next"/>
              <a:cs typeface="Calibri" panose="020F0502020204030204"/>
            </a:endParaRPr>
          </a:p>
          <a:p>
            <a:pPr>
              <a:buFont typeface="Wingdings" panose="020B0604020202020204" pitchFamily="34" charset="0"/>
              <a:buChar char="Ø"/>
            </a:pPr>
            <a:r>
              <a:rPr lang="en-US" sz="1800">
                <a:latin typeface="Avenir Next"/>
                <a:cs typeface="Calibri" panose="020F0502020204030204"/>
              </a:rPr>
              <a:t>Slight revenue decline in 2022 attributed to inflation and high living costs.</a:t>
            </a:r>
            <a:endParaRPr lang="en-US">
              <a:latin typeface="Avenir Next"/>
              <a:cs typeface="Calibri" panose="020F0502020204030204"/>
            </a:endParaRPr>
          </a:p>
          <a:p>
            <a:pPr>
              <a:buFont typeface="Wingdings" panose="020B0604020202020204" pitchFamily="34" charset="0"/>
              <a:buChar char="Ø"/>
            </a:pPr>
            <a:r>
              <a:rPr lang="en-US" sz="1800">
                <a:latin typeface="Avenir Next"/>
                <a:cs typeface="Calibri" panose="020F0502020204030204"/>
              </a:rPr>
              <a:t>Overall growth trajectory sustained after COVID-19 pandemic.</a:t>
            </a:r>
            <a:endParaRPr lang="en-US">
              <a:latin typeface="Avenir Next"/>
              <a:cs typeface="Calibri" panose="020F0502020204030204"/>
            </a:endParaRPr>
          </a:p>
          <a:p>
            <a:pPr>
              <a:buFont typeface="Wingdings" panose="020B0604020202020204" pitchFamily="34" charset="0"/>
              <a:buChar char="Ø"/>
            </a:pPr>
            <a:r>
              <a:rPr lang="en-US" sz="1800">
                <a:latin typeface="Avenir Next"/>
                <a:cs typeface="Calibri" panose="020F0502020204030204"/>
              </a:rPr>
              <a:t>Expectation of continued growth in the coming years.</a:t>
            </a:r>
            <a:endParaRPr lang="en-US">
              <a:latin typeface="Avenir Next"/>
              <a:cs typeface="Calibri" panose="020F0502020204030204"/>
            </a:endParaRPr>
          </a:p>
          <a:p>
            <a:pPr marL="0" indent="0">
              <a:buNone/>
            </a:pPr>
            <a:endParaRPr lang="en-US" sz="1800">
              <a:cs typeface="Calibri" panose="020F0502020204030204"/>
            </a:endParaRPr>
          </a:p>
        </p:txBody>
      </p:sp>
      <p:pic>
        <p:nvPicPr>
          <p:cNvPr id="7" name="Picture 7" descr="A graph of blue and white bars&#10;&#10;Description automatically generated">
            <a:extLst>
              <a:ext uri="{FF2B5EF4-FFF2-40B4-BE49-F238E27FC236}">
                <a16:creationId xmlns:a16="http://schemas.microsoft.com/office/drawing/2014/main" id="{740B01E8-D65E-76B1-4CDB-075871CCE6A9}"/>
              </a:ext>
            </a:extLst>
          </p:cNvPr>
          <p:cNvPicPr>
            <a:picLocks noGrp="1" noChangeAspect="1"/>
          </p:cNvPicPr>
          <p:nvPr>
            <p:ph sz="half" idx="1"/>
          </p:nvPr>
        </p:nvPicPr>
        <p:blipFill>
          <a:blip r:embed="rId3"/>
          <a:stretch>
            <a:fillRect/>
          </a:stretch>
        </p:blipFill>
        <p:spPr>
          <a:xfrm>
            <a:off x="838200" y="2093842"/>
            <a:ext cx="6887570" cy="4019619"/>
          </a:xfrm>
        </p:spPr>
      </p:pic>
    </p:spTree>
    <p:extLst>
      <p:ext uri="{BB962C8B-B14F-4D97-AF65-F5344CB8AC3E}">
        <p14:creationId xmlns:p14="http://schemas.microsoft.com/office/powerpoint/2010/main" val="159806990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C9B446A-6343-4E56-90BA-061E4DDF0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3EC72A1B-03D3-499C-B4BF-AC68EEC22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216322C2-3CF0-4D33-BF90-3F384CF6D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5479C2C-CC9B-2111-9152-EDDC4A97777E}"/>
              </a:ext>
            </a:extLst>
          </p:cNvPr>
          <p:cNvSpPr>
            <a:spLocks noGrp="1"/>
          </p:cNvSpPr>
          <p:nvPr>
            <p:ph type="title"/>
          </p:nvPr>
        </p:nvSpPr>
        <p:spPr>
          <a:xfrm>
            <a:off x="424815" y="1006404"/>
            <a:ext cx="3438905" cy="1353312"/>
          </a:xfrm>
        </p:spPr>
        <p:txBody>
          <a:bodyPr vert="horz" lIns="91440" tIns="45720" rIns="91440" bIns="45720" rtlCol="0" anchor="b">
            <a:noAutofit/>
          </a:bodyPr>
          <a:lstStyle/>
          <a:p>
            <a:r>
              <a:rPr lang="en-US" sz="2800" b="1" kern="1200">
                <a:latin typeface="Avenir Next Demi Bold" panose="020B0503020202020204" pitchFamily="34" charset="0"/>
              </a:rPr>
              <a:t>Online and Offline Revenue share in percentage</a:t>
            </a:r>
          </a:p>
        </p:txBody>
      </p:sp>
      <p:sp>
        <p:nvSpPr>
          <p:cNvPr id="16" name="Rectangle 15">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375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Content Placeholder 3">
            <a:extLst>
              <a:ext uri="{FF2B5EF4-FFF2-40B4-BE49-F238E27FC236}">
                <a16:creationId xmlns:a16="http://schemas.microsoft.com/office/drawing/2014/main" id="{154A8CEB-CF9D-C76D-7AE4-BBDEEE4E9C36}"/>
              </a:ext>
            </a:extLst>
          </p:cNvPr>
          <p:cNvSpPr>
            <a:spLocks noGrp="1"/>
          </p:cNvSpPr>
          <p:nvPr>
            <p:ph sz="half" idx="2"/>
          </p:nvPr>
        </p:nvSpPr>
        <p:spPr>
          <a:xfrm>
            <a:off x="371094" y="2718054"/>
            <a:ext cx="3438906" cy="3207258"/>
          </a:xfrm>
        </p:spPr>
        <p:txBody>
          <a:bodyPr vert="horz" lIns="91440" tIns="45720" rIns="91440" bIns="45720" rtlCol="0" anchor="t">
            <a:normAutofit/>
          </a:bodyPr>
          <a:lstStyle/>
          <a:p>
            <a:pPr>
              <a:buFont typeface="Wingdings" panose="020B0604020202020204" pitchFamily="34" charset="0"/>
              <a:buChar char="Ø"/>
            </a:pPr>
            <a:r>
              <a:rPr lang="en-US" sz="1700">
                <a:latin typeface="Avenir Next"/>
              </a:rPr>
              <a:t>Shifting Consumer Behavior</a:t>
            </a:r>
            <a:endParaRPr lang="en-US">
              <a:latin typeface="Avenir Next"/>
            </a:endParaRPr>
          </a:p>
          <a:p>
            <a:pPr>
              <a:buFont typeface="Wingdings" panose="020B0604020202020204" pitchFamily="34" charset="0"/>
              <a:buChar char="Ø"/>
            </a:pPr>
            <a:r>
              <a:rPr lang="en-US" sz="1700">
                <a:latin typeface="Avenir Next"/>
              </a:rPr>
              <a:t>Online Dominance</a:t>
            </a:r>
            <a:endParaRPr lang="en-US" sz="1700">
              <a:latin typeface="Avenir Next"/>
              <a:cs typeface="Calibri" panose="020F0502020204030204"/>
            </a:endParaRPr>
          </a:p>
          <a:p>
            <a:pPr>
              <a:buFont typeface="Wingdings" panose="020B0604020202020204" pitchFamily="34" charset="0"/>
              <a:buChar char="Ø"/>
            </a:pPr>
            <a:r>
              <a:rPr lang="en-US" sz="1700">
                <a:latin typeface="Avenir Next"/>
              </a:rPr>
              <a:t>Accelerated Online Growth</a:t>
            </a:r>
            <a:endParaRPr lang="en-US" sz="1700">
              <a:latin typeface="Avenir Next"/>
              <a:cs typeface="Calibri" panose="020F0502020204030204"/>
            </a:endParaRPr>
          </a:p>
          <a:p>
            <a:pPr>
              <a:buFont typeface="Wingdings" panose="020B0604020202020204" pitchFamily="34" charset="0"/>
              <a:buChar char="Ø"/>
            </a:pPr>
            <a:r>
              <a:rPr lang="en-US" sz="1700">
                <a:latin typeface="Avenir Next"/>
              </a:rPr>
              <a:t>Offline Revenue Decline</a:t>
            </a:r>
            <a:endParaRPr lang="en-US" sz="1700">
              <a:latin typeface="Avenir Next"/>
              <a:cs typeface="Calibri" panose="020F0502020204030204"/>
            </a:endParaRPr>
          </a:p>
          <a:p>
            <a:pPr>
              <a:buFont typeface="Wingdings" panose="020B0604020202020204" pitchFamily="34" charset="0"/>
              <a:buChar char="Ø"/>
            </a:pPr>
            <a:r>
              <a:rPr lang="en-US" sz="1700">
                <a:latin typeface="Avenir Next"/>
              </a:rPr>
              <a:t>Future Outlook</a:t>
            </a:r>
            <a:endParaRPr lang="en-US" sz="1700">
              <a:latin typeface="Avenir Next"/>
              <a:cs typeface="Calibri" panose="020F0502020204030204"/>
            </a:endParaRPr>
          </a:p>
        </p:txBody>
      </p:sp>
      <p:pic>
        <p:nvPicPr>
          <p:cNvPr id="5" name="Picture 5" descr="A graph of numbers and a line&#10;&#10;Description automatically generated">
            <a:extLst>
              <a:ext uri="{FF2B5EF4-FFF2-40B4-BE49-F238E27FC236}">
                <a16:creationId xmlns:a16="http://schemas.microsoft.com/office/drawing/2014/main" id="{07C2E9CB-0E84-4A4F-6D9A-6396D9E759CB}"/>
              </a:ext>
            </a:extLst>
          </p:cNvPr>
          <p:cNvPicPr>
            <a:picLocks noGrp="1" noChangeAspect="1"/>
          </p:cNvPicPr>
          <p:nvPr>
            <p:ph sz="half" idx="1"/>
          </p:nvPr>
        </p:nvPicPr>
        <p:blipFill>
          <a:blip r:embed="rId3"/>
          <a:stretch>
            <a:fillRect/>
          </a:stretch>
        </p:blipFill>
        <p:spPr>
          <a:xfrm>
            <a:off x="4898967" y="1909035"/>
            <a:ext cx="6921940" cy="3149170"/>
          </a:xfrm>
          <a:prstGeom prst="rect">
            <a:avLst/>
          </a:prstGeom>
        </p:spPr>
      </p:pic>
    </p:spTree>
    <p:extLst>
      <p:ext uri="{BB962C8B-B14F-4D97-AF65-F5344CB8AC3E}">
        <p14:creationId xmlns:p14="http://schemas.microsoft.com/office/powerpoint/2010/main" val="7012819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BBE9DA-0A2C-8664-C240-0A7F90D5EA1D}"/>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4600" b="1" kern="1200">
                <a:solidFill>
                  <a:schemeClr val="tx1"/>
                </a:solidFill>
                <a:latin typeface="+mj-lt"/>
                <a:ea typeface="+mj-ea"/>
                <a:cs typeface="+mj-cs"/>
              </a:rPr>
              <a:t>Revenue of Apparel market based on category</a:t>
            </a:r>
          </a:p>
        </p:txBody>
      </p:sp>
      <p:sp>
        <p:nvSpPr>
          <p:cNvPr id="67"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5" descr="A graph of clothing sales&#10;&#10;Description automatically generated">
            <a:extLst>
              <a:ext uri="{FF2B5EF4-FFF2-40B4-BE49-F238E27FC236}">
                <a16:creationId xmlns:a16="http://schemas.microsoft.com/office/drawing/2014/main" id="{0C1C5C98-73A4-469F-2C73-CB566B5B5F24}"/>
              </a:ext>
            </a:extLst>
          </p:cNvPr>
          <p:cNvPicPr>
            <a:picLocks noChangeAspect="1"/>
          </p:cNvPicPr>
          <p:nvPr/>
        </p:nvPicPr>
        <p:blipFill>
          <a:blip r:embed="rId3"/>
          <a:stretch>
            <a:fillRect/>
          </a:stretch>
        </p:blipFill>
        <p:spPr>
          <a:xfrm>
            <a:off x="4654296" y="1389804"/>
            <a:ext cx="7214616" cy="4050959"/>
          </a:xfrm>
          <a:prstGeom prst="rect">
            <a:avLst/>
          </a:prstGeom>
        </p:spPr>
      </p:pic>
      <p:sp>
        <p:nvSpPr>
          <p:cNvPr id="3" name="Rectangle 2">
            <a:extLst>
              <a:ext uri="{FF2B5EF4-FFF2-40B4-BE49-F238E27FC236}">
                <a16:creationId xmlns:a16="http://schemas.microsoft.com/office/drawing/2014/main" id="{44C6894C-165A-CF79-9EE7-9E7019763B0B}"/>
              </a:ext>
            </a:extLst>
          </p:cNvPr>
          <p:cNvSpPr/>
          <p:nvPr/>
        </p:nvSpPr>
        <p:spPr>
          <a:xfrm>
            <a:off x="523039" y="4257053"/>
            <a:ext cx="3456778" cy="304427"/>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006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5">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BA4E2D-D7B9-B443-A1C7-64D8FAED496F}"/>
              </a:ext>
            </a:extLst>
          </p:cNvPr>
          <p:cNvSpPr>
            <a:spLocks noGrp="1"/>
          </p:cNvSpPr>
          <p:nvPr>
            <p:ph type="title"/>
          </p:nvPr>
        </p:nvSpPr>
        <p:spPr>
          <a:xfrm>
            <a:off x="-2" y="0"/>
            <a:ext cx="12192001" cy="1860400"/>
          </a:xfrm>
          <a:solidFill>
            <a:schemeClr val="accent2"/>
          </a:solidFill>
        </p:spPr>
        <p:txBody>
          <a:bodyPr vert="horz" lIns="91440" tIns="45720" rIns="91440" bIns="45720" rtlCol="0" anchor="ctr">
            <a:normAutofit/>
          </a:bodyPr>
          <a:lstStyle/>
          <a:p>
            <a:pPr algn="ctr"/>
            <a:r>
              <a:rPr lang="en-US" sz="4800" b="1" kern="1200">
                <a:solidFill>
                  <a:schemeClr val="bg1"/>
                </a:solidFill>
                <a:latin typeface="Avenir Next Demi Bold" panose="020B0503020202020204" pitchFamily="34" charset="0"/>
              </a:rPr>
              <a:t>Revenue </a:t>
            </a:r>
            <a:r>
              <a:rPr lang="en-US" sz="4800" b="1">
                <a:solidFill>
                  <a:schemeClr val="bg1"/>
                </a:solidFill>
                <a:latin typeface="Avenir Next Demi Bold" panose="020B0503020202020204" pitchFamily="34" charset="0"/>
              </a:rPr>
              <a:t>&amp;</a:t>
            </a:r>
            <a:r>
              <a:rPr lang="en-US" sz="4800" b="1" kern="1200">
                <a:solidFill>
                  <a:schemeClr val="bg1"/>
                </a:solidFill>
                <a:latin typeface="Avenir Next Demi Bold" panose="020B0503020202020204" pitchFamily="34" charset="0"/>
              </a:rPr>
              <a:t> Growth rate of Fashion market</a:t>
            </a:r>
          </a:p>
        </p:txBody>
      </p:sp>
      <p:pic>
        <p:nvPicPr>
          <p:cNvPr id="6" name="Picture 6" descr="A graph of growth rate&#10;&#10;Description automatically generated">
            <a:extLst>
              <a:ext uri="{FF2B5EF4-FFF2-40B4-BE49-F238E27FC236}">
                <a16:creationId xmlns:a16="http://schemas.microsoft.com/office/drawing/2014/main" id="{B1E793F8-0A36-D061-5D98-8D8AC2369D41}"/>
              </a:ext>
            </a:extLst>
          </p:cNvPr>
          <p:cNvPicPr>
            <a:picLocks noGrp="1" noChangeAspect="1"/>
          </p:cNvPicPr>
          <p:nvPr>
            <p:ph sz="half" idx="2"/>
          </p:nvPr>
        </p:nvPicPr>
        <p:blipFill>
          <a:blip r:embed="rId3"/>
          <a:stretch>
            <a:fillRect/>
          </a:stretch>
        </p:blipFill>
        <p:spPr>
          <a:xfrm>
            <a:off x="172090" y="2269466"/>
            <a:ext cx="5828261" cy="3673193"/>
          </a:xfrm>
          <a:prstGeom prst="rect">
            <a:avLst/>
          </a:prstGeom>
        </p:spPr>
      </p:pic>
      <p:pic>
        <p:nvPicPr>
          <p:cNvPr id="5" name="Picture 5" descr="A graph of sales in a market&#10;&#10;Description automatically generated">
            <a:extLst>
              <a:ext uri="{FF2B5EF4-FFF2-40B4-BE49-F238E27FC236}">
                <a16:creationId xmlns:a16="http://schemas.microsoft.com/office/drawing/2014/main" id="{095514E2-E56D-27C5-9547-01BAD5971BB2}"/>
              </a:ext>
            </a:extLst>
          </p:cNvPr>
          <p:cNvPicPr>
            <a:picLocks noGrp="1" noChangeAspect="1"/>
          </p:cNvPicPr>
          <p:nvPr>
            <p:ph sz="half" idx="1"/>
          </p:nvPr>
        </p:nvPicPr>
        <p:blipFill>
          <a:blip r:embed="rId4"/>
          <a:stretch>
            <a:fillRect/>
          </a:stretch>
        </p:blipFill>
        <p:spPr>
          <a:xfrm>
            <a:off x="6173361" y="2269466"/>
            <a:ext cx="5828261" cy="3673193"/>
          </a:xfrm>
          <a:prstGeom prst="rect">
            <a:avLst/>
          </a:prstGeom>
        </p:spPr>
      </p:pic>
    </p:spTree>
    <p:extLst>
      <p:ext uri="{BB962C8B-B14F-4D97-AF65-F5344CB8AC3E}">
        <p14:creationId xmlns:p14="http://schemas.microsoft.com/office/powerpoint/2010/main" val="16738774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0550F5B9-399F-4FAD-AE6C-ED65F9A43A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9" name="Rectangle 48">
            <a:extLst>
              <a:ext uri="{FF2B5EF4-FFF2-40B4-BE49-F238E27FC236}">
                <a16:creationId xmlns:a16="http://schemas.microsoft.com/office/drawing/2014/main" id="{C062E60F-5CD4-4268-8359-807663468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288350"/>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C14E9C6-1743-E788-9174-D796C942535A}"/>
              </a:ext>
            </a:extLst>
          </p:cNvPr>
          <p:cNvSpPr>
            <a:spLocks noGrp="1"/>
          </p:cNvSpPr>
          <p:nvPr>
            <p:ph type="title"/>
          </p:nvPr>
        </p:nvSpPr>
        <p:spPr>
          <a:xfrm>
            <a:off x="841248" y="510047"/>
            <a:ext cx="3869640" cy="1645920"/>
          </a:xfrm>
        </p:spPr>
        <p:txBody>
          <a:bodyPr vert="horz" lIns="91440" tIns="45720" rIns="91440" bIns="45720" rtlCol="0" anchor="ctr">
            <a:normAutofit fontScale="90000"/>
          </a:bodyPr>
          <a:lstStyle/>
          <a:p>
            <a:r>
              <a:rPr lang="en-US" sz="2800" b="1">
                <a:latin typeface="Avenir Next"/>
                <a:ea typeface="Calibri Light"/>
                <a:cs typeface="Calibri Light"/>
              </a:rPr>
              <a:t>Trends in the Apparel Industry: Revenue Growth, Consumer Spending, and Advertising</a:t>
            </a:r>
            <a:endParaRPr lang="en-US" b="1">
              <a:latin typeface="Avenir Next"/>
            </a:endParaRPr>
          </a:p>
        </p:txBody>
      </p:sp>
      <p:sp>
        <p:nvSpPr>
          <p:cNvPr id="51" name="Rectangle 50">
            <a:extLst>
              <a:ext uri="{FF2B5EF4-FFF2-40B4-BE49-F238E27FC236}">
                <a16:creationId xmlns:a16="http://schemas.microsoft.com/office/drawing/2014/main" id="{BB341EC3-1810-4D33-BA3F-E2D0AA0EC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980964"/>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 name="Rectangle 52">
            <a:extLst>
              <a:ext uri="{FF2B5EF4-FFF2-40B4-BE49-F238E27FC236}">
                <a16:creationId xmlns:a16="http://schemas.microsoft.com/office/drawing/2014/main" id="{10127CDE-2B99-47A8-BB3C-7D1751910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10864" y="1323863"/>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Content Placeholder 43">
            <a:extLst>
              <a:ext uri="{FF2B5EF4-FFF2-40B4-BE49-F238E27FC236}">
                <a16:creationId xmlns:a16="http://schemas.microsoft.com/office/drawing/2014/main" id="{C889FDF2-DE84-2837-F08C-42C5E0D0D18A}"/>
              </a:ext>
            </a:extLst>
          </p:cNvPr>
          <p:cNvSpPr>
            <a:spLocks noGrp="1"/>
          </p:cNvSpPr>
          <p:nvPr>
            <p:ph sz="half" idx="1"/>
          </p:nvPr>
        </p:nvSpPr>
        <p:spPr>
          <a:xfrm>
            <a:off x="4624276" y="452537"/>
            <a:ext cx="6858000" cy="1904713"/>
          </a:xfrm>
        </p:spPr>
        <p:txBody>
          <a:bodyPr vert="horz" lIns="91440" tIns="45720" rIns="91440" bIns="45720" rtlCol="0" anchor="ctr">
            <a:normAutofit fontScale="92500" lnSpcReduction="20000"/>
          </a:bodyPr>
          <a:lstStyle/>
          <a:p>
            <a:endParaRPr lang="en-US" sz="1800">
              <a:ea typeface="Calibri"/>
              <a:cs typeface="Calibri"/>
            </a:endParaRPr>
          </a:p>
          <a:p>
            <a:r>
              <a:rPr lang="en-US" sz="1800">
                <a:latin typeface="Avenir Next"/>
                <a:ea typeface="Calibri"/>
                <a:cs typeface="Calibri"/>
              </a:rPr>
              <a:t>Revenue Growth: Comparing apparel industry revenue with fashion market trends.</a:t>
            </a:r>
          </a:p>
          <a:p>
            <a:r>
              <a:rPr lang="en-US" sz="1800">
                <a:latin typeface="Avenir Next"/>
                <a:ea typeface="Calibri"/>
                <a:cs typeface="Calibri"/>
              </a:rPr>
              <a:t>Consumer Spending: Analyzing the relationship between apparel industry revenue and consumer spending.</a:t>
            </a:r>
            <a:endParaRPr lang="en-US">
              <a:latin typeface="Avenir Next"/>
            </a:endParaRPr>
          </a:p>
          <a:p>
            <a:r>
              <a:rPr lang="en-US" sz="1800">
                <a:latin typeface="Avenir Next"/>
                <a:ea typeface="Calibri"/>
                <a:cs typeface="Calibri"/>
              </a:rPr>
              <a:t>Advertising Impact: Examining correlation between apparel industry revenue growth and ad expenditure</a:t>
            </a:r>
            <a:endParaRPr lang="en-US">
              <a:latin typeface="Avenir Next"/>
            </a:endParaRPr>
          </a:p>
          <a:p>
            <a:endParaRPr lang="en-US" sz="1800">
              <a:ea typeface="Calibri"/>
              <a:cs typeface="Calibri"/>
            </a:endParaRPr>
          </a:p>
        </p:txBody>
      </p:sp>
      <p:pic>
        <p:nvPicPr>
          <p:cNvPr id="5" name="Picture 5" descr="A graph of a fashion market&#10;&#10;Description automatically generated">
            <a:extLst>
              <a:ext uri="{FF2B5EF4-FFF2-40B4-BE49-F238E27FC236}">
                <a16:creationId xmlns:a16="http://schemas.microsoft.com/office/drawing/2014/main" id="{24AE0FA7-F3C1-7765-80F4-9128C9548521}"/>
              </a:ext>
            </a:extLst>
          </p:cNvPr>
          <p:cNvPicPr>
            <a:picLocks noChangeAspect="1"/>
          </p:cNvPicPr>
          <p:nvPr/>
        </p:nvPicPr>
        <p:blipFill>
          <a:blip r:embed="rId4"/>
          <a:stretch>
            <a:fillRect/>
          </a:stretch>
        </p:blipFill>
        <p:spPr>
          <a:xfrm>
            <a:off x="561713" y="2966425"/>
            <a:ext cx="3584448" cy="2725982"/>
          </a:xfrm>
          <a:prstGeom prst="rect">
            <a:avLst/>
          </a:prstGeom>
        </p:spPr>
      </p:pic>
      <p:pic>
        <p:nvPicPr>
          <p:cNvPr id="6" name="Picture 6" descr="A graph of sales growth&#10;&#10;Description automatically generated">
            <a:extLst>
              <a:ext uri="{FF2B5EF4-FFF2-40B4-BE49-F238E27FC236}">
                <a16:creationId xmlns:a16="http://schemas.microsoft.com/office/drawing/2014/main" id="{7872DD67-8065-F8E2-5490-2681875E9B2C}"/>
              </a:ext>
            </a:extLst>
          </p:cNvPr>
          <p:cNvPicPr>
            <a:picLocks noGrp="1" noChangeAspect="1"/>
          </p:cNvPicPr>
          <p:nvPr>
            <p:ph sz="half" idx="2"/>
          </p:nvPr>
        </p:nvPicPr>
        <p:blipFill>
          <a:blip r:embed="rId5"/>
          <a:stretch>
            <a:fillRect/>
          </a:stretch>
        </p:blipFill>
        <p:spPr>
          <a:xfrm>
            <a:off x="4351528" y="2966425"/>
            <a:ext cx="3584448" cy="2669326"/>
          </a:xfrm>
          <a:prstGeom prst="rect">
            <a:avLst/>
          </a:prstGeom>
        </p:spPr>
      </p:pic>
      <p:pic>
        <p:nvPicPr>
          <p:cNvPr id="7" name="Picture 7" descr="A graph of a number of sales&#10;&#10;Description automatically generated">
            <a:extLst>
              <a:ext uri="{FF2B5EF4-FFF2-40B4-BE49-F238E27FC236}">
                <a16:creationId xmlns:a16="http://schemas.microsoft.com/office/drawing/2014/main" id="{000953CA-16E7-A54D-9198-ADA25755E943}"/>
              </a:ext>
            </a:extLst>
          </p:cNvPr>
          <p:cNvPicPr>
            <a:picLocks noChangeAspect="1"/>
          </p:cNvPicPr>
          <p:nvPr/>
        </p:nvPicPr>
        <p:blipFill>
          <a:blip r:embed="rId6"/>
          <a:stretch>
            <a:fillRect/>
          </a:stretch>
        </p:blipFill>
        <p:spPr>
          <a:xfrm>
            <a:off x="8141344" y="2966425"/>
            <a:ext cx="3584448" cy="2654289"/>
          </a:xfrm>
          <a:prstGeom prst="rect">
            <a:avLst/>
          </a:prstGeom>
        </p:spPr>
      </p:pic>
    </p:spTree>
    <p:extLst>
      <p:ext uri="{BB962C8B-B14F-4D97-AF65-F5344CB8AC3E}">
        <p14:creationId xmlns:p14="http://schemas.microsoft.com/office/powerpoint/2010/main" val="3781178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 name="Rectangle 59">
            <a:extLst>
              <a:ext uri="{FF2B5EF4-FFF2-40B4-BE49-F238E27FC236}">
                <a16:creationId xmlns:a16="http://schemas.microsoft.com/office/drawing/2014/main" id="{88263A24-0C1F-4677-B43C-4AE14E276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2" name="Rectangle 61">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4B75418-A4C2-0D82-8130-07DC9D0CEF19}"/>
              </a:ext>
            </a:extLst>
          </p:cNvPr>
          <p:cNvSpPr>
            <a:spLocks noGrp="1"/>
          </p:cNvSpPr>
          <p:nvPr>
            <p:ph type="title"/>
          </p:nvPr>
        </p:nvSpPr>
        <p:spPr>
          <a:xfrm>
            <a:off x="868680" y="405575"/>
            <a:ext cx="5001768" cy="1371600"/>
          </a:xfrm>
        </p:spPr>
        <p:txBody>
          <a:bodyPr vert="horz" lIns="91440" tIns="45720" rIns="91440" bIns="45720" rtlCol="0" anchor="ctr">
            <a:normAutofit/>
          </a:bodyPr>
          <a:lstStyle/>
          <a:p>
            <a:r>
              <a:rPr lang="en-US" sz="3600" b="1">
                <a:latin typeface="Avenir Next"/>
              </a:rPr>
              <a:t>Global Comparison</a:t>
            </a:r>
          </a:p>
        </p:txBody>
      </p:sp>
      <p:sp>
        <p:nvSpPr>
          <p:cNvPr id="64" name="Rectangle 63">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ectangle 65">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86984" y="1071836"/>
            <a:ext cx="1021458"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7" descr="A graph of different colored bars&#10;&#10;Description automatically generated">
            <a:extLst>
              <a:ext uri="{FF2B5EF4-FFF2-40B4-BE49-F238E27FC236}">
                <a16:creationId xmlns:a16="http://schemas.microsoft.com/office/drawing/2014/main" id="{F3EA4F56-8FEF-9060-EDB1-0A30FFF5AE67}"/>
              </a:ext>
            </a:extLst>
          </p:cNvPr>
          <p:cNvPicPr>
            <a:picLocks noGrp="1" noChangeAspect="1"/>
          </p:cNvPicPr>
          <p:nvPr>
            <p:ph sz="half" idx="1"/>
          </p:nvPr>
        </p:nvPicPr>
        <p:blipFill>
          <a:blip r:embed="rId4"/>
          <a:stretch>
            <a:fillRect/>
          </a:stretch>
        </p:blipFill>
        <p:spPr>
          <a:xfrm>
            <a:off x="437488" y="2642375"/>
            <a:ext cx="5655653" cy="2654729"/>
          </a:xfrm>
          <a:prstGeom prst="rect">
            <a:avLst/>
          </a:prstGeom>
        </p:spPr>
      </p:pic>
      <p:pic>
        <p:nvPicPr>
          <p:cNvPr id="9" name="Picture 11" descr="A graph of the company&amp;#39;s revenue comparison&#10;&#10;Description automatically generated">
            <a:extLst>
              <a:ext uri="{FF2B5EF4-FFF2-40B4-BE49-F238E27FC236}">
                <a16:creationId xmlns:a16="http://schemas.microsoft.com/office/drawing/2014/main" id="{752E1D81-6ECD-2EC3-30A0-EDD51ED105C0}"/>
              </a:ext>
            </a:extLst>
          </p:cNvPr>
          <p:cNvPicPr>
            <a:picLocks noChangeAspect="1"/>
          </p:cNvPicPr>
          <p:nvPr/>
        </p:nvPicPr>
        <p:blipFill>
          <a:blip r:embed="rId5"/>
          <a:stretch>
            <a:fillRect/>
          </a:stretch>
        </p:blipFill>
        <p:spPr>
          <a:xfrm>
            <a:off x="6191479" y="2642375"/>
            <a:ext cx="5902183" cy="2657999"/>
          </a:xfrm>
          <a:prstGeom prst="rect">
            <a:avLst/>
          </a:prstGeom>
        </p:spPr>
      </p:pic>
      <p:sp>
        <p:nvSpPr>
          <p:cNvPr id="3" name="TextBox 2">
            <a:extLst>
              <a:ext uri="{FF2B5EF4-FFF2-40B4-BE49-F238E27FC236}">
                <a16:creationId xmlns:a16="http://schemas.microsoft.com/office/drawing/2014/main" id="{6C12B40A-6BB6-6459-E708-96002E75982E}"/>
              </a:ext>
            </a:extLst>
          </p:cNvPr>
          <p:cNvSpPr txBox="1"/>
          <p:nvPr/>
        </p:nvSpPr>
        <p:spPr>
          <a:xfrm>
            <a:off x="6477000" y="677333"/>
            <a:ext cx="472016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venir Next"/>
                <a:ea typeface="Calibri"/>
                <a:cs typeface="Calibri"/>
              </a:rPr>
              <a:t>Revenue comparison of UK's apparel industry with other competitors</a:t>
            </a:r>
            <a:endParaRPr lang="en-US">
              <a:latin typeface="Avenir Next"/>
            </a:endParaRPr>
          </a:p>
        </p:txBody>
      </p:sp>
    </p:spTree>
    <p:extLst>
      <p:ext uri="{BB962C8B-B14F-4D97-AF65-F5344CB8AC3E}">
        <p14:creationId xmlns:p14="http://schemas.microsoft.com/office/powerpoint/2010/main" val="1491667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70FAA8-97F4-D2D2-566D-73D51F0EC66E}"/>
              </a:ext>
            </a:extLst>
          </p:cNvPr>
          <p:cNvSpPr>
            <a:spLocks noGrp="1"/>
          </p:cNvSpPr>
          <p:nvPr>
            <p:ph type="title"/>
          </p:nvPr>
        </p:nvSpPr>
        <p:spPr>
          <a:xfrm>
            <a:off x="284497" y="1198418"/>
            <a:ext cx="3604645" cy="4461163"/>
          </a:xfrm>
        </p:spPr>
        <p:txBody>
          <a:bodyPr vert="horz" lIns="91440" tIns="45720" rIns="91440" bIns="45720" rtlCol="0" anchor="ctr">
            <a:normAutofit/>
          </a:bodyPr>
          <a:lstStyle/>
          <a:p>
            <a:r>
              <a:rPr lang="en-US" b="1" kern="1200">
                <a:solidFill>
                  <a:srgbClr val="FFFFFF"/>
                </a:solidFill>
                <a:latin typeface="Avenir Next Demi Bold" panose="020B0503020202020204" pitchFamily="34" charset="0"/>
              </a:rPr>
              <a:t>Architecture sector</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FD16882-C9BE-A888-CAFA-468AA9AAD51D}"/>
              </a:ext>
            </a:extLst>
          </p:cNvPr>
          <p:cNvSpPr>
            <a:spLocks noGrp="1"/>
          </p:cNvSpPr>
          <p:nvPr>
            <p:ph sz="half" idx="1"/>
          </p:nvPr>
        </p:nvSpPr>
        <p:spPr>
          <a:xfrm>
            <a:off x="4447308" y="591344"/>
            <a:ext cx="6906491" cy="5585619"/>
          </a:xfrm>
        </p:spPr>
        <p:txBody>
          <a:bodyPr vert="horz" lIns="91440" tIns="45720" rIns="91440" bIns="45720" rtlCol="0" anchor="ctr">
            <a:normAutofit/>
          </a:bodyPr>
          <a:lstStyle/>
          <a:p>
            <a:r>
              <a:rPr lang="en-US" sz="2000">
                <a:latin typeface="Avenir Next" panose="020B0503020202020204" pitchFamily="34" charset="0"/>
              </a:rPr>
              <a:t>The interior design industry in the UK is poised for strong growth, with revenue of nearly £1.5 billion in 2021-22, indicates a rebound of 10.5% from the previous year, driven by increased demand in the hospitality, residential, and commercial sectors.</a:t>
            </a:r>
          </a:p>
          <a:p>
            <a:r>
              <a:rPr lang="en-US" sz="2000">
                <a:latin typeface="Avenir Next" panose="020B0503020202020204" pitchFamily="34" charset="0"/>
              </a:rPr>
              <a:t>The architectural activities industry is projected to reach £9.8 billion by 2027-28, growing at a compound annual rate of 3.1%.</a:t>
            </a:r>
            <a:endParaRPr lang="en-US" sz="2000">
              <a:latin typeface="Avenir Next" panose="020B0503020202020204" pitchFamily="34" charset="0"/>
              <a:cs typeface="Calibri"/>
            </a:endParaRPr>
          </a:p>
          <a:p>
            <a:r>
              <a:rPr lang="en-US" sz="2000">
                <a:latin typeface="Avenir Next" panose="020B0503020202020204" pitchFamily="34" charset="0"/>
              </a:rPr>
              <a:t>The construction market revenue serves as the foundation for both architectural and interior design activities.</a:t>
            </a:r>
            <a:endParaRPr lang="en-US" sz="2000">
              <a:latin typeface="Avenir Next" panose="020B0503020202020204" pitchFamily="34" charset="0"/>
              <a:cs typeface="Calibri"/>
            </a:endParaRPr>
          </a:p>
          <a:p>
            <a:r>
              <a:rPr lang="en-US" sz="2000">
                <a:latin typeface="Avenir Next" panose="020B0503020202020204" pitchFamily="34" charset="0"/>
              </a:rPr>
              <a:t>Interior design revenue closely correlates with architectural activities, as both collaborate to create visually appealing spaces.</a:t>
            </a:r>
            <a:endParaRPr lang="en-US" sz="2000">
              <a:latin typeface="Avenir Next" panose="020B0503020202020204" pitchFamily="34" charset="0"/>
              <a:cs typeface="Calibri"/>
            </a:endParaRPr>
          </a:p>
          <a:p>
            <a:r>
              <a:rPr lang="en-US" sz="2000">
                <a:latin typeface="Avenir Next" panose="020B0503020202020204" pitchFamily="34" charset="0"/>
              </a:rPr>
              <a:t>Sustainable interior design is gaining importance, offering benefits such as improved health, cost savings, and reduced environmental impact.</a:t>
            </a:r>
            <a:endParaRPr lang="en-US" sz="2000">
              <a:latin typeface="Avenir Next" panose="020B0503020202020204" pitchFamily="34" charset="0"/>
              <a:cs typeface="Calibri"/>
            </a:endParaRPr>
          </a:p>
          <a:p>
            <a:endParaRPr lang="en-US" sz="2000"/>
          </a:p>
        </p:txBody>
      </p:sp>
    </p:spTree>
    <p:extLst>
      <p:ext uri="{BB962C8B-B14F-4D97-AF65-F5344CB8AC3E}">
        <p14:creationId xmlns:p14="http://schemas.microsoft.com/office/powerpoint/2010/main" val="37041030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1">
            <a:extLst>
              <a:ext uri="{FF2B5EF4-FFF2-40B4-BE49-F238E27FC236}">
                <a16:creationId xmlns:a16="http://schemas.microsoft.com/office/drawing/2014/main" id="{3CE5203E-F2D1-469A-A50E-9C665421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5" descr="A graph of a bar chart&#10;&#10;Description automatically generated">
            <a:extLst>
              <a:ext uri="{FF2B5EF4-FFF2-40B4-BE49-F238E27FC236}">
                <a16:creationId xmlns:a16="http://schemas.microsoft.com/office/drawing/2014/main" id="{82C805A4-B1B6-726A-B5EB-FA2E8B97E856}"/>
              </a:ext>
            </a:extLst>
          </p:cNvPr>
          <p:cNvPicPr>
            <a:picLocks noGrp="1" noChangeAspect="1"/>
          </p:cNvPicPr>
          <p:nvPr>
            <p:ph sz="half" idx="1"/>
          </p:nvPr>
        </p:nvPicPr>
        <p:blipFill rotWithShape="1">
          <a:blip r:embed="rId3"/>
          <a:srcRect l="8480" r="1729" b="-10"/>
          <a:stretch/>
        </p:blipFill>
        <p:spPr>
          <a:xfrm>
            <a:off x="409600" y="91451"/>
            <a:ext cx="5457817" cy="3337549"/>
          </a:xfrm>
          <a:prstGeom prst="rect">
            <a:avLst/>
          </a:prstGeom>
        </p:spPr>
      </p:pic>
      <p:sp useBgFill="1">
        <p:nvSpPr>
          <p:cNvPr id="21" name="Rectangle 13">
            <a:extLst>
              <a:ext uri="{FF2B5EF4-FFF2-40B4-BE49-F238E27FC236}">
                <a16:creationId xmlns:a16="http://schemas.microsoft.com/office/drawing/2014/main" id="{9080D120-BD54-46E1-BA37-82F5E8089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4590" y="633619"/>
            <a:ext cx="5457817"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44E60F7-3F58-2A77-7053-C5F5D5669FF7}"/>
              </a:ext>
            </a:extLst>
          </p:cNvPr>
          <p:cNvSpPr>
            <a:spLocks noGrp="1"/>
          </p:cNvSpPr>
          <p:nvPr>
            <p:ph type="title"/>
          </p:nvPr>
        </p:nvSpPr>
        <p:spPr>
          <a:xfrm>
            <a:off x="6753215" y="978408"/>
            <a:ext cx="4607052" cy="1106424"/>
          </a:xfrm>
        </p:spPr>
        <p:txBody>
          <a:bodyPr vert="horz" lIns="91440" tIns="45720" rIns="91440" bIns="45720" rtlCol="0" anchor="ctr">
            <a:normAutofit/>
          </a:bodyPr>
          <a:lstStyle/>
          <a:p>
            <a:r>
              <a:rPr lang="en-US" sz="3600" b="1" kern="1200">
                <a:latin typeface="Avenir Next Demi Bold" panose="020B0503020202020204" pitchFamily="34" charset="0"/>
              </a:rPr>
              <a:t>Interior Design Activities in UK</a:t>
            </a:r>
          </a:p>
        </p:txBody>
      </p:sp>
      <p:sp>
        <p:nvSpPr>
          <p:cNvPr id="22" name="Rectangle 15">
            <a:extLst>
              <a:ext uri="{FF2B5EF4-FFF2-40B4-BE49-F238E27FC236}">
                <a16:creationId xmlns:a16="http://schemas.microsoft.com/office/drawing/2014/main" id="{81D83946-74FA-498A-AC80-9926F041B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60582" y="118561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17">
            <a:extLst>
              <a:ext uri="{FF2B5EF4-FFF2-40B4-BE49-F238E27FC236}">
                <a16:creationId xmlns:a16="http://schemas.microsoft.com/office/drawing/2014/main" id="{5060D983-8B52-443A-8183-2A1DE0561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92473" y="2185416"/>
            <a:ext cx="4446484"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1653DC4C-8A7C-E809-0593-7EF7D6BD9A52}"/>
              </a:ext>
            </a:extLst>
          </p:cNvPr>
          <p:cNvSpPr txBox="1"/>
          <p:nvPr/>
        </p:nvSpPr>
        <p:spPr>
          <a:xfrm>
            <a:off x="6756263" y="2368296"/>
            <a:ext cx="4607052" cy="350215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b="1">
                <a:latin typeface="Avenir Next"/>
              </a:rPr>
              <a:t>Hotel and Restaurant Interior Design</a:t>
            </a:r>
          </a:p>
          <a:p>
            <a:pPr indent="-228600">
              <a:lnSpc>
                <a:spcPct val="90000"/>
              </a:lnSpc>
              <a:spcAft>
                <a:spcPts val="600"/>
              </a:spcAft>
              <a:buFont typeface="Arial" panose="020B0604020202020204" pitchFamily="34" charset="0"/>
              <a:buChar char="•"/>
            </a:pPr>
            <a:endParaRPr lang="en-US">
              <a:latin typeface="Avenir Next"/>
            </a:endParaRPr>
          </a:p>
          <a:p>
            <a:pPr marL="285750" indent="-228600">
              <a:lnSpc>
                <a:spcPct val="90000"/>
              </a:lnSpc>
              <a:spcAft>
                <a:spcPts val="600"/>
              </a:spcAft>
              <a:buFont typeface="Arial" panose="020B0604020202020204" pitchFamily="34" charset="0"/>
              <a:buChar char="•"/>
            </a:pPr>
            <a:r>
              <a:rPr lang="en-US">
                <a:latin typeface="Avenir Next"/>
              </a:rPr>
              <a:t>Highest revenue share at 34.0%</a:t>
            </a:r>
          </a:p>
          <a:p>
            <a:pPr marL="285750" indent="-228600">
              <a:lnSpc>
                <a:spcPct val="90000"/>
              </a:lnSpc>
              <a:spcAft>
                <a:spcPts val="600"/>
              </a:spcAft>
              <a:buFont typeface="Arial" panose="020B0604020202020204" pitchFamily="34" charset="0"/>
              <a:buChar char="•"/>
            </a:pPr>
            <a:r>
              <a:rPr lang="en-US">
                <a:latin typeface="Avenir Next"/>
              </a:rPr>
              <a:t>Amounting to £494.63 million</a:t>
            </a:r>
          </a:p>
          <a:p>
            <a:pPr marL="285750" indent="-228600">
              <a:lnSpc>
                <a:spcPct val="90000"/>
              </a:lnSpc>
              <a:spcAft>
                <a:spcPts val="600"/>
              </a:spcAft>
              <a:buFont typeface="Arial" panose="020B0604020202020204" pitchFamily="34" charset="0"/>
              <a:buChar char="•"/>
            </a:pPr>
            <a:r>
              <a:rPr lang="en-US">
                <a:latin typeface="Avenir Next"/>
              </a:rPr>
              <a:t>Significant demand in the hospitality sector</a:t>
            </a:r>
          </a:p>
          <a:p>
            <a:pPr indent="-228600">
              <a:lnSpc>
                <a:spcPct val="90000"/>
              </a:lnSpc>
              <a:spcAft>
                <a:spcPts val="600"/>
              </a:spcAft>
              <a:buFont typeface="Arial" panose="020B0604020202020204" pitchFamily="34" charset="0"/>
              <a:buChar char="•"/>
            </a:pPr>
            <a:endParaRPr lang="en-US"/>
          </a:p>
        </p:txBody>
      </p:sp>
      <p:pic>
        <p:nvPicPr>
          <p:cNvPr id="3" name="Picture 3" descr="A graph of blue bars&#10;&#10;Description automatically generated">
            <a:extLst>
              <a:ext uri="{FF2B5EF4-FFF2-40B4-BE49-F238E27FC236}">
                <a16:creationId xmlns:a16="http://schemas.microsoft.com/office/drawing/2014/main" id="{63FDCE6A-319D-CE32-94EB-073FA2CE3FB1}"/>
              </a:ext>
            </a:extLst>
          </p:cNvPr>
          <p:cNvPicPr>
            <a:picLocks noChangeAspect="1"/>
          </p:cNvPicPr>
          <p:nvPr/>
        </p:nvPicPr>
        <p:blipFill>
          <a:blip r:embed="rId4"/>
          <a:stretch>
            <a:fillRect/>
          </a:stretch>
        </p:blipFill>
        <p:spPr>
          <a:xfrm>
            <a:off x="410637" y="3560331"/>
            <a:ext cx="5456773" cy="3072675"/>
          </a:xfrm>
          <a:prstGeom prst="rect">
            <a:avLst/>
          </a:prstGeom>
        </p:spPr>
      </p:pic>
    </p:spTree>
    <p:extLst>
      <p:ext uri="{BB962C8B-B14F-4D97-AF65-F5344CB8AC3E}">
        <p14:creationId xmlns:p14="http://schemas.microsoft.com/office/powerpoint/2010/main" val="34856200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CBC5EDB-3D5F-4573-7EA2-67A0921843D4}"/>
              </a:ext>
            </a:extLst>
          </p:cNvPr>
          <p:cNvSpPr>
            <a:spLocks noGrp="1"/>
          </p:cNvSpPr>
          <p:nvPr>
            <p:ph type="title"/>
          </p:nvPr>
        </p:nvSpPr>
        <p:spPr>
          <a:xfrm>
            <a:off x="841247" y="978619"/>
            <a:ext cx="3410712" cy="1106424"/>
          </a:xfrm>
        </p:spPr>
        <p:txBody>
          <a:bodyPr vert="horz" lIns="91440" tIns="45720" rIns="91440" bIns="45720" rtlCol="0" anchor="ctr">
            <a:normAutofit/>
          </a:bodyPr>
          <a:lstStyle/>
          <a:p>
            <a:r>
              <a:rPr lang="en-US" sz="3600" b="1" kern="1200">
                <a:latin typeface="Avenir Next Demi Bold" panose="020B0503020202020204" pitchFamily="34" charset="0"/>
              </a:rPr>
              <a:t>Architectural activities in UK</a:t>
            </a:r>
          </a:p>
        </p:txBody>
      </p:sp>
      <p:sp>
        <p:nvSpPr>
          <p:cNvPr id="14" name="Rectangle 13">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093976"/>
            <a:ext cx="3328416"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Content Placeholder 3">
            <a:extLst>
              <a:ext uri="{FF2B5EF4-FFF2-40B4-BE49-F238E27FC236}">
                <a16:creationId xmlns:a16="http://schemas.microsoft.com/office/drawing/2014/main" id="{C3E97E12-1DAE-2CEB-1DB7-96850D18A61E}"/>
              </a:ext>
            </a:extLst>
          </p:cNvPr>
          <p:cNvSpPr>
            <a:spLocks noGrp="1"/>
          </p:cNvSpPr>
          <p:nvPr>
            <p:ph sz="half" idx="2"/>
          </p:nvPr>
        </p:nvSpPr>
        <p:spPr>
          <a:xfrm>
            <a:off x="841248" y="2252870"/>
            <a:ext cx="3412219" cy="3560251"/>
          </a:xfrm>
        </p:spPr>
        <p:txBody>
          <a:bodyPr vert="horz" lIns="91440" tIns="45720" rIns="91440" bIns="45720" rtlCol="0" anchor="t">
            <a:normAutofit/>
          </a:bodyPr>
          <a:lstStyle/>
          <a:p>
            <a:r>
              <a:rPr lang="en-US" sz="1700">
                <a:latin typeface="Avenir Next"/>
              </a:rPr>
              <a:t>Revenue drop in 2020-21 due to COVID-19 and restrictions</a:t>
            </a:r>
          </a:p>
          <a:p>
            <a:r>
              <a:rPr lang="en-US" sz="1700">
                <a:latin typeface="Avenir Next"/>
              </a:rPr>
              <a:t>Recovery observed as restrictions lifted, leading to rising demand</a:t>
            </a:r>
          </a:p>
          <a:p>
            <a:r>
              <a:rPr lang="en-US" sz="1700">
                <a:latin typeface="Avenir Next"/>
              </a:rPr>
              <a:t>Projected revenue decline of 3.6% in 2022-23 due to economic challenges</a:t>
            </a:r>
          </a:p>
          <a:p>
            <a:r>
              <a:rPr lang="en-US" sz="1700">
                <a:latin typeface="Avenir Next"/>
              </a:rPr>
              <a:t>Forecasted compound annual growth rate of 3.1% over the next five years</a:t>
            </a:r>
          </a:p>
          <a:p>
            <a:endParaRPr lang="en-US" sz="1700"/>
          </a:p>
          <a:p>
            <a:endParaRPr lang="en-US" sz="1700"/>
          </a:p>
        </p:txBody>
      </p:sp>
      <p:pic>
        <p:nvPicPr>
          <p:cNvPr id="5" name="Picture 5" descr="A graph of a number of columns&#10;&#10;Description automatically generated">
            <a:extLst>
              <a:ext uri="{FF2B5EF4-FFF2-40B4-BE49-F238E27FC236}">
                <a16:creationId xmlns:a16="http://schemas.microsoft.com/office/drawing/2014/main" id="{B690B74A-7E53-BA15-CA42-A913DCD35717}"/>
              </a:ext>
            </a:extLst>
          </p:cNvPr>
          <p:cNvPicPr>
            <a:picLocks noGrp="1" noChangeAspect="1"/>
          </p:cNvPicPr>
          <p:nvPr>
            <p:ph sz="half" idx="1"/>
          </p:nvPr>
        </p:nvPicPr>
        <p:blipFill>
          <a:blip r:embed="rId3"/>
          <a:stretch>
            <a:fillRect/>
          </a:stretch>
        </p:blipFill>
        <p:spPr>
          <a:xfrm>
            <a:off x="4752966" y="633619"/>
            <a:ext cx="6781936" cy="5495925"/>
          </a:xfrm>
          <a:prstGeom prst="rect">
            <a:avLst/>
          </a:prstGeom>
        </p:spPr>
      </p:pic>
    </p:spTree>
    <p:extLst>
      <p:ext uri="{BB962C8B-B14F-4D97-AF65-F5344CB8AC3E}">
        <p14:creationId xmlns:p14="http://schemas.microsoft.com/office/powerpoint/2010/main" val="20247552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Rectangle 17">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B704656-A48D-8386-0AA9-824E253573B9}"/>
              </a:ext>
            </a:extLst>
          </p:cNvPr>
          <p:cNvSpPr>
            <a:spLocks noGrp="1"/>
          </p:cNvSpPr>
          <p:nvPr>
            <p:ph type="title"/>
          </p:nvPr>
        </p:nvSpPr>
        <p:spPr>
          <a:xfrm>
            <a:off x="1115568" y="548640"/>
            <a:ext cx="10168128" cy="1179576"/>
          </a:xfrm>
        </p:spPr>
        <p:txBody>
          <a:bodyPr vert="horz" lIns="91440" tIns="45720" rIns="91440" bIns="45720" rtlCol="0" anchor="ctr">
            <a:normAutofit/>
          </a:bodyPr>
          <a:lstStyle/>
          <a:p>
            <a:r>
              <a:rPr lang="en-US" sz="4000" b="1">
                <a:latin typeface="Avenir Next"/>
              </a:rPr>
              <a:t>Revenue comparison </a:t>
            </a:r>
          </a:p>
        </p:txBody>
      </p:sp>
      <p:sp>
        <p:nvSpPr>
          <p:cNvPr id="20" name="Rectangle 19">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822A9454-7087-014B-FDF8-6A0944399EE7}"/>
              </a:ext>
            </a:extLst>
          </p:cNvPr>
          <p:cNvSpPr txBox="1"/>
          <p:nvPr/>
        </p:nvSpPr>
        <p:spPr>
          <a:xfrm>
            <a:off x="7411453" y="2478024"/>
            <a:ext cx="3872243" cy="3694176"/>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fontScale="92500"/>
          </a:bodyPr>
          <a:lstStyle/>
          <a:p>
            <a:pPr marL="285750" indent="-228600">
              <a:lnSpc>
                <a:spcPct val="90000"/>
              </a:lnSpc>
              <a:spcAft>
                <a:spcPts val="600"/>
              </a:spcAft>
              <a:buFont typeface="Arial" panose="020B0604020202020204" pitchFamily="34" charset="0"/>
              <a:buChar char="•"/>
            </a:pPr>
            <a:r>
              <a:rPr lang="en-US" sz="1500">
                <a:latin typeface="Avenir Next"/>
              </a:rPr>
              <a:t>Architecture and construction revenue are interconnected, rising with increased construction activity and investment.</a:t>
            </a:r>
          </a:p>
          <a:p>
            <a:pPr indent="-228600">
              <a:lnSpc>
                <a:spcPct val="90000"/>
              </a:lnSpc>
              <a:spcAft>
                <a:spcPts val="600"/>
              </a:spcAft>
              <a:buFont typeface="Arial" panose="020B0604020202020204" pitchFamily="34" charset="0"/>
              <a:buChar char="•"/>
            </a:pPr>
            <a:endParaRPr lang="en-US" sz="1500">
              <a:latin typeface="Avenir Next"/>
            </a:endParaRPr>
          </a:p>
          <a:p>
            <a:pPr marL="285750" indent="-228600">
              <a:lnSpc>
                <a:spcPct val="90000"/>
              </a:lnSpc>
              <a:spcAft>
                <a:spcPts val="600"/>
              </a:spcAft>
              <a:buFont typeface="Arial" panose="020B0604020202020204" pitchFamily="34" charset="0"/>
              <a:buChar char="•"/>
            </a:pPr>
            <a:r>
              <a:rPr lang="en-US" sz="1500">
                <a:latin typeface="Avenir Next"/>
              </a:rPr>
              <a:t>Interior design revenue is closely linked to architecture and construction, driven by the demand for interior enhancements in completed structures.</a:t>
            </a:r>
          </a:p>
          <a:p>
            <a:pPr indent="-228600">
              <a:lnSpc>
                <a:spcPct val="90000"/>
              </a:lnSpc>
              <a:spcAft>
                <a:spcPts val="600"/>
              </a:spcAft>
              <a:buFont typeface="Arial" panose="020B0604020202020204" pitchFamily="34" charset="0"/>
              <a:buChar char="•"/>
            </a:pPr>
            <a:endParaRPr lang="en-US" sz="1500">
              <a:latin typeface="Avenir Next"/>
            </a:endParaRPr>
          </a:p>
          <a:p>
            <a:pPr marL="285750" indent="-228600">
              <a:lnSpc>
                <a:spcPct val="90000"/>
              </a:lnSpc>
              <a:spcAft>
                <a:spcPts val="600"/>
              </a:spcAft>
              <a:buFont typeface="Arial" panose="020B0604020202020204" pitchFamily="34" charset="0"/>
              <a:buChar char="•"/>
            </a:pPr>
            <a:r>
              <a:rPr lang="en-US" sz="1500">
                <a:latin typeface="Avenir Next"/>
              </a:rPr>
              <a:t>Architects and interior designers collaborate to create appealing spaces.</a:t>
            </a:r>
          </a:p>
          <a:p>
            <a:pPr indent="-228600">
              <a:lnSpc>
                <a:spcPct val="90000"/>
              </a:lnSpc>
              <a:spcAft>
                <a:spcPts val="600"/>
              </a:spcAft>
              <a:buFont typeface="Arial" panose="020B0604020202020204" pitchFamily="34" charset="0"/>
              <a:buChar char="•"/>
            </a:pPr>
            <a:endParaRPr lang="en-US" sz="1500">
              <a:latin typeface="Avenir Next"/>
            </a:endParaRPr>
          </a:p>
          <a:p>
            <a:pPr marL="285750" indent="-228600">
              <a:lnSpc>
                <a:spcPct val="90000"/>
              </a:lnSpc>
              <a:spcAft>
                <a:spcPts val="600"/>
              </a:spcAft>
              <a:buFont typeface="Arial" panose="020B0604020202020204" pitchFamily="34" charset="0"/>
              <a:buChar char="•"/>
            </a:pPr>
            <a:r>
              <a:rPr lang="en-US" sz="1500">
                <a:latin typeface="Avenir Next"/>
              </a:rPr>
              <a:t>Construction projects provide opportunities for architectural and interior design activities.</a:t>
            </a:r>
          </a:p>
        </p:txBody>
      </p:sp>
      <p:pic>
        <p:nvPicPr>
          <p:cNvPr id="5" name="Picture 5" descr="A graph showing the difference between architectural and interior design activities and construction activities&#10;&#10;Description automatically generated">
            <a:extLst>
              <a:ext uri="{FF2B5EF4-FFF2-40B4-BE49-F238E27FC236}">
                <a16:creationId xmlns:a16="http://schemas.microsoft.com/office/drawing/2014/main" id="{1D6589F8-6F55-5C5D-7251-2CF891F363EE}"/>
              </a:ext>
            </a:extLst>
          </p:cNvPr>
          <p:cNvPicPr>
            <a:picLocks noGrp="1" noChangeAspect="1"/>
          </p:cNvPicPr>
          <p:nvPr>
            <p:ph sz="half" idx="1"/>
          </p:nvPr>
        </p:nvPicPr>
        <p:blipFill>
          <a:blip r:embed="rId4"/>
          <a:stretch>
            <a:fillRect/>
          </a:stretch>
        </p:blipFill>
        <p:spPr>
          <a:xfrm>
            <a:off x="558209" y="2626412"/>
            <a:ext cx="6044241" cy="3682948"/>
          </a:xfrm>
        </p:spPr>
      </p:pic>
    </p:spTree>
    <p:extLst>
      <p:ext uri="{BB962C8B-B14F-4D97-AF65-F5344CB8AC3E}">
        <p14:creationId xmlns:p14="http://schemas.microsoft.com/office/powerpoint/2010/main" val="713230763"/>
      </p:ext>
    </p:extLst>
  </p:cSld>
  <p:clrMapOvr>
    <a:masterClrMapping/>
  </p:clrMapOvr>
  <p:extLst>
    <p:ext uri="{6950BFC3-D8DA-4A85-94F7-54DA5524770B}">
      <p188:commentRel xmlns:p188="http://schemas.microsoft.com/office/powerpoint/2018/8/main" r:id="rId3"/>
    </p:ext>
  </p:extLst>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1D111A-2337-9C51-0C7E-53170CAC7C73}"/>
              </a:ext>
            </a:extLst>
          </p:cNvPr>
          <p:cNvSpPr>
            <a:spLocks noGrp="1"/>
          </p:cNvSpPr>
          <p:nvPr>
            <p:ph type="title"/>
          </p:nvPr>
        </p:nvSpPr>
        <p:spPr>
          <a:xfrm>
            <a:off x="841248" y="426720"/>
            <a:ext cx="10506456" cy="1919141"/>
          </a:xfrm>
        </p:spPr>
        <p:txBody>
          <a:bodyPr vert="horz" lIns="91440" tIns="45720" rIns="91440" bIns="45720" rtlCol="0" anchor="b">
            <a:normAutofit fontScale="90000"/>
          </a:bodyPr>
          <a:lstStyle/>
          <a:p>
            <a:r>
              <a:rPr lang="en-US" sz="5100" b="1" kern="1200">
                <a:solidFill>
                  <a:schemeClr val="tx1"/>
                </a:solidFill>
                <a:latin typeface="Avenir Next Demi Bold" panose="020B0503020202020204" pitchFamily="34" charset="0"/>
              </a:rPr>
              <a:t>Growth and Correlation: Digital Console and Online Gaming Industry</a:t>
            </a:r>
          </a:p>
        </p:txBody>
      </p:sp>
      <p:sp>
        <p:nvSpPr>
          <p:cNvPr id="23" name="Rectangle 22">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5" name="Rectangle 24">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6BCE27AC-70BF-1CF0-5D83-FDF0FD2E80D8}"/>
              </a:ext>
            </a:extLst>
          </p:cNvPr>
          <p:cNvSpPr>
            <a:spLocks noGrp="1"/>
          </p:cNvSpPr>
          <p:nvPr>
            <p:ph sz="half" idx="1"/>
          </p:nvPr>
        </p:nvSpPr>
        <p:spPr>
          <a:xfrm>
            <a:off x="841248" y="3337269"/>
            <a:ext cx="10509504" cy="2905686"/>
          </a:xfrm>
        </p:spPr>
        <p:txBody>
          <a:bodyPr vert="horz" lIns="91440" tIns="45720" rIns="91440" bIns="45720" rtlCol="0">
            <a:normAutofit/>
          </a:bodyPr>
          <a:lstStyle/>
          <a:p>
            <a:r>
              <a:rPr lang="en-US" sz="2200"/>
              <a:t>The digital console and online gaming sector in the UK has experienced steady growth, with consumer spending increasing from £891 million in 2013 to £2,640 million in 2022.</a:t>
            </a:r>
          </a:p>
          <a:p>
            <a:r>
              <a:rPr lang="en-US" sz="2200"/>
              <a:t> The COVID-19 pandemic had a significant impact, leading to a spike in spending in 2020, and the industry has shown resilience and continued growth.</a:t>
            </a:r>
          </a:p>
          <a:p>
            <a:r>
              <a:rPr lang="en-US" sz="2200"/>
              <a:t>Digital Transformation</a:t>
            </a:r>
          </a:p>
          <a:p>
            <a:r>
              <a:rPr lang="en-US" sz="2200"/>
              <a:t>Interplay between Digital Video Game Sales Revenue and Consumer Spending in the Gaming Sector</a:t>
            </a:r>
          </a:p>
        </p:txBody>
      </p:sp>
    </p:spTree>
    <p:extLst>
      <p:ext uri="{BB962C8B-B14F-4D97-AF65-F5344CB8AC3E}">
        <p14:creationId xmlns:p14="http://schemas.microsoft.com/office/powerpoint/2010/main" val="21346126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Freeform: Shape 22">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2C2BAF6-9995-7046-C6F3-FAF7E23A497C}"/>
              </a:ext>
            </a:extLst>
          </p:cNvPr>
          <p:cNvSpPr>
            <a:spLocks noGrp="1"/>
          </p:cNvSpPr>
          <p:nvPr>
            <p:ph type="title"/>
          </p:nvPr>
        </p:nvSpPr>
        <p:spPr>
          <a:xfrm>
            <a:off x="393840" y="933826"/>
            <a:ext cx="3392652" cy="1466474"/>
          </a:xfrm>
        </p:spPr>
        <p:txBody>
          <a:bodyPr vert="horz" lIns="91440" tIns="45720" rIns="91440" bIns="45720" rtlCol="0" anchor="ctr">
            <a:noAutofit/>
          </a:bodyPr>
          <a:lstStyle/>
          <a:p>
            <a:r>
              <a:rPr lang="en-US" sz="3600" b="1" kern="1200">
                <a:latin typeface="Avenir Next Demi Bold" panose="020B0503020202020204" pitchFamily="34" charset="0"/>
              </a:rPr>
              <a:t>Digital console and online games </a:t>
            </a:r>
          </a:p>
        </p:txBody>
      </p:sp>
      <p:sp>
        <p:nvSpPr>
          <p:cNvPr id="27" name="Rectangle 26">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9" name="Rectangle 28">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Content Placeholder 3">
            <a:extLst>
              <a:ext uri="{FF2B5EF4-FFF2-40B4-BE49-F238E27FC236}">
                <a16:creationId xmlns:a16="http://schemas.microsoft.com/office/drawing/2014/main" id="{27A511C5-A63A-FFF8-2A7F-A7FD90153959}"/>
              </a:ext>
            </a:extLst>
          </p:cNvPr>
          <p:cNvSpPr>
            <a:spLocks noGrp="1"/>
          </p:cNvSpPr>
          <p:nvPr>
            <p:ph sz="half" idx="2"/>
          </p:nvPr>
        </p:nvSpPr>
        <p:spPr>
          <a:xfrm>
            <a:off x="523236" y="2847665"/>
            <a:ext cx="3382041" cy="4321824"/>
          </a:xfrm>
        </p:spPr>
        <p:txBody>
          <a:bodyPr vert="horz" lIns="91440" tIns="45720" rIns="91440" bIns="45720" rtlCol="0" anchor="t">
            <a:noAutofit/>
          </a:bodyPr>
          <a:lstStyle/>
          <a:p>
            <a:r>
              <a:rPr lang="en-US" sz="1200">
                <a:latin typeface="Avenir Next"/>
              </a:rPr>
              <a:t>Steady growth: UK consumer spending on digital console and online games increased from £891 million in 2013 to £2,640 million in 2022.</a:t>
            </a:r>
            <a:endParaRPr lang="en-US" sz="1200">
              <a:latin typeface="Avenir Next"/>
              <a:cs typeface="Calibri"/>
            </a:endParaRPr>
          </a:p>
          <a:p>
            <a:r>
              <a:rPr lang="en-US" sz="1200">
                <a:latin typeface="Avenir Next"/>
              </a:rPr>
              <a:t>Fluctuations: Some years showed fluctuations, but overall, the trend has been upward.</a:t>
            </a:r>
            <a:endParaRPr lang="en-US" sz="1200">
              <a:latin typeface="Avenir Next"/>
              <a:cs typeface="Calibri"/>
            </a:endParaRPr>
          </a:p>
          <a:p>
            <a:r>
              <a:rPr lang="en-US" sz="1200">
                <a:latin typeface="Avenir Next"/>
              </a:rPr>
              <a:t>COVID-19 impact: 2020 saw a spike in spending (£2,399 million) due to increased gaming demand during lockdowns.</a:t>
            </a:r>
            <a:endParaRPr lang="en-US" sz="1200">
              <a:latin typeface="Avenir Next"/>
              <a:cs typeface="Calibri"/>
            </a:endParaRPr>
          </a:p>
          <a:p>
            <a:r>
              <a:rPr lang="en-US" sz="1200">
                <a:latin typeface="Avenir Next"/>
              </a:rPr>
              <a:t>Recovery and growth: Spending rebounded in 2022, reaching a new peak of £2,640 million.</a:t>
            </a:r>
            <a:endParaRPr lang="en-US" sz="1200">
              <a:latin typeface="Avenir Next"/>
              <a:cs typeface="Calibri"/>
            </a:endParaRPr>
          </a:p>
          <a:p>
            <a:r>
              <a:rPr lang="en-US" sz="1200">
                <a:latin typeface="Avenir Next"/>
              </a:rPr>
              <a:t>Increased consumer demand: Growing interest in digital console and online games driven by technology advancements and multiplayer gaming popularity.</a:t>
            </a:r>
            <a:endParaRPr lang="en-US" sz="1200">
              <a:latin typeface="Avenir Next"/>
              <a:cs typeface="Calibri"/>
            </a:endParaRPr>
          </a:p>
        </p:txBody>
      </p:sp>
      <p:pic>
        <p:nvPicPr>
          <p:cNvPr id="8" name="Picture 8" descr="A graph of blue bars&#10;&#10;Description automatically generated">
            <a:extLst>
              <a:ext uri="{FF2B5EF4-FFF2-40B4-BE49-F238E27FC236}">
                <a16:creationId xmlns:a16="http://schemas.microsoft.com/office/drawing/2014/main" id="{769962C2-DC6E-3392-6D86-665C63D97E4B}"/>
              </a:ext>
            </a:extLst>
          </p:cNvPr>
          <p:cNvPicPr>
            <a:picLocks noGrp="1" noChangeAspect="1"/>
          </p:cNvPicPr>
          <p:nvPr>
            <p:ph sz="half" idx="1"/>
          </p:nvPr>
        </p:nvPicPr>
        <p:blipFill>
          <a:blip r:embed="rId3"/>
          <a:stretch>
            <a:fillRect/>
          </a:stretch>
        </p:blipFill>
        <p:spPr>
          <a:xfrm>
            <a:off x="4901184" y="1757859"/>
            <a:ext cx="7092605" cy="3545224"/>
          </a:xfrm>
          <a:prstGeom prst="rect">
            <a:avLst/>
          </a:prstGeom>
        </p:spPr>
      </p:pic>
    </p:spTree>
    <p:extLst>
      <p:ext uri="{BB962C8B-B14F-4D97-AF65-F5344CB8AC3E}">
        <p14:creationId xmlns:p14="http://schemas.microsoft.com/office/powerpoint/2010/main" val="27699792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CBA8D12-ACB9-9702-190F-828FE19DC1CB}"/>
              </a:ext>
            </a:extLst>
          </p:cNvPr>
          <p:cNvSpPr>
            <a:spLocks noGrp="1"/>
          </p:cNvSpPr>
          <p:nvPr>
            <p:ph type="title"/>
          </p:nvPr>
        </p:nvSpPr>
        <p:spPr>
          <a:xfrm>
            <a:off x="1051560" y="586822"/>
            <a:ext cx="3657600" cy="1645920"/>
          </a:xfrm>
        </p:spPr>
        <p:txBody>
          <a:bodyPr vert="horz" lIns="91440" tIns="45720" rIns="91440" bIns="45720" rtlCol="0" anchor="ctr">
            <a:normAutofit/>
          </a:bodyPr>
          <a:lstStyle/>
          <a:p>
            <a:r>
              <a:rPr lang="en-US" sz="3600" b="1">
                <a:latin typeface="Avenir Next Demi Bold" panose="020B0503020202020204" pitchFamily="34" charset="0"/>
              </a:rPr>
              <a:t>Video Games</a:t>
            </a:r>
          </a:p>
        </p:txBody>
      </p:sp>
      <p:sp>
        <p:nvSpPr>
          <p:cNvPr id="16" name="Rectangle 15">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562995F7-89C7-F164-ADF3-D2C300D3BB01}"/>
              </a:ext>
            </a:extLst>
          </p:cNvPr>
          <p:cNvSpPr txBox="1"/>
          <p:nvPr/>
        </p:nvSpPr>
        <p:spPr>
          <a:xfrm>
            <a:off x="5250106" y="586822"/>
            <a:ext cx="6106742" cy="1645920"/>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marL="171450" indent="-171450">
              <a:lnSpc>
                <a:spcPct val="90000"/>
              </a:lnSpc>
              <a:spcAft>
                <a:spcPts val="600"/>
              </a:spcAft>
              <a:buFont typeface="Wingdings"/>
              <a:buChar char="Ø"/>
            </a:pPr>
            <a:r>
              <a:rPr lang="en-US" sz="1000">
                <a:latin typeface="Avenir Next"/>
              </a:rPr>
              <a:t>Consistent revenue growth: UK digital game retail sales revenue increased from £1,012 million in 2012 to £4,175.80 million in 2022.</a:t>
            </a:r>
            <a:endParaRPr lang="en-US">
              <a:latin typeface="Avenir Next"/>
              <a:ea typeface="Calibri" panose="020F0502020204030204"/>
              <a:cs typeface="Calibri" panose="020F0502020204030204"/>
            </a:endParaRPr>
          </a:p>
          <a:p>
            <a:pPr marL="171450" indent="-171450">
              <a:lnSpc>
                <a:spcPct val="90000"/>
              </a:lnSpc>
              <a:spcAft>
                <a:spcPts val="600"/>
              </a:spcAft>
              <a:buFont typeface="Wingdings"/>
              <a:buChar char="Ø"/>
            </a:pPr>
            <a:r>
              <a:rPr lang="en-US" sz="1000">
                <a:latin typeface="Avenir Next"/>
              </a:rPr>
              <a:t>Steady growth rate: Average growth rate of approximately 16% with fluctuations.</a:t>
            </a:r>
            <a:endParaRPr lang="en-US" sz="1000">
              <a:latin typeface="Avenir Next"/>
              <a:ea typeface="Calibri" panose="020F0502020204030204"/>
              <a:cs typeface="Calibri" panose="020F0502020204030204"/>
            </a:endParaRPr>
          </a:p>
          <a:p>
            <a:pPr marL="171450" indent="-171450">
              <a:lnSpc>
                <a:spcPct val="90000"/>
              </a:lnSpc>
              <a:spcAft>
                <a:spcPts val="600"/>
              </a:spcAft>
              <a:buFont typeface="Wingdings"/>
              <a:buChar char="Ø"/>
            </a:pPr>
            <a:r>
              <a:rPr lang="en-US" sz="1000">
                <a:latin typeface="Avenir Next"/>
              </a:rPr>
              <a:t>Impact of digital transformation: Growing popularity of digital game purchases due to online platforms and convenience.</a:t>
            </a:r>
            <a:endParaRPr lang="en-US" sz="1000">
              <a:latin typeface="Avenir Next"/>
              <a:ea typeface="Calibri" panose="020F0502020204030204"/>
              <a:cs typeface="Calibri" panose="020F0502020204030204"/>
            </a:endParaRPr>
          </a:p>
          <a:p>
            <a:pPr marL="171450" indent="-171450">
              <a:lnSpc>
                <a:spcPct val="90000"/>
              </a:lnSpc>
              <a:spcAft>
                <a:spcPts val="600"/>
              </a:spcAft>
              <a:buFont typeface="Wingdings"/>
              <a:buChar char="Ø"/>
            </a:pPr>
            <a:r>
              <a:rPr lang="en-US" sz="1000">
                <a:latin typeface="Avenir Next"/>
              </a:rPr>
              <a:t>Moderate recent growth: Market has matured, resulting in slower growth compared to earlier years.</a:t>
            </a:r>
            <a:endParaRPr lang="en-US" sz="1000">
              <a:latin typeface="Avenir Next"/>
              <a:ea typeface="Calibri" panose="020F0502020204030204"/>
              <a:cs typeface="Calibri" panose="020F0502020204030204"/>
            </a:endParaRPr>
          </a:p>
          <a:p>
            <a:pPr marL="171450" indent="-171450">
              <a:lnSpc>
                <a:spcPct val="90000"/>
              </a:lnSpc>
              <a:spcAft>
                <a:spcPts val="600"/>
              </a:spcAft>
              <a:buFont typeface="Wingdings"/>
              <a:buChar char="Ø"/>
            </a:pPr>
            <a:r>
              <a:rPr lang="en-US" sz="1000">
                <a:latin typeface="Avenir Next"/>
              </a:rPr>
              <a:t>Resilience during COVID-19: Revenue continued to grow (6.84% in 2021) despite pandemic challenges.</a:t>
            </a:r>
            <a:endParaRPr lang="en-US" sz="1000">
              <a:latin typeface="Avenir Next"/>
              <a:ea typeface="Calibri" panose="020F0502020204030204"/>
              <a:cs typeface="Calibri" panose="020F0502020204030204"/>
            </a:endParaRPr>
          </a:p>
        </p:txBody>
      </p:sp>
      <p:pic>
        <p:nvPicPr>
          <p:cNvPr id="6" name="Picture 6" descr="A graph of growth rate of video games sales&#10;&#10;Description automatically generated">
            <a:extLst>
              <a:ext uri="{FF2B5EF4-FFF2-40B4-BE49-F238E27FC236}">
                <a16:creationId xmlns:a16="http://schemas.microsoft.com/office/drawing/2014/main" id="{C6387D72-A915-C38D-5887-CAAFAFA35CFE}"/>
              </a:ext>
            </a:extLst>
          </p:cNvPr>
          <p:cNvPicPr>
            <a:picLocks noGrp="1" noChangeAspect="1"/>
          </p:cNvPicPr>
          <p:nvPr>
            <p:ph sz="half" idx="2"/>
          </p:nvPr>
        </p:nvPicPr>
        <p:blipFill>
          <a:blip r:embed="rId3"/>
          <a:stretch>
            <a:fillRect/>
          </a:stretch>
        </p:blipFill>
        <p:spPr>
          <a:xfrm>
            <a:off x="557783" y="2916478"/>
            <a:ext cx="5481509" cy="3109702"/>
          </a:xfrm>
          <a:prstGeom prst="rect">
            <a:avLst/>
          </a:prstGeom>
        </p:spPr>
      </p:pic>
      <p:pic>
        <p:nvPicPr>
          <p:cNvPr id="5" name="Picture 5" descr="A graph with numbers and a line&#10;&#10;Description automatically generated">
            <a:extLst>
              <a:ext uri="{FF2B5EF4-FFF2-40B4-BE49-F238E27FC236}">
                <a16:creationId xmlns:a16="http://schemas.microsoft.com/office/drawing/2014/main" id="{617D254C-BCF2-928F-C88E-D5AA1B10DE4A}"/>
              </a:ext>
            </a:extLst>
          </p:cNvPr>
          <p:cNvPicPr>
            <a:picLocks noGrp="1" noChangeAspect="1"/>
          </p:cNvPicPr>
          <p:nvPr>
            <p:ph sz="half" idx="1"/>
          </p:nvPr>
        </p:nvPicPr>
        <p:blipFill>
          <a:blip r:embed="rId4"/>
          <a:stretch>
            <a:fillRect/>
          </a:stretch>
        </p:blipFill>
        <p:spPr>
          <a:xfrm>
            <a:off x="6198781" y="2921876"/>
            <a:ext cx="5523082" cy="3098905"/>
          </a:xfrm>
          <a:prstGeom prst="rect">
            <a:avLst/>
          </a:prstGeom>
        </p:spPr>
      </p:pic>
    </p:spTree>
    <p:extLst>
      <p:ext uri="{BB962C8B-B14F-4D97-AF65-F5344CB8AC3E}">
        <p14:creationId xmlns:p14="http://schemas.microsoft.com/office/powerpoint/2010/main" val="12094993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Rectangle 28">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1" name="Rectangle 30">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A3D9C75-12F8-AE8D-EDA8-18EE6AC05C68}"/>
              </a:ext>
            </a:extLst>
          </p:cNvPr>
          <p:cNvSpPr>
            <a:spLocks noGrp="1"/>
          </p:cNvSpPr>
          <p:nvPr>
            <p:ph type="title"/>
          </p:nvPr>
        </p:nvSpPr>
        <p:spPr>
          <a:xfrm>
            <a:off x="1115568" y="548640"/>
            <a:ext cx="10168128" cy="1179576"/>
          </a:xfrm>
        </p:spPr>
        <p:txBody>
          <a:bodyPr vert="horz" lIns="91440" tIns="45720" rIns="91440" bIns="45720" rtlCol="0" anchor="ctr">
            <a:normAutofit/>
          </a:bodyPr>
          <a:lstStyle/>
          <a:p>
            <a:r>
              <a:rPr lang="en-US" sz="4000" b="1"/>
              <a:t>Global Comparison</a:t>
            </a:r>
          </a:p>
        </p:txBody>
      </p:sp>
      <p:sp>
        <p:nvSpPr>
          <p:cNvPr id="33" name="Rectangle 32">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5" descr="A graph of different colored bars&#10;&#10;Description automatically generated">
            <a:extLst>
              <a:ext uri="{FF2B5EF4-FFF2-40B4-BE49-F238E27FC236}">
                <a16:creationId xmlns:a16="http://schemas.microsoft.com/office/drawing/2014/main" id="{FD0E9FA2-DC35-21B6-DD80-328255D482F2}"/>
              </a:ext>
            </a:extLst>
          </p:cNvPr>
          <p:cNvPicPr>
            <a:picLocks noChangeAspect="1"/>
          </p:cNvPicPr>
          <p:nvPr/>
        </p:nvPicPr>
        <p:blipFill rotWithShape="1">
          <a:blip r:embed="rId2"/>
          <a:srcRect l="3985" r="2950"/>
          <a:stretch/>
        </p:blipFill>
        <p:spPr>
          <a:xfrm>
            <a:off x="2455050" y="2182323"/>
            <a:ext cx="7124422" cy="4376563"/>
          </a:xfrm>
          <a:prstGeom prst="rect">
            <a:avLst/>
          </a:prstGeom>
        </p:spPr>
      </p:pic>
    </p:spTree>
    <p:extLst>
      <p:ext uri="{BB962C8B-B14F-4D97-AF65-F5344CB8AC3E}">
        <p14:creationId xmlns:p14="http://schemas.microsoft.com/office/powerpoint/2010/main" val="16318891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B6E05EFE-48A2-07B4-C6EB-7BE9B54C8179}"/>
              </a:ext>
            </a:extLst>
          </p:cNvPr>
          <p:cNvSpPr>
            <a:spLocks noGrp="1"/>
          </p:cNvSpPr>
          <p:nvPr>
            <p:ph type="title"/>
          </p:nvPr>
        </p:nvSpPr>
        <p:spPr>
          <a:xfrm>
            <a:off x="838200" y="401221"/>
            <a:ext cx="10515600" cy="1348065"/>
          </a:xfrm>
        </p:spPr>
        <p:txBody>
          <a:bodyPr vert="horz" lIns="91440" tIns="45720" rIns="91440" bIns="45720" rtlCol="0" anchor="ctr">
            <a:normAutofit/>
          </a:bodyPr>
          <a:lstStyle/>
          <a:p>
            <a:r>
              <a:rPr lang="en-US" sz="5400" b="1" kern="1200">
                <a:solidFill>
                  <a:srgbClr val="FFFFFF"/>
                </a:solidFill>
                <a:latin typeface="+mj-lt"/>
                <a:ea typeface="+mj-ea"/>
                <a:cs typeface="+mj-cs"/>
              </a:rPr>
              <a:t>Recommendations</a:t>
            </a:r>
          </a:p>
        </p:txBody>
      </p:sp>
      <p:sp>
        <p:nvSpPr>
          <p:cNvPr id="4" name="Content Placeholder 3">
            <a:extLst>
              <a:ext uri="{FF2B5EF4-FFF2-40B4-BE49-F238E27FC236}">
                <a16:creationId xmlns:a16="http://schemas.microsoft.com/office/drawing/2014/main" id="{EC1C3B3B-1CA2-F474-00A3-28EFA66ABAA7}"/>
              </a:ext>
            </a:extLst>
          </p:cNvPr>
          <p:cNvSpPr>
            <a:spLocks noGrp="1"/>
          </p:cNvSpPr>
          <p:nvPr>
            <p:ph sz="half" idx="2"/>
          </p:nvPr>
        </p:nvSpPr>
        <p:spPr>
          <a:xfrm>
            <a:off x="838200" y="2586789"/>
            <a:ext cx="10515600" cy="3590174"/>
          </a:xfrm>
        </p:spPr>
        <p:txBody>
          <a:bodyPr vert="horz" lIns="91440" tIns="45720" rIns="91440" bIns="45720" rtlCol="0" anchor="t">
            <a:normAutofit/>
          </a:bodyPr>
          <a:lstStyle/>
          <a:p>
            <a:r>
              <a:rPr lang="en-US" sz="2200">
                <a:cs typeface="Calibri"/>
              </a:rPr>
              <a:t>Access to proprietary data would have enabled comprehensive market research and help uncover deeper insights </a:t>
            </a:r>
            <a:r>
              <a:rPr lang="en-US" sz="2200">
                <a:ea typeface="+mn-lt"/>
                <a:cs typeface="+mn-lt"/>
              </a:rPr>
              <a:t>for a more thorough understanding of the industry landscape.</a:t>
            </a:r>
            <a:r>
              <a:rPr lang="en-US" sz="2200">
                <a:cs typeface="Calibri"/>
              </a:rPr>
              <a:t> </a:t>
            </a:r>
          </a:p>
          <a:p>
            <a:r>
              <a:rPr lang="en-US" sz="2200">
                <a:ea typeface="+mn-lt"/>
                <a:cs typeface="+mn-lt"/>
              </a:rPr>
              <a:t>Allocate Sufficient Time for Data Collection and Analysis: Recommend extending the timeline to allow for thorough data collection, exploratory data analysis (EDA), and the development of a user interactive dashboard, enabling comprehensive insights and enhanced data visualization in the market study.</a:t>
            </a:r>
          </a:p>
          <a:p>
            <a:r>
              <a:rPr lang="en-US" sz="2200"/>
              <a:t>Collaborate for a Data-Driven Future: Encourage collaboration and data sharing among stakeholders, such as government bodies, industry organizations, and researchers, to overcome data challenges and unlock comprehensive insights in the creative industries.</a:t>
            </a:r>
            <a:endParaRPr lang="en-US" sz="2200">
              <a:cs typeface="Calibri"/>
            </a:endParaRPr>
          </a:p>
        </p:txBody>
      </p:sp>
    </p:spTree>
    <p:extLst>
      <p:ext uri="{BB962C8B-B14F-4D97-AF65-F5344CB8AC3E}">
        <p14:creationId xmlns:p14="http://schemas.microsoft.com/office/powerpoint/2010/main" val="28785512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47</Slides>
  <Notes>22</Notes>
  <HiddenSlides>0</HiddenSlide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Office Theme</vt:lpstr>
      <vt:lpstr>Creative Industry</vt:lpstr>
      <vt:lpstr>Advertisement sector</vt:lpstr>
      <vt:lpstr>General overview of the sector</vt:lpstr>
      <vt:lpstr>PowerPoint Presentation</vt:lpstr>
      <vt:lpstr>Advertising expenditure</vt:lpstr>
      <vt:lpstr>Advertising media owners revenue</vt:lpstr>
      <vt:lpstr>Global comparison </vt:lpstr>
      <vt:lpstr>Film Industry</vt:lpstr>
      <vt:lpstr>Film Industry overview</vt:lpstr>
      <vt:lpstr>PowerPoint Presentation</vt:lpstr>
      <vt:lpstr>Annual change in video distribution and production</vt:lpstr>
      <vt:lpstr>Box office revenue</vt:lpstr>
      <vt:lpstr>Gross revenue</vt:lpstr>
      <vt:lpstr>Gross revenue</vt:lpstr>
      <vt:lpstr>Overview of the current state of the global market </vt:lpstr>
      <vt:lpstr>Expected growth Rate of the Film Industry</vt:lpstr>
      <vt:lpstr>Music Industry</vt:lpstr>
      <vt:lpstr>Overview of the UK’s Music Industry</vt:lpstr>
      <vt:lpstr>Overview of the UK’s Music Industry</vt:lpstr>
      <vt:lpstr>Music retail sales revenue</vt:lpstr>
      <vt:lpstr>UK’s Music sector – additional information</vt:lpstr>
      <vt:lpstr>Experience </vt:lpstr>
      <vt:lpstr>Experience – Heritage  </vt:lpstr>
      <vt:lpstr>Heritage –Growth Rate</vt:lpstr>
      <vt:lpstr>Museums </vt:lpstr>
      <vt:lpstr>Theatre Box Office</vt:lpstr>
      <vt:lpstr>Live Music Attendance</vt:lpstr>
      <vt:lpstr>GVA</vt:lpstr>
      <vt:lpstr>Sector Comparison</vt:lpstr>
      <vt:lpstr>Sector Comparison</vt:lpstr>
      <vt:lpstr>Design Sector</vt:lpstr>
      <vt:lpstr>Apparel &amp;  Fashion  sector</vt:lpstr>
      <vt:lpstr>Overview of Apparel Industry</vt:lpstr>
      <vt:lpstr>Online and Offline Revenue share in percentage</vt:lpstr>
      <vt:lpstr>Revenue of Apparel market based on category</vt:lpstr>
      <vt:lpstr>Revenue &amp; Growth rate of Fashion market</vt:lpstr>
      <vt:lpstr>Trends in the Apparel Industry: Revenue Growth, Consumer Spending, and Advertising</vt:lpstr>
      <vt:lpstr>Global Comparison</vt:lpstr>
      <vt:lpstr>Architecture sector</vt:lpstr>
      <vt:lpstr>Interior Design Activities in UK</vt:lpstr>
      <vt:lpstr>Architectural activities in UK</vt:lpstr>
      <vt:lpstr>Revenue comparison </vt:lpstr>
      <vt:lpstr>Growth and Correlation: Digital Console and Online Gaming Industry</vt:lpstr>
      <vt:lpstr>Digital console and online games </vt:lpstr>
      <vt:lpstr>Video Games</vt:lpstr>
      <vt:lpstr>Global Comparison</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Slava Nikitin</dc:creator>
  <cp:revision>2</cp:revision>
  <dcterms:created xsi:type="dcterms:W3CDTF">2023-07-05T13:44:23Z</dcterms:created>
  <dcterms:modified xsi:type="dcterms:W3CDTF">2023-07-07T16:35:44Z</dcterms:modified>
</cp:coreProperties>
</file>